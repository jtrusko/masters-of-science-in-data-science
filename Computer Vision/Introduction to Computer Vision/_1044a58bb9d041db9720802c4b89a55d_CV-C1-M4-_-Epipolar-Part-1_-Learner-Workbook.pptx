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437" r:id="rId5"/>
    <p:sldId id="565" r:id="rId6"/>
    <p:sldId id="559" r:id="rId7"/>
    <p:sldId id="446" r:id="rId8"/>
    <p:sldId id="451" r:id="rId9"/>
    <p:sldId id="453" r:id="rId10"/>
    <p:sldId id="477" r:id="rId11"/>
    <p:sldId id="450" r:id="rId12"/>
    <p:sldId id="566" r:id="rId13"/>
    <p:sldId id="486" r:id="rId14"/>
    <p:sldId id="465" r:id="rId15"/>
    <p:sldId id="472" r:id="rId16"/>
    <p:sldId id="567" r:id="rId17"/>
    <p:sldId id="470" r:id="rId18"/>
    <p:sldId id="471" r:id="rId19"/>
    <p:sldId id="495" r:id="rId20"/>
    <p:sldId id="473" r:id="rId21"/>
    <p:sldId id="478" r:id="rId22"/>
    <p:sldId id="474" r:id="rId23"/>
    <p:sldId id="590" r:id="rId24"/>
    <p:sldId id="505" r:id="rId25"/>
    <p:sldId id="507" r:id="rId26"/>
    <p:sldId id="591" r:id="rId27"/>
    <p:sldId id="490" r:id="rId28"/>
    <p:sldId id="5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2E"/>
    <a:srgbClr val="4472C4"/>
    <a:srgbClr val="00468B"/>
    <a:srgbClr val="035E2F"/>
    <a:srgbClr val="CFB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983C3-BC75-F0EA-271C-CB3AEFAE2DD7}" v="23" dt="2025-12-02T10:52:44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Jane Kohake" userId="S::kako0201@colorado.edu::1b104885-0147-4e35-8092-b959f8a006cb" providerId="AD" clId="Web-{3AC983C3-BC75-F0EA-271C-CB3AEFAE2DD7}"/>
    <pc:docChg chg="delSld">
      <pc:chgData name="Kayla Jane Kohake" userId="S::kako0201@colorado.edu::1b104885-0147-4e35-8092-b959f8a006cb" providerId="AD" clId="Web-{3AC983C3-BC75-F0EA-271C-CB3AEFAE2DD7}" dt="2025-12-02T10:52:44.371" v="22"/>
      <pc:docMkLst>
        <pc:docMk/>
      </pc:docMkLst>
      <pc:sldChg chg="del">
        <pc:chgData name="Kayla Jane Kohake" userId="S::kako0201@colorado.edu::1b104885-0147-4e35-8092-b959f8a006cb" providerId="AD" clId="Web-{3AC983C3-BC75-F0EA-271C-CB3AEFAE2DD7}" dt="2025-12-02T10:52:44.371" v="22"/>
        <pc:sldMkLst>
          <pc:docMk/>
          <pc:sldMk cId="879188277" sldId="493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136" v="10"/>
        <pc:sldMkLst>
          <pc:docMk/>
          <pc:sldMk cId="3697834611" sldId="516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011" v="6"/>
        <pc:sldMkLst>
          <pc:docMk/>
          <pc:sldMk cId="1281701332" sldId="517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121" v="9"/>
        <pc:sldMkLst>
          <pc:docMk/>
          <pc:sldMk cId="3211290922" sldId="520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277" v="17"/>
        <pc:sldMkLst>
          <pc:docMk/>
          <pc:sldMk cId="266085302" sldId="532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261" v="16"/>
        <pc:sldMkLst>
          <pc:docMk/>
          <pc:sldMk cId="3811448130" sldId="533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980" v="5"/>
        <pc:sldMkLst>
          <pc:docMk/>
          <pc:sldMk cId="994169906" sldId="535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933" v="3"/>
        <pc:sldMkLst>
          <pc:docMk/>
          <pc:sldMk cId="3405179490" sldId="541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886" v="2"/>
        <pc:sldMkLst>
          <pc:docMk/>
          <pc:sldMk cId="1122473739" sldId="543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886" v="1"/>
        <pc:sldMkLst>
          <pc:docMk/>
          <pc:sldMk cId="1625020154" sldId="544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183" v="13"/>
        <pc:sldMkLst>
          <pc:docMk/>
          <pc:sldMk cId="4265606441" sldId="545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886" v="0"/>
        <pc:sldMkLst>
          <pc:docMk/>
          <pc:sldMk cId="2089402853" sldId="556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371" v="21"/>
        <pc:sldMkLst>
          <pc:docMk/>
          <pc:sldMk cId="2780703496" sldId="568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136" v="11"/>
        <pc:sldMkLst>
          <pc:docMk/>
          <pc:sldMk cId="1505475170" sldId="569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355" v="20"/>
        <pc:sldMkLst>
          <pc:docMk/>
          <pc:sldMk cId="7678172" sldId="594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339" v="19"/>
        <pc:sldMkLst>
          <pc:docMk/>
          <pc:sldMk cId="3387156715" sldId="595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277" v="18"/>
        <pc:sldMkLst>
          <pc:docMk/>
          <pc:sldMk cId="902879488" sldId="596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230" v="15"/>
        <pc:sldMkLst>
          <pc:docMk/>
          <pc:sldMk cId="1889049221" sldId="597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214" v="14"/>
        <pc:sldMkLst>
          <pc:docMk/>
          <pc:sldMk cId="3287637485" sldId="598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136" v="12"/>
        <pc:sldMkLst>
          <pc:docMk/>
          <pc:sldMk cId="350264864" sldId="599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089" v="8"/>
        <pc:sldMkLst>
          <pc:docMk/>
          <pc:sldMk cId="2909239868" sldId="600"/>
        </pc:sldMkLst>
      </pc:sldChg>
      <pc:sldChg chg="del">
        <pc:chgData name="Kayla Jane Kohake" userId="S::kako0201@colorado.edu::1b104885-0147-4e35-8092-b959f8a006cb" providerId="AD" clId="Web-{3AC983C3-BC75-F0EA-271C-CB3AEFAE2DD7}" dt="2025-12-02T10:52:44.042" v="7"/>
        <pc:sldMkLst>
          <pc:docMk/>
          <pc:sldMk cId="4063688932" sldId="601"/>
        </pc:sldMkLst>
      </pc:sldChg>
      <pc:sldChg chg="del">
        <pc:chgData name="Kayla Jane Kohake" userId="S::kako0201@colorado.edu::1b104885-0147-4e35-8092-b959f8a006cb" providerId="AD" clId="Web-{3AC983C3-BC75-F0EA-271C-CB3AEFAE2DD7}" dt="2025-12-02T10:52:43.949" v="4"/>
        <pc:sldMkLst>
          <pc:docMk/>
          <pc:sldMk cId="2008697591" sldId="6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CE9EA-6847-E244-BACC-4F260BB27CA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86197-4258-9B42-8FF9-9E832230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68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25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72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67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0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01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55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8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5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62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1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25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98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14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30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68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61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22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5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92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86197-4258-9B42-8FF9-9E832230DA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7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0E15-F972-82E8-F4E8-7E525966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35211-70B1-6B27-E254-6E067D70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C833-9F30-1A4F-906F-948A616CC16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54687-A232-CC49-4411-E57E71E0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957-68D6-2253-F48B-8B3E70ED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CA0-E944-5E4A-A237-ECD29B65D234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versity of Colorado Boulder Logo [CU Boulder | 01] - PNG Logo Vector  Downloads (SVG, EPS)">
            <a:extLst>
              <a:ext uri="{FF2B5EF4-FFF2-40B4-BE49-F238E27FC236}">
                <a16:creationId xmlns:a16="http://schemas.microsoft.com/office/drawing/2014/main" id="{0BADDC15-5CD0-68C0-3CB8-534D0EFF9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575" y="4562475"/>
            <a:ext cx="4709425" cy="294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49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asy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B5B426-42AB-F613-6461-34D2CA28EB92}"/>
              </a:ext>
            </a:extLst>
          </p:cNvPr>
          <p:cNvSpPr/>
          <p:nvPr userDrawn="1"/>
        </p:nvSpPr>
        <p:spPr>
          <a:xfrm>
            <a:off x="225631" y="225631"/>
            <a:ext cx="11768448" cy="6365174"/>
          </a:xfrm>
          <a:prstGeom prst="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2AF6F2-6120-3993-876D-F1BE29C4DBAC}"/>
              </a:ext>
            </a:extLst>
          </p:cNvPr>
          <p:cNvSpPr/>
          <p:nvPr userDrawn="1"/>
        </p:nvSpPr>
        <p:spPr>
          <a:xfrm>
            <a:off x="399305" y="469885"/>
            <a:ext cx="365356" cy="36576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343308-EFF6-39D2-EFC5-F73BAA6A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110" y="365125"/>
            <a:ext cx="9737690" cy="626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120DE9-801A-E370-14F3-8E3556CF9ED2}"/>
              </a:ext>
            </a:extLst>
          </p:cNvPr>
          <p:cNvSpPr/>
          <p:nvPr userDrawn="1"/>
        </p:nvSpPr>
        <p:spPr>
          <a:xfrm>
            <a:off x="911384" y="471825"/>
            <a:ext cx="578429" cy="356261"/>
          </a:xfrm>
          <a:prstGeom prst="rect">
            <a:avLst/>
          </a:prstGeom>
          <a:solidFill>
            <a:srgbClr val="035E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19EA2A-B56C-896D-B915-DEF8E1C5D392}"/>
              </a:ext>
            </a:extLst>
          </p:cNvPr>
          <p:cNvSpPr/>
          <p:nvPr userDrawn="1"/>
        </p:nvSpPr>
        <p:spPr>
          <a:xfrm>
            <a:off x="1095742" y="535655"/>
            <a:ext cx="228600" cy="228600"/>
          </a:xfrm>
          <a:prstGeom prst="ellipse">
            <a:avLst/>
          </a:prstGeom>
          <a:solidFill>
            <a:srgbClr val="035E2F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9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mediate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B5B426-42AB-F613-6461-34D2CA28EB92}"/>
              </a:ext>
            </a:extLst>
          </p:cNvPr>
          <p:cNvSpPr/>
          <p:nvPr userDrawn="1"/>
        </p:nvSpPr>
        <p:spPr>
          <a:xfrm>
            <a:off x="225631" y="225631"/>
            <a:ext cx="11768448" cy="6365174"/>
          </a:xfrm>
          <a:prstGeom prst="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3A5D6A-F571-34F6-9CFC-2C5CD8EF2DB0}"/>
              </a:ext>
            </a:extLst>
          </p:cNvPr>
          <p:cNvGrpSpPr/>
          <p:nvPr userDrawn="1"/>
        </p:nvGrpSpPr>
        <p:grpSpPr>
          <a:xfrm>
            <a:off x="911384" y="479384"/>
            <a:ext cx="578429" cy="356261"/>
            <a:chOff x="11300111" y="347154"/>
            <a:chExt cx="578429" cy="35626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D28DFB-0D66-0C3A-62FA-CEDB84E28FC7}"/>
                </a:ext>
              </a:extLst>
            </p:cNvPr>
            <p:cNvSpPr/>
            <p:nvPr/>
          </p:nvSpPr>
          <p:spPr>
            <a:xfrm>
              <a:off x="11300111" y="347154"/>
              <a:ext cx="578429" cy="356261"/>
            </a:xfrm>
            <a:prstGeom prst="rect">
              <a:avLst/>
            </a:prstGeom>
            <a:solidFill>
              <a:srgbClr val="00468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20FE82-3326-496F-7377-D2366F2E44F8}"/>
                </a:ext>
              </a:extLst>
            </p:cNvPr>
            <p:cNvSpPr/>
            <p:nvPr/>
          </p:nvSpPr>
          <p:spPr>
            <a:xfrm>
              <a:off x="11492771" y="420070"/>
              <a:ext cx="193108" cy="193305"/>
            </a:xfrm>
            <a:prstGeom prst="rect">
              <a:avLst/>
            </a:prstGeom>
            <a:solidFill>
              <a:srgbClr val="00468B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72AF6F2-6120-3993-876D-F1BE29C4DBAC}"/>
              </a:ext>
            </a:extLst>
          </p:cNvPr>
          <p:cNvSpPr/>
          <p:nvPr userDrawn="1"/>
        </p:nvSpPr>
        <p:spPr>
          <a:xfrm>
            <a:off x="399305" y="469885"/>
            <a:ext cx="365356" cy="36576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343308-EFF6-39D2-EFC5-F73BAA6A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110" y="365125"/>
            <a:ext cx="9737690" cy="626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9065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fficu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B5B426-42AB-F613-6461-34D2CA28EB92}"/>
              </a:ext>
            </a:extLst>
          </p:cNvPr>
          <p:cNvSpPr/>
          <p:nvPr userDrawn="1"/>
        </p:nvSpPr>
        <p:spPr>
          <a:xfrm>
            <a:off x="225631" y="225631"/>
            <a:ext cx="11768448" cy="6365174"/>
          </a:xfrm>
          <a:prstGeom prst="rect">
            <a:avLst/>
          </a:prstGeom>
          <a:solidFill>
            <a:schemeClr val="bg1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2AF6F2-6120-3993-876D-F1BE29C4DBAC}"/>
              </a:ext>
            </a:extLst>
          </p:cNvPr>
          <p:cNvSpPr/>
          <p:nvPr userDrawn="1"/>
        </p:nvSpPr>
        <p:spPr>
          <a:xfrm>
            <a:off x="399305" y="469885"/>
            <a:ext cx="365356" cy="36576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343308-EFF6-39D2-EFC5-F73BAA6A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110" y="365125"/>
            <a:ext cx="9737690" cy="626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7E703-5296-3B16-85AA-C3B987BDA2EA}"/>
              </a:ext>
            </a:extLst>
          </p:cNvPr>
          <p:cNvSpPr/>
          <p:nvPr userDrawn="1"/>
        </p:nvSpPr>
        <p:spPr>
          <a:xfrm>
            <a:off x="901171" y="474316"/>
            <a:ext cx="578429" cy="3562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159EA3FA-12D0-5A17-98BD-EDD4359CF94B}"/>
              </a:ext>
            </a:extLst>
          </p:cNvPr>
          <p:cNvSpPr/>
          <p:nvPr userDrawn="1"/>
        </p:nvSpPr>
        <p:spPr>
          <a:xfrm>
            <a:off x="1079920" y="529970"/>
            <a:ext cx="220929" cy="244952"/>
          </a:xfrm>
          <a:prstGeom prst="diamond">
            <a:avLst/>
          </a:prstGeom>
          <a:solidFill>
            <a:schemeClr val="tx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1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C229-6020-5906-6DD4-D1FC1A86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5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50AE0-1891-C532-5C1B-A8AFE7EE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368D-59A2-6A4C-9DD2-3C4DBDCD09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11ADE-BFFC-BE59-C34B-AE378BB7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11156-CAF4-B7D7-0688-24B54EDC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F0537-2BCE-514C-8EA0-7A0C12589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7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Question"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89E0-1CF4-39F2-B706-9B4E2653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11F60-0C77-46B2-B619-B767B228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5FC5-EFFF-B249-B1ED-B728424F692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C46AE-3390-B80D-BACF-9C208E76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EC19F-692E-1B7D-2676-BA9E37D4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BB75-957B-2C44-BB69-FC0B27493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0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">
    <p:bg>
      <p:bgPr>
        <a:solidFill>
          <a:schemeClr val="accent4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89E0-1CF4-39F2-B706-9B4E2653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11F60-0C77-46B2-B619-B767B228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5FC5-EFFF-B249-B1ED-B728424F692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C46AE-3390-B80D-BACF-9C208E76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EC19F-692E-1B7D-2676-BA9E37D4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BB75-957B-2C44-BB69-FC0B27493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6EC89-B7E1-6BD9-A38D-52C05296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2566"/>
            <a:ext cx="10515600" cy="50943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202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6" r:id="rId2"/>
    <p:sldLayoutId id="2147483678" r:id="rId3"/>
    <p:sldLayoutId id="2147483679" r:id="rId4"/>
    <p:sldLayoutId id="2147483673" r:id="rId5"/>
    <p:sldLayoutId id="2147483674" r:id="rId6"/>
    <p:sldLayoutId id="2147483675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10.svg"/><Relationship Id="rId4" Type="http://schemas.openxmlformats.org/officeDocument/2006/relationships/image" Target="../media/image3.jpe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err="1"/>
              <a:t>Epipolar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Computer Vision</a:t>
            </a:r>
          </a:p>
          <a:p>
            <a:r>
              <a:rPr lang="en-US"/>
              <a:t>Prof. Tom Yeh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CBDAA-DF8F-E657-08C2-7899C3F5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0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55262-6DCC-19B2-33EB-BD3AB64D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17263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6306-F95D-89B7-26E0-32242070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Two DVDs and Two cameras</a:t>
            </a:r>
          </a:p>
        </p:txBody>
      </p:sp>
      <p:pic>
        <p:nvPicPr>
          <p:cNvPr id="1026" name="Picture 2" descr="It's Alive 1974–1996 - Wikipedia">
            <a:extLst>
              <a:ext uri="{FF2B5EF4-FFF2-40B4-BE49-F238E27FC236}">
                <a16:creationId xmlns:a16="http://schemas.microsoft.com/office/drawing/2014/main" id="{6A4E9836-C315-0F3A-CD97-4E709F92B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876" y="1708150"/>
            <a:ext cx="2445418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mazon.com: The Big Lebowski [Region 2] : Jeff Bridges, John Goodman,  Julianne Moore, Steve Buscemi, David Huddleston, Philip Seymour Hoffman,  Tara Reid, Philip Moon, Mark Pellegrino, Peter Stormare, Flea, Torsten  Voges, Ethan">
            <a:extLst>
              <a:ext uri="{FF2B5EF4-FFF2-40B4-BE49-F238E27FC236}">
                <a16:creationId xmlns:a16="http://schemas.microsoft.com/office/drawing/2014/main" id="{CE6ABF94-D13C-06C9-8203-83AFB6B4F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142" y="1708150"/>
            <a:ext cx="2362200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82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4169-18F5-76ED-AF5F-9FDABE2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do the cameras see?</a:t>
            </a:r>
          </a:p>
        </p:txBody>
      </p:sp>
      <p:pic>
        <p:nvPicPr>
          <p:cNvPr id="1026" name="Picture 2" descr="EpipolarGeometry_DVD_Left">
            <a:extLst>
              <a:ext uri="{FF2B5EF4-FFF2-40B4-BE49-F238E27FC236}">
                <a16:creationId xmlns:a16="http://schemas.microsoft.com/office/drawing/2014/main" id="{D5986011-4A3A-99D8-F492-75B78787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508" y="1551806"/>
            <a:ext cx="279929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ipolarGeometry_DVD_Right">
            <a:extLst>
              <a:ext uri="{FF2B5EF4-FFF2-40B4-BE49-F238E27FC236}">
                <a16:creationId xmlns:a16="http://schemas.microsoft.com/office/drawing/2014/main" id="{B1121CE2-D3FF-B1D1-2CDE-DA2CE0347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760" y="1551806"/>
            <a:ext cx="279929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pipolarGeometry_DVD_Left">
            <a:extLst>
              <a:ext uri="{FF2B5EF4-FFF2-40B4-BE49-F238E27FC236}">
                <a16:creationId xmlns:a16="http://schemas.microsoft.com/office/drawing/2014/main" id="{071AA914-867F-97C7-1C79-364326DB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624" y="4451306"/>
            <a:ext cx="279929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EpipolarGeometry_DVD_Right">
            <a:extLst>
              <a:ext uri="{FF2B5EF4-FFF2-40B4-BE49-F238E27FC236}">
                <a16:creationId xmlns:a16="http://schemas.microsoft.com/office/drawing/2014/main" id="{5E27CD15-4A54-C8CE-5B40-D3D934C59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372" y="4451306"/>
            <a:ext cx="2799292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B12F6-D4FB-133D-BD95-B60B972A0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08" y="2744561"/>
            <a:ext cx="3726457" cy="1929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A20AD9-AC3D-2207-DBC7-5D67FF0011A7}"/>
              </a:ext>
            </a:extLst>
          </p:cNvPr>
          <p:cNvSpPr txBox="1"/>
          <p:nvPr/>
        </p:nvSpPr>
        <p:spPr>
          <a:xfrm>
            <a:off x="0" y="6488668"/>
            <a:ext cx="2635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Photo Credit: RD Milligan</a:t>
            </a:r>
          </a:p>
        </p:txBody>
      </p:sp>
    </p:spTree>
    <p:extLst>
      <p:ext uri="{BB962C8B-B14F-4D97-AF65-F5344CB8AC3E}">
        <p14:creationId xmlns:p14="http://schemas.microsoft.com/office/powerpoint/2010/main" val="55412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4169-18F5-76ED-AF5F-9FDABE2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 descr="EpipolarGeometry_DVD_Left">
            <a:extLst>
              <a:ext uri="{FF2B5EF4-FFF2-40B4-BE49-F238E27FC236}">
                <a16:creationId xmlns:a16="http://schemas.microsoft.com/office/drawing/2014/main" id="{D5986011-4A3A-99D8-F492-75B78787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67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ipolarGeometry_DVD_Right">
            <a:extLst>
              <a:ext uri="{FF2B5EF4-FFF2-40B4-BE49-F238E27FC236}">
                <a16:creationId xmlns:a16="http://schemas.microsoft.com/office/drawing/2014/main" id="{B1121CE2-D3FF-B1D1-2CDE-DA2CE0347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3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4169-18F5-76ED-AF5F-9FDABE2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 descr="EpipolarGeometry_DVD_Left">
            <a:extLst>
              <a:ext uri="{FF2B5EF4-FFF2-40B4-BE49-F238E27FC236}">
                <a16:creationId xmlns:a16="http://schemas.microsoft.com/office/drawing/2014/main" id="{D5986011-4A3A-99D8-F492-75B78787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67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ipolarGeometry_DVD_Right">
            <a:extLst>
              <a:ext uri="{FF2B5EF4-FFF2-40B4-BE49-F238E27FC236}">
                <a16:creationId xmlns:a16="http://schemas.microsoft.com/office/drawing/2014/main" id="{B1121CE2-D3FF-B1D1-2CDE-DA2CE0347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92C2965-628C-BF22-9001-96C991BE36CB}"/>
              </a:ext>
            </a:extLst>
          </p:cNvPr>
          <p:cNvSpPr/>
          <p:nvPr/>
        </p:nvSpPr>
        <p:spPr>
          <a:xfrm>
            <a:off x="1679575" y="1289333"/>
            <a:ext cx="152400" cy="161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0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08FE55F-01F9-D69F-5357-096B06FEAA83}"/>
              </a:ext>
            </a:extLst>
          </p:cNvPr>
          <p:cNvGrpSpPr/>
          <p:nvPr/>
        </p:nvGrpSpPr>
        <p:grpSpPr>
          <a:xfrm>
            <a:off x="4555353" y="760618"/>
            <a:ext cx="2249214" cy="1329340"/>
            <a:chOff x="2974428" y="1708150"/>
            <a:chExt cx="2249214" cy="1329340"/>
          </a:xfrm>
        </p:grpSpPr>
        <p:pic>
          <p:nvPicPr>
            <p:cNvPr id="4" name="Picture 3" descr="It's Alive 1974–1996 - Wikipedia">
              <a:extLst>
                <a:ext uri="{FF2B5EF4-FFF2-40B4-BE49-F238E27FC236}">
                  <a16:creationId xmlns:a16="http://schemas.microsoft.com/office/drawing/2014/main" id="{F9FF9544-1FEF-7F1A-7706-B8A3582FA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606" y="1708150"/>
              <a:ext cx="877320" cy="123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Amazon.com: The Big Lebowski [Region 2] : Jeff Bridges, John Goodman,  Julianne Moore, Steve Buscemi, David Huddleston, Philip Seymour Hoffman,  Tara Reid, Philip Moon, Mark Pellegrino, Peter Stormare, Flea, Torsten  Voges, Ethan">
              <a:extLst>
                <a:ext uri="{FF2B5EF4-FFF2-40B4-BE49-F238E27FC236}">
                  <a16:creationId xmlns:a16="http://schemas.microsoft.com/office/drawing/2014/main" id="{E31E850A-76E8-F467-EF3E-21123CA53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8142" y="1708150"/>
              <a:ext cx="847465" cy="123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5E67D7-F96B-BF50-1EE8-63038546726F}"/>
                </a:ext>
              </a:extLst>
            </p:cNvPr>
            <p:cNvSpPr/>
            <p:nvPr/>
          </p:nvSpPr>
          <p:spPr>
            <a:xfrm>
              <a:off x="2974428" y="2942897"/>
              <a:ext cx="2249214" cy="945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CF4169-18F5-76ED-AF5F-9FDABE2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 descr="EpipolarGeometry_DVD_Left">
            <a:extLst>
              <a:ext uri="{FF2B5EF4-FFF2-40B4-BE49-F238E27FC236}">
                <a16:creationId xmlns:a16="http://schemas.microsoft.com/office/drawing/2014/main" id="{D5986011-4A3A-99D8-F492-75B78787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189" y="2267620"/>
            <a:ext cx="4262558" cy="3190875"/>
          </a:xfrm>
          <a:prstGeom prst="rect">
            <a:avLst/>
          </a:prstGeom>
          <a:noFill/>
          <a:scene3d>
            <a:camera prst="isometricLeft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ipolarGeometry_DVD_Right">
            <a:extLst>
              <a:ext uri="{FF2B5EF4-FFF2-40B4-BE49-F238E27FC236}">
                <a16:creationId xmlns:a16="http://schemas.microsoft.com/office/drawing/2014/main" id="{B1121CE2-D3FF-B1D1-2CDE-DA2CE0347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67619"/>
            <a:ext cx="4262558" cy="3190875"/>
          </a:xfrm>
          <a:prstGeom prst="rect">
            <a:avLst/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75185F8-8CFB-1AFD-C9D6-C403C76997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4947" y="5205573"/>
            <a:ext cx="533400" cy="6477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251820D-E558-0887-221A-FF15875BCB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9048" y="5079315"/>
            <a:ext cx="609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4169-18F5-76ED-AF5F-9FDABE2A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 descr="EpipolarGeometry_DVD_Left">
            <a:extLst>
              <a:ext uri="{FF2B5EF4-FFF2-40B4-BE49-F238E27FC236}">
                <a16:creationId xmlns:a16="http://schemas.microsoft.com/office/drawing/2014/main" id="{D5986011-4A3A-99D8-F492-75B78787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67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pipolarGeometry_DVD_Right">
            <a:extLst>
              <a:ext uri="{FF2B5EF4-FFF2-40B4-BE49-F238E27FC236}">
                <a16:creationId xmlns:a16="http://schemas.microsoft.com/office/drawing/2014/main" id="{B1121CE2-D3FF-B1D1-2CDE-DA2CE0347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15815"/>
            <a:ext cx="4262558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92C2965-628C-BF22-9001-96C991BE36CB}"/>
              </a:ext>
            </a:extLst>
          </p:cNvPr>
          <p:cNvSpPr/>
          <p:nvPr/>
        </p:nvSpPr>
        <p:spPr>
          <a:xfrm>
            <a:off x="1531326" y="2884215"/>
            <a:ext cx="152400" cy="161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CC535-4DB9-2E17-978B-90B0817E5FE6}"/>
              </a:ext>
            </a:extLst>
          </p:cNvPr>
          <p:cNvSpPr txBox="1"/>
          <p:nvPr/>
        </p:nvSpPr>
        <p:spPr>
          <a:xfrm>
            <a:off x="1531326" y="5713145"/>
            <a:ext cx="6117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________ u + __________ v + ___________ = 0</a:t>
            </a:r>
          </a:p>
        </p:txBody>
      </p:sp>
    </p:spTree>
    <p:extLst>
      <p:ext uri="{BB962C8B-B14F-4D97-AF65-F5344CB8AC3E}">
        <p14:creationId xmlns:p14="http://schemas.microsoft.com/office/powerpoint/2010/main" val="730371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3F64C9-46C8-52A1-E97E-40D9B099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Components of </a:t>
            </a:r>
            <a:r>
              <a:rPr lang="en-US" err="1"/>
              <a:t>Epipolar</a:t>
            </a:r>
            <a:r>
              <a:rPr lang="en-US"/>
              <a:t> Geometry</a:t>
            </a:r>
          </a:p>
        </p:txBody>
      </p:sp>
    </p:spTree>
    <p:extLst>
      <p:ext uri="{BB962C8B-B14F-4D97-AF65-F5344CB8AC3E}">
        <p14:creationId xmlns:p14="http://schemas.microsoft.com/office/powerpoint/2010/main" val="175406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Epipolar</a:t>
            </a:r>
            <a:r>
              <a:rPr lang="en-US"/>
              <a:t> Geometry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4295" y="1718569"/>
            <a:ext cx="6409493" cy="4115515"/>
            <a:chOff x="2694050" y="1659575"/>
            <a:chExt cx="6409493" cy="411551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B8E684B6-B54B-7B11-2326-85EA2D610158}"/>
              </a:ext>
            </a:extLst>
          </p:cNvPr>
          <p:cNvSpPr txBox="1"/>
          <p:nvPr/>
        </p:nvSpPr>
        <p:spPr>
          <a:xfrm>
            <a:off x="776074" y="1007932"/>
            <a:ext cx="3922112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left camera</a:t>
            </a:r>
            <a:endParaRPr lang="en-US" sz="2800" baseline="-25000">
              <a:solidFill>
                <a:srgbClr val="202124"/>
              </a:solidFill>
              <a:latin typeface="Google Sans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right camera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the virtual image plane of left camera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the virtual image plane of the right camera</a:t>
            </a:r>
          </a:p>
          <a:p>
            <a:endParaRPr lang="en-US" sz="2800" baseline="-25000">
              <a:solidFill>
                <a:srgbClr val="202124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748024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Projections on virtual image planes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CCBA70-BBD7-5E50-41F4-DBB7F915F3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42DB5C-7E98-14A1-2AF2-E13841454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26C91-D10F-7415-02E4-097FC16D8930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CE779D-5C65-4081-41F8-FBD76FFFD90F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4D6655-8A13-0A8A-539F-D7DA1D100159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09F45-F0FB-CD82-5C4D-7F1A832267B2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C821FE-D14A-9D3E-D0C1-DB92F95DDC3E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B8E684B6-B54B-7B11-2326-85EA2D610158}"/>
              </a:ext>
            </a:extLst>
          </p:cNvPr>
          <p:cNvSpPr txBox="1"/>
          <p:nvPr/>
        </p:nvSpPr>
        <p:spPr>
          <a:xfrm>
            <a:off x="776074" y="1007932"/>
            <a:ext cx="39221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a</a:t>
            </a:r>
            <a:r>
              <a:rPr lang="en-US" sz="2800" baseline="-25000"/>
              <a:t>1</a:t>
            </a:r>
            <a:r>
              <a:rPr lang="en-US" sz="2800"/>
              <a:t> = P</a:t>
            </a:r>
            <a:r>
              <a:rPr lang="en-US" sz="2800" baseline="-25000"/>
              <a:t>1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a</a:t>
            </a:r>
            <a:r>
              <a:rPr lang="en-US" sz="2800" baseline="-25000">
                <a:solidFill>
                  <a:srgbClr val="202124"/>
                </a:solidFill>
                <a:latin typeface="Google Sans"/>
              </a:rPr>
              <a:t>2</a:t>
            </a:r>
            <a:r>
              <a:rPr lang="en-US" sz="2800"/>
              <a:t> = P</a:t>
            </a:r>
            <a:r>
              <a:rPr lang="en-US" sz="2800" baseline="-25000"/>
              <a:t>2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endParaRPr lang="en-US" sz="2800">
              <a:solidFill>
                <a:srgbClr val="202124"/>
              </a:solidFill>
              <a:latin typeface="Google Sans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a</a:t>
            </a:r>
            <a:r>
              <a:rPr lang="en-US" sz="2800" baseline="-25000">
                <a:solidFill>
                  <a:srgbClr val="202124"/>
                </a:solidFill>
                <a:latin typeface="Google Sans"/>
              </a:rPr>
              <a:t>3</a:t>
            </a:r>
            <a:r>
              <a:rPr lang="en-US" sz="2800"/>
              <a:t> = P</a:t>
            </a:r>
            <a:r>
              <a:rPr lang="en-US" sz="2800" baseline="-25000"/>
              <a:t>3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endParaRPr lang="en-US" sz="2800">
              <a:solidFill>
                <a:srgbClr val="202124"/>
              </a:solidFill>
              <a:latin typeface="Google Sans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b</a:t>
            </a:r>
            <a:r>
              <a:rPr lang="en-US" sz="2800" baseline="-25000">
                <a:solidFill>
                  <a:srgbClr val="202124"/>
                </a:solidFill>
                <a:latin typeface="Google Sans"/>
              </a:rPr>
              <a:t>1</a:t>
            </a:r>
            <a:r>
              <a:rPr lang="en-US" sz="2800"/>
              <a:t> = P</a:t>
            </a:r>
            <a:r>
              <a:rPr lang="en-US" sz="2800" baseline="-25000"/>
              <a:t>1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B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b</a:t>
            </a:r>
            <a:r>
              <a:rPr lang="en-US" sz="2800" baseline="-25000">
                <a:solidFill>
                  <a:srgbClr val="202124"/>
                </a:solidFill>
                <a:latin typeface="Google Sans"/>
              </a:rPr>
              <a:t>2</a:t>
            </a:r>
            <a:r>
              <a:rPr lang="en-US" sz="2800"/>
              <a:t> = P</a:t>
            </a:r>
            <a:r>
              <a:rPr lang="en-US" sz="2800" baseline="-25000"/>
              <a:t>2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B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b</a:t>
            </a:r>
            <a:r>
              <a:rPr lang="en-US" sz="2800" baseline="-25000">
                <a:solidFill>
                  <a:srgbClr val="202124"/>
                </a:solidFill>
                <a:latin typeface="Google Sans"/>
              </a:rPr>
              <a:t>3</a:t>
            </a:r>
            <a:r>
              <a:rPr lang="en-US" sz="2800"/>
              <a:t> = P</a:t>
            </a:r>
            <a:r>
              <a:rPr lang="en-US" sz="2800" baseline="-25000"/>
              <a:t>3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B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Compare </a:t>
            </a:r>
            <a:r>
              <a:rPr lang="en-US" sz="2800"/>
              <a:t>a</a:t>
            </a:r>
            <a:r>
              <a:rPr lang="en-US" sz="2800" baseline="-25000"/>
              <a:t>1 ___ </a:t>
            </a:r>
            <a:r>
              <a:rPr lang="en-US" sz="2800"/>
              <a:t>a</a:t>
            </a:r>
            <a:r>
              <a:rPr lang="en-US" sz="2800" baseline="-25000"/>
              <a:t>2 ___ </a:t>
            </a:r>
            <a:r>
              <a:rPr lang="en-US" sz="2800"/>
              <a:t>a</a:t>
            </a:r>
            <a:r>
              <a:rPr lang="en-US" sz="2800" baseline="-25000"/>
              <a:t>3</a:t>
            </a:r>
            <a:endParaRPr lang="en-US" sz="2800">
              <a:solidFill>
                <a:srgbClr val="202124"/>
              </a:solidFill>
              <a:latin typeface="Google Sans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Compare </a:t>
            </a:r>
            <a:r>
              <a:rPr lang="en-US" sz="2800"/>
              <a:t>b</a:t>
            </a:r>
            <a:r>
              <a:rPr lang="en-US" sz="2800" baseline="-25000"/>
              <a:t>1 ___ </a:t>
            </a:r>
            <a:r>
              <a:rPr lang="en-US" sz="2800"/>
              <a:t>b</a:t>
            </a:r>
            <a:r>
              <a:rPr lang="en-US" sz="2800" baseline="-25000"/>
              <a:t>2 ___ </a:t>
            </a:r>
            <a:r>
              <a:rPr lang="en-US" sz="2800"/>
              <a:t>b</a:t>
            </a:r>
            <a:r>
              <a:rPr lang="en-US" sz="2800" baseline="-25000"/>
              <a:t>3</a:t>
            </a:r>
            <a:endParaRPr lang="en-US" sz="2800">
              <a:solidFill>
                <a:srgbClr val="202124"/>
              </a:solidFill>
              <a:latin typeface="Google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419200-BCA4-9619-0D13-221CBE16F7A6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63A1F2-8AA7-6959-6B1C-4C71662C289E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59309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Epipoles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12AE991-CC47-AFF6-39CE-99F719EE10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6337" y="4100052"/>
              <a:ext cx="682297" cy="1160958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CCBA70-BBD7-5E50-41F4-DBB7F915F3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42DB5C-7E98-14A1-2AF2-E13841454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26C91-D10F-7415-02E4-097FC16D8930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CE779D-5C65-4081-41F8-FBD76FFFD90F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4D6655-8A13-0A8A-539F-D7DA1D100159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09F45-F0FB-CD82-5C4D-7F1A832267B2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C821FE-D14A-9D3E-D0C1-DB92F95DDC3E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F1BF373-1EC6-47FF-6365-DF47F0BFBB4E}"/>
              </a:ext>
            </a:extLst>
          </p:cNvPr>
          <p:cNvSpPr txBox="1"/>
          <p:nvPr/>
        </p:nvSpPr>
        <p:spPr>
          <a:xfrm>
            <a:off x="775739" y="1233430"/>
            <a:ext cx="6571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the left </a:t>
            </a:r>
            <a:r>
              <a:rPr lang="en-US" sz="2800" err="1"/>
              <a:t>epipole</a:t>
            </a:r>
            <a:r>
              <a:rPr lang="en-US" sz="2800"/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aseline="30000"/>
              <a:t> </a:t>
            </a:r>
            <a:r>
              <a:rPr lang="en-US" sz="2800"/>
              <a:t>=</a:t>
            </a:r>
            <a:r>
              <a:rPr lang="en-US" sz="2800" baseline="-25000"/>
              <a:t> </a:t>
            </a:r>
            <a:r>
              <a:rPr lang="en-US" sz="2800"/>
              <a:t>__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__</a:t>
            </a:r>
            <a:endParaRPr lang="en-US" sz="2800"/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the right </a:t>
            </a:r>
            <a:r>
              <a:rPr lang="en-US" sz="2800" err="1"/>
              <a:t>epipole</a:t>
            </a:r>
            <a:r>
              <a:rPr lang="en-US" sz="2800"/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aseline="30000"/>
              <a:t> </a:t>
            </a:r>
            <a:r>
              <a:rPr lang="en-US" sz="2800"/>
              <a:t>= </a:t>
            </a:r>
            <a:r>
              <a:rPr lang="en-US" sz="2800" baseline="-25000"/>
              <a:t> </a:t>
            </a:r>
            <a:r>
              <a:rPr lang="en-US" sz="2800"/>
              <a:t>__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__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53E5E6-D557-7406-AF10-C175BBC186A8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168C20-248B-280E-6E6D-E3911BE95D25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801801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Epipolar</a:t>
            </a:r>
            <a:r>
              <a:rPr lang="en-US"/>
              <a:t> Line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CCBA70-BBD7-5E50-41F4-DBB7F915F3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42DB5C-7E98-14A1-2AF2-E13841454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26C91-D10F-7415-02E4-097FC16D8930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CE779D-5C65-4081-41F8-FBD76FFFD90F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4D6655-8A13-0A8A-539F-D7DA1D100159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09F45-F0FB-CD82-5C4D-7F1A832267B2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C821FE-D14A-9D3E-D0C1-DB92F95DDC3E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F1BF373-1EC6-47FF-6365-DF47F0BFBB4E}"/>
              </a:ext>
            </a:extLst>
          </p:cNvPr>
          <p:cNvSpPr txBox="1"/>
          <p:nvPr/>
        </p:nvSpPr>
        <p:spPr>
          <a:xfrm>
            <a:off x="775740" y="1233430"/>
            <a:ext cx="55788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Draw the </a:t>
            </a:r>
            <a:r>
              <a:rPr lang="en-US" sz="2800" err="1"/>
              <a:t>epipolar</a:t>
            </a:r>
            <a:r>
              <a:rPr lang="en-US" sz="2800"/>
              <a:t> line containing a</a:t>
            </a:r>
            <a:r>
              <a:rPr lang="en-US" sz="2800" baseline="-25000"/>
              <a:t>1</a:t>
            </a:r>
            <a:r>
              <a:rPr lang="en-US" sz="2800"/>
              <a:t>, a</a:t>
            </a:r>
            <a:r>
              <a:rPr lang="en-US" sz="2800" baseline="-25000"/>
              <a:t>2</a:t>
            </a:r>
            <a:r>
              <a:rPr lang="en-US" sz="2800"/>
              <a:t>, a</a:t>
            </a:r>
            <a:r>
              <a:rPr lang="en-US" sz="2800" baseline="-25000"/>
              <a:t>3, </a:t>
            </a:r>
            <a:r>
              <a:rPr lang="en-US" sz="2800" err="1"/>
              <a:t>e</a:t>
            </a:r>
            <a:r>
              <a:rPr lang="en-US" sz="2800" baseline="-25000" err="1"/>
              <a:t>left</a:t>
            </a:r>
            <a:endParaRPr lang="en-US" sz="2800" i="0" baseline="-25000">
              <a:solidFill>
                <a:srgbClr val="202124"/>
              </a:solidFill>
              <a:effectLst/>
              <a:latin typeface="Google San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53E5E6-D557-7406-AF10-C175BBC186A8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168C20-248B-280E-6E6D-E3911BE95D25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9B31B07-D55D-6444-DB07-160A5D25FFFC}"/>
              </a:ext>
            </a:extLst>
          </p:cNvPr>
          <p:cNvCxnSpPr>
            <a:cxnSpLocks/>
          </p:cNvCxnSpPr>
          <p:nvPr/>
        </p:nvCxnSpPr>
        <p:spPr>
          <a:xfrm flipV="1">
            <a:off x="11532004" y="1202819"/>
            <a:ext cx="0" cy="379999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77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t's Alive 1974–1996 - Wikipedia">
            <a:extLst>
              <a:ext uri="{FF2B5EF4-FFF2-40B4-BE49-F238E27FC236}">
                <a16:creationId xmlns:a16="http://schemas.microsoft.com/office/drawing/2014/main" id="{E4B2FE83-C6DC-F0AB-0E53-907064E74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47" y="948659"/>
            <a:ext cx="1942739" cy="272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F41B76-67B9-72B1-0CF7-6E9CF3D09B4E}"/>
              </a:ext>
            </a:extLst>
          </p:cNvPr>
          <p:cNvCxnSpPr>
            <a:cxnSpLocks/>
          </p:cNvCxnSpPr>
          <p:nvPr/>
        </p:nvCxnSpPr>
        <p:spPr>
          <a:xfrm flipV="1">
            <a:off x="5280700" y="2328375"/>
            <a:ext cx="2153770" cy="2991629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Two </a:t>
            </a:r>
            <a:r>
              <a:rPr lang="en-US" err="1"/>
              <a:t>epipolar</a:t>
            </a:r>
            <a:r>
              <a:rPr lang="en-US"/>
              <a:t> planes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2355" y="1718569"/>
            <a:ext cx="6411433" cy="4114800"/>
            <a:chOff x="2692110" y="1659575"/>
            <a:chExt cx="6411433" cy="411551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26C91-D10F-7415-02E4-097FC16D8930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CE779D-5C65-4081-41F8-FBD76FFFD90F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4D6655-8A13-0A8A-539F-D7DA1D100159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09F45-F0FB-CD82-5C4D-7F1A832267B2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C821FE-D14A-9D3E-D0C1-DB92F95DDC3E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08F1B36-D31B-8CAF-26EC-4D577B895937}"/>
              </a:ext>
            </a:extLst>
          </p:cNvPr>
          <p:cNvCxnSpPr>
            <a:cxnSpLocks/>
          </p:cNvCxnSpPr>
          <p:nvPr/>
        </p:nvCxnSpPr>
        <p:spPr>
          <a:xfrm flipH="1" flipV="1">
            <a:off x="6588835" y="2362575"/>
            <a:ext cx="4441125" cy="301324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05624E7-6F8C-B382-4E41-2C306AC45B16}"/>
              </a:ext>
            </a:extLst>
          </p:cNvPr>
          <p:cNvSpPr/>
          <p:nvPr/>
        </p:nvSpPr>
        <p:spPr>
          <a:xfrm>
            <a:off x="7045440" y="2636587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5E161-2678-DF14-A28C-6230673B409A}"/>
              </a:ext>
            </a:extLst>
          </p:cNvPr>
          <p:cNvSpPr txBox="1"/>
          <p:nvPr/>
        </p:nvSpPr>
        <p:spPr>
          <a:xfrm flipH="1">
            <a:off x="6859844" y="2302833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4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F533710-41F2-D808-5945-E9078AB945B4}"/>
              </a:ext>
            </a:extLst>
          </p:cNvPr>
          <p:cNvSpPr/>
          <p:nvPr/>
        </p:nvSpPr>
        <p:spPr>
          <a:xfrm>
            <a:off x="7865265" y="3179267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6DF033EB-B1BF-2525-8B9D-12A85BC75DAC}"/>
              </a:ext>
            </a:extLst>
          </p:cNvPr>
          <p:cNvSpPr txBox="1"/>
          <p:nvPr/>
        </p:nvSpPr>
        <p:spPr>
          <a:xfrm flipH="1">
            <a:off x="7897871" y="2859517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5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D5D3C09-D913-E61E-DBD0-22BC2BC2E312}"/>
              </a:ext>
            </a:extLst>
          </p:cNvPr>
          <p:cNvSpPr txBox="1"/>
          <p:nvPr/>
        </p:nvSpPr>
        <p:spPr>
          <a:xfrm>
            <a:off x="10173908" y="4747452"/>
            <a:ext cx="405176" cy="36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ource Sans Pro" panose="020B0503030403020204" pitchFamily="34" charset="0"/>
              </a:rPr>
              <a:t>⦻</a:t>
            </a:r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1DBE1E-5358-3DD4-B63E-711E533AA8D3}"/>
              </a:ext>
            </a:extLst>
          </p:cNvPr>
          <p:cNvSpPr txBox="1"/>
          <p:nvPr/>
        </p:nvSpPr>
        <p:spPr>
          <a:xfrm>
            <a:off x="775740" y="1233430"/>
            <a:ext cx="47508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the </a:t>
            </a:r>
            <a:r>
              <a:rPr lang="en-US" sz="2800" err="1"/>
              <a:t>epipolar</a:t>
            </a:r>
            <a:r>
              <a:rPr lang="en-US" sz="2800"/>
              <a:t> plane P</a:t>
            </a:r>
            <a:r>
              <a:rPr lang="en-US" sz="2800" baseline="-25000"/>
              <a:t>1</a:t>
            </a:r>
            <a:r>
              <a:rPr lang="en-US" sz="2800"/>
              <a:t>,P</a:t>
            </a:r>
            <a:r>
              <a:rPr lang="en-US" sz="2800" baseline="-25000"/>
              <a:t>1</a:t>
            </a:r>
            <a:r>
              <a:rPr lang="en-US" sz="2800"/>
              <a:t>,P</a:t>
            </a:r>
            <a:r>
              <a:rPr lang="en-US" sz="2800" baseline="-25000"/>
              <a:t>3 </a:t>
            </a:r>
            <a:r>
              <a:rPr lang="en-US" sz="2800"/>
              <a:t>are 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the </a:t>
            </a:r>
            <a:r>
              <a:rPr lang="en-US" sz="2800" err="1"/>
              <a:t>epipolar</a:t>
            </a:r>
            <a:r>
              <a:rPr lang="en-US" sz="2800"/>
              <a:t> plane P</a:t>
            </a:r>
            <a:r>
              <a:rPr lang="en-US" sz="2800" baseline="-25000"/>
              <a:t>4</a:t>
            </a:r>
            <a:r>
              <a:rPr lang="en-US" sz="2800"/>
              <a:t>,P</a:t>
            </a:r>
            <a:r>
              <a:rPr lang="en-US" sz="2800" baseline="-25000"/>
              <a:t>5 </a:t>
            </a:r>
            <a:r>
              <a:rPr lang="en-US" sz="2800"/>
              <a:t>are 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Compare P</a:t>
            </a:r>
            <a:r>
              <a:rPr lang="en-US" sz="2800" baseline="-25000"/>
              <a:t>1,y</a:t>
            </a:r>
            <a:r>
              <a:rPr lang="en-US" sz="2800"/>
              <a:t> ___ P</a:t>
            </a:r>
            <a:r>
              <a:rPr lang="en-US" sz="2800" baseline="-25000"/>
              <a:t>4,y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Compare P</a:t>
            </a:r>
            <a:r>
              <a:rPr lang="en-US" sz="2800" baseline="-25000"/>
              <a:t>5,y</a:t>
            </a:r>
            <a:r>
              <a:rPr lang="en-US" sz="2800"/>
              <a:t> ___ P</a:t>
            </a:r>
            <a:r>
              <a:rPr lang="en-US" sz="2800" baseline="-25000"/>
              <a:t>3,y</a:t>
            </a:r>
            <a:endParaRPr 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17C3E-3F2E-AD77-B575-04323251D3FC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2C4E5-7262-9290-5750-F765A21AF90C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883704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F41B76-67B9-72B1-0CF7-6E9CF3D09B4E}"/>
              </a:ext>
            </a:extLst>
          </p:cNvPr>
          <p:cNvCxnSpPr>
            <a:cxnSpLocks/>
          </p:cNvCxnSpPr>
          <p:nvPr/>
        </p:nvCxnSpPr>
        <p:spPr>
          <a:xfrm flipV="1">
            <a:off x="5280700" y="2328375"/>
            <a:ext cx="2153770" cy="2991629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67CD6B-77F4-2F72-54DB-72797F67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Two </a:t>
            </a:r>
            <a:r>
              <a:rPr lang="en-US" err="1"/>
              <a:t>epipolar</a:t>
            </a:r>
            <a:r>
              <a:rPr lang="en-US"/>
              <a:t>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249E4-84DD-A50D-DE5C-8605E265955F}"/>
              </a:ext>
            </a:extLst>
          </p:cNvPr>
          <p:cNvGrpSpPr/>
          <p:nvPr/>
        </p:nvGrpSpPr>
        <p:grpSpPr>
          <a:xfrm>
            <a:off x="5022355" y="1718569"/>
            <a:ext cx="6411433" cy="4114800"/>
            <a:chOff x="2692110" y="1659575"/>
            <a:chExt cx="6411433" cy="411551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D0F491-EB52-2061-D484-EB23C1EC3E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C119DFE-92C9-B175-62E6-C2E1A5D7F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7A5A2978-E00B-0B03-B5F0-D21C88EDCC8B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239802E-73DE-6C9A-B94B-C37958164566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BC7BC2-E6B8-2D60-BD1F-234C77064B56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82C12-265B-D187-EE5C-44AC48D80303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D3EA03-7005-BE88-A7B6-2B4041570E2C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BF170D-3CA0-0A2A-783A-296F71542366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1290D5-92D0-16AB-86AB-768EC48C411A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B34E4-A2E9-5280-8D97-8FC16D3A6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78A848-71E2-78D0-F222-5502A88EB5C2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26C91-D10F-7415-02E4-097FC16D8930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CE779D-5C65-4081-41F8-FBD76FFFD90F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4D6655-8A13-0A8A-539F-D7DA1D100159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54B868-825A-4B3A-8A39-20AAFF040C28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C2A82-9896-BD89-E367-1ED4FA6D1E29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321165-A0BF-C52D-B8B8-15EF865AA37E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29FBB7-465D-7B61-EA0C-77361E0ADE9C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B18D6A-D080-4345-5268-C48EBF903974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17E7B6-54D3-981B-E9BA-AE69EC66C8FA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09F45-F0FB-CD82-5C4D-7F1A832267B2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C821FE-D14A-9D3E-D0C1-DB92F95DDC3E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08F1B36-D31B-8CAF-26EC-4D577B895937}"/>
              </a:ext>
            </a:extLst>
          </p:cNvPr>
          <p:cNvCxnSpPr>
            <a:cxnSpLocks/>
          </p:cNvCxnSpPr>
          <p:nvPr/>
        </p:nvCxnSpPr>
        <p:spPr>
          <a:xfrm flipH="1" flipV="1">
            <a:off x="6588835" y="2362575"/>
            <a:ext cx="4441125" cy="301324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405624E7-6F8C-B382-4E41-2C306AC45B16}"/>
              </a:ext>
            </a:extLst>
          </p:cNvPr>
          <p:cNvSpPr/>
          <p:nvPr/>
        </p:nvSpPr>
        <p:spPr>
          <a:xfrm>
            <a:off x="7045440" y="2636587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5E161-2678-DF14-A28C-6230673B409A}"/>
              </a:ext>
            </a:extLst>
          </p:cNvPr>
          <p:cNvSpPr txBox="1"/>
          <p:nvPr/>
        </p:nvSpPr>
        <p:spPr>
          <a:xfrm flipH="1">
            <a:off x="6859844" y="2302833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4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F533710-41F2-D808-5945-E9078AB945B4}"/>
              </a:ext>
            </a:extLst>
          </p:cNvPr>
          <p:cNvSpPr/>
          <p:nvPr/>
        </p:nvSpPr>
        <p:spPr>
          <a:xfrm>
            <a:off x="7865265" y="3179267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6DF033EB-B1BF-2525-8B9D-12A85BC75DAC}"/>
              </a:ext>
            </a:extLst>
          </p:cNvPr>
          <p:cNvSpPr txBox="1"/>
          <p:nvPr/>
        </p:nvSpPr>
        <p:spPr>
          <a:xfrm flipH="1">
            <a:off x="7897871" y="2859517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5</a:t>
            </a:r>
          </a:p>
        </p:txBody>
      </p: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0E911C05-50F2-A55B-53F3-248776F6C542}"/>
              </a:ext>
            </a:extLst>
          </p:cNvPr>
          <p:cNvCxnSpPr>
            <a:cxnSpLocks/>
          </p:cNvCxnSpPr>
          <p:nvPr/>
        </p:nvCxnSpPr>
        <p:spPr>
          <a:xfrm flipV="1">
            <a:off x="11532004" y="1202819"/>
            <a:ext cx="0" cy="379999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D5D3C09-D913-E61E-DBD0-22BC2BC2E312}"/>
              </a:ext>
            </a:extLst>
          </p:cNvPr>
          <p:cNvSpPr txBox="1"/>
          <p:nvPr/>
        </p:nvSpPr>
        <p:spPr>
          <a:xfrm>
            <a:off x="10173908" y="4747452"/>
            <a:ext cx="405176" cy="36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ource Sans Pro" panose="020B0503030403020204" pitchFamily="34" charset="0"/>
              </a:rPr>
              <a:t>⦻</a:t>
            </a:r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1DBE1E-5358-3DD4-B63E-711E533AA8D3}"/>
              </a:ext>
            </a:extLst>
          </p:cNvPr>
          <p:cNvSpPr txBox="1"/>
          <p:nvPr/>
        </p:nvSpPr>
        <p:spPr>
          <a:xfrm>
            <a:off x="776074" y="1007932"/>
            <a:ext cx="39221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b</a:t>
            </a:r>
            <a:r>
              <a:rPr lang="en-US" sz="2800" baseline="-25000"/>
              <a:t>4</a:t>
            </a:r>
            <a:r>
              <a:rPr lang="en-US" sz="2800"/>
              <a:t> = P</a:t>
            </a:r>
            <a:r>
              <a:rPr lang="en-US" sz="2800" baseline="-25000"/>
              <a:t>4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B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</a:t>
            </a:r>
            <a:r>
              <a:rPr lang="en-US" sz="2800"/>
              <a:t>b</a:t>
            </a:r>
            <a:r>
              <a:rPr lang="en-US" sz="2800" baseline="-25000"/>
              <a:t>5</a:t>
            </a:r>
            <a:r>
              <a:rPr lang="en-US" sz="2800"/>
              <a:t> = P</a:t>
            </a:r>
            <a:r>
              <a:rPr lang="en-US" sz="2800" baseline="-25000"/>
              <a:t>5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>
                <a:solidFill>
                  <a:srgbClr val="202124"/>
                </a:solidFill>
                <a:latin typeface="Google Sans"/>
              </a:rPr>
              <a:t>B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>
                <a:solidFill>
                  <a:srgbClr val="202124"/>
                </a:solidFill>
                <a:latin typeface="Google Sans"/>
              </a:rPr>
              <a:t>Identify </a:t>
            </a:r>
            <a:r>
              <a:rPr lang="en-US" sz="2800" err="1">
                <a:solidFill>
                  <a:srgbClr val="202124"/>
                </a:solidFill>
                <a:latin typeface="Google Sans"/>
              </a:rPr>
              <a:t>e</a:t>
            </a:r>
            <a:r>
              <a:rPr lang="en-US" sz="2800" baseline="-25000" err="1">
                <a:solidFill>
                  <a:srgbClr val="202124"/>
                </a:solidFill>
                <a:latin typeface="Google Sans"/>
              </a:rPr>
              <a:t>l</a:t>
            </a:r>
            <a:r>
              <a:rPr lang="en-US" sz="2800"/>
              <a:t> = __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__</a:t>
            </a:r>
            <a:endParaRPr lang="en-US" sz="2800"/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Identify a</a:t>
            </a:r>
            <a:r>
              <a:rPr lang="en-US" sz="2800" baseline="-25000"/>
              <a:t>1</a:t>
            </a:r>
            <a:r>
              <a:rPr lang="en-US" sz="2800"/>
              <a:t> = P</a:t>
            </a:r>
            <a:r>
              <a:rPr lang="en-US" sz="2800" baseline="-25000"/>
              <a:t>1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r>
              <a:rPr lang="en-US" sz="2800"/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Draw a</a:t>
            </a:r>
            <a:r>
              <a:rPr lang="en-US" sz="2800" baseline="-25000"/>
              <a:t>4</a:t>
            </a:r>
            <a:r>
              <a:rPr lang="en-US" sz="2800"/>
              <a:t> = P</a:t>
            </a:r>
            <a:r>
              <a:rPr lang="en-US" sz="2800" baseline="-25000"/>
              <a:t>4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r>
              <a:rPr lang="en-US" sz="2800"/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Draw a</a:t>
            </a:r>
            <a:r>
              <a:rPr lang="en-US" sz="2800" baseline="-25000"/>
              <a:t>5</a:t>
            </a:r>
            <a:r>
              <a:rPr lang="en-US" sz="2800"/>
              <a:t> = P</a:t>
            </a:r>
            <a:r>
              <a:rPr lang="en-US" sz="2800" baseline="-25000"/>
              <a:t>5</a:t>
            </a:r>
            <a:r>
              <a:rPr lang="en-US" sz="2800"/>
              <a:t> </a:t>
            </a:r>
            <a:r>
              <a:rPr lang="en-US" sz="2800" b="1" i="0">
                <a:solidFill>
                  <a:srgbClr val="202124"/>
                </a:solidFill>
                <a:effectLst/>
                <a:latin typeface="Google Sans"/>
              </a:rPr>
              <a:t>↓ </a:t>
            </a:r>
            <a:r>
              <a:rPr lang="en-US" sz="2800" i="0">
                <a:solidFill>
                  <a:srgbClr val="202124"/>
                </a:solidFill>
                <a:effectLst/>
                <a:latin typeface="Google Sans"/>
              </a:rPr>
              <a:t>A</a:t>
            </a:r>
            <a:r>
              <a:rPr lang="en-US" sz="2800"/>
              <a:t>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Draw the </a:t>
            </a:r>
            <a:r>
              <a:rPr lang="en-US" sz="2800" err="1"/>
              <a:t>epipolar</a:t>
            </a:r>
            <a:r>
              <a:rPr lang="en-US" sz="2800"/>
              <a:t> line a</a:t>
            </a:r>
            <a:r>
              <a:rPr lang="en-US" sz="2800" baseline="-25000"/>
              <a:t>1 </a:t>
            </a:r>
            <a:r>
              <a:rPr lang="en-US" sz="2800"/>
              <a:t>is 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800"/>
              <a:t>Draw the </a:t>
            </a:r>
            <a:r>
              <a:rPr lang="en-US" sz="2800" err="1"/>
              <a:t>epipolar</a:t>
            </a:r>
            <a:r>
              <a:rPr lang="en-US" sz="2800"/>
              <a:t> line a</a:t>
            </a:r>
            <a:r>
              <a:rPr lang="en-US" sz="2800" baseline="-25000"/>
              <a:t>4</a:t>
            </a:r>
            <a:r>
              <a:rPr lang="en-US" sz="2800"/>
              <a:t>, a</a:t>
            </a:r>
            <a:r>
              <a:rPr lang="en-US" sz="2800" baseline="-25000"/>
              <a:t>5</a:t>
            </a:r>
            <a:r>
              <a:rPr lang="en-US" sz="2800"/>
              <a:t> are on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8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476DE-F610-9F93-4FEE-D6F2C38FB0A3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DCBDD860-3D78-AF88-D43B-570D156707C6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42417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A6ED7E-621C-C88B-C938-5F1624EE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Epipolar</a:t>
            </a:r>
            <a:r>
              <a:rPr lang="en-US"/>
              <a:t> Constraint</a:t>
            </a:r>
          </a:p>
        </p:txBody>
      </p:sp>
    </p:spTree>
    <p:extLst>
      <p:ext uri="{BB962C8B-B14F-4D97-AF65-F5344CB8AC3E}">
        <p14:creationId xmlns:p14="http://schemas.microsoft.com/office/powerpoint/2010/main" val="138469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5A99-35F4-B461-7B2B-BA8774BC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Surface normal of an </a:t>
            </a:r>
            <a:r>
              <a:rPr lang="en-US" err="1"/>
              <a:t>epipolar</a:t>
            </a:r>
            <a:r>
              <a:rPr lang="en-US"/>
              <a:t> plane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EE9FDE-B0F1-3734-BB23-A89C6420E7BF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040288F-6994-1E06-0D34-F23ED94D7F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6337" y="4100052"/>
              <a:ext cx="682297" cy="1160958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5FFB41-81F8-B75F-B87A-7830A8A31B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80296-56BA-BB80-05FF-14BCDB0356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5368CD8-94CF-D781-45F3-155C1111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DC2FFE5-A933-BFD0-EC1E-76D918DD7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13DBF40C-7D57-CBF9-25EA-1AD945ECF4A4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8DF254D-4D05-E9B8-0F29-12320080711B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55A84A5-0E21-9EE8-1C34-4EE267BB831F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3DBD3E-9902-EA4B-4066-FB798F17EDA0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3C0BC7-52B8-69DA-91F9-D63146438964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7E05D45-2E6A-65CA-749E-57D4B87B77A4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8B8D5E-E9C6-F800-C5BF-D1054980E43B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D812A75-493D-B6C1-A228-BA94C2E04C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84F15A-D2A2-850C-45E2-7BD53913B655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95F728-4712-1C04-8155-3A841A7658B7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02C834-6FA5-5964-CCC1-84C05C291D5B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D2FFEC-F106-882D-9189-8187A85FEFF6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BFF3BC-2E9B-1787-1820-D1110AD42479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2141332-6E6C-5889-CB41-BF797BBBF127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71AF2C-E6E5-7593-BB0E-71E7E0F7D891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13DFB3-28F6-D2D3-EFBF-4752E0EB1F37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6AC3B9-535A-7995-F99F-632B2350A7AE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E4E815-DE83-6697-8FC3-8C31FD0457F3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517C55-77A0-96D4-C5DF-D3564657F207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47D3DE-B291-42CA-8129-E83A82AEC6C1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4DEB767-7777-F797-F963-835C888F4E28}"/>
                  </a:ext>
                </a:extLst>
              </p:cNvPr>
              <p:cNvSpPr txBox="1"/>
              <p:nvPr/>
            </p:nvSpPr>
            <p:spPr>
              <a:xfrm>
                <a:off x="776074" y="1007932"/>
                <a:ext cx="4769320" cy="4243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800"/>
                  <a:t>Draw the surface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/>
                  <a:t>of the </a:t>
                </a:r>
                <a:r>
                  <a:rPr lang="en-US" sz="2800" err="1"/>
                  <a:t>epipolar</a:t>
                </a:r>
                <a:r>
                  <a:rPr lang="en-US" sz="2800"/>
                  <a:t> plane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aseline="-25000"/>
                  <a:t>_____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aseline="-25000"/>
                  <a:t>_____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aseline="-25000"/>
                  <a:t>_____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aseline="-25000"/>
                  <a:t>_____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aseline="-25000" dirty="0"/>
                      <m:t>_____</m:t>
                    </m:r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aseline="-25000" dirty="0"/>
                      <m:t>_____</m:t>
                    </m:r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:endParaRPr lang="en-US" sz="2800" baseline="-2500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4DEB767-7777-F797-F963-835C888F4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4" y="1007932"/>
                <a:ext cx="4769320" cy="4243919"/>
              </a:xfrm>
              <a:prstGeom prst="rect">
                <a:avLst/>
              </a:prstGeom>
              <a:blipFill>
                <a:blip r:embed="rId3"/>
                <a:stretch>
                  <a:fillRect l="-2171" t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B6EE144-8996-514F-E642-3AEF15786121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8CE338-17C9-6FD6-FA53-BFE23E891C5A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12915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4A91-C781-0152-52AE-8493F87B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Calculate surface normal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A84EA-CBDF-C8E5-FC52-0826763BE190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7C0571-6DCF-7144-BC7E-7B3A4BDDAE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6337" y="4100052"/>
              <a:ext cx="682297" cy="1160958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8EAEED-BC5D-C515-3CB1-309D6E6DD4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8B3B107-72F4-CF2D-8384-806A5EC7EF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604A016-6890-155E-DF79-45DE9B3E7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B509202-1CF4-ED09-07EF-3C4580032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6D15EE9-1CAD-23DD-1CF9-EB3724A952CA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9D1E4E8B-54B4-8260-41CF-2BBBA76C0D02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B9392A-3FD5-97E2-EE55-930759EDD890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3F594-A0C4-2FC0-46B9-DA83F8AF93CE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4F5BCF-6D5B-EC72-ECD1-EAE2779AF580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08D8F2-4C6E-4338-5FFD-C58A9CAA6970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43B42F-E652-7844-13C1-ED0F4426815E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B9CC26-88A6-EE0C-FA6A-F8D0C82BB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566E5B-65E4-507B-2D90-8ED9D3AB2AA3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9BEE64-105B-D3D4-70C9-FBC5A4E490FE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92D536-3C33-BA45-22E7-3BB7D88E57A0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B384D5-6C06-5DD0-98A0-B293851CE702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DECEDC-A82D-6F00-D313-B6562EE30559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64CEE4-8B42-75BF-14EE-CE1C3BF93F72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565A24-6DCA-5D2C-EF92-1E6720184CCD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B29374-E57A-4773-D15A-0833BB2B1BFD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C9DEB9-EC53-C8D0-E327-AD8CFEEDED5B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EC9413-F162-70F3-E7EB-327BCBD4CAED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F42492-97A1-BCD4-67C9-889DA56B3C06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841E60-7882-3B1B-8C8D-9F8BD29E8DDF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F4991D-1A0C-C60B-4A0D-2E3EE80DE9BC}"/>
                  </a:ext>
                </a:extLst>
              </p:cNvPr>
              <p:cNvSpPr txBox="1"/>
              <p:nvPr/>
            </p:nvSpPr>
            <p:spPr>
              <a:xfrm>
                <a:off x="776074" y="1007932"/>
                <a:ext cx="4769320" cy="1837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______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______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______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:endParaRPr lang="en-US" sz="2800" baseline="-250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F4991D-1A0C-C60B-4A0D-2E3EE80DE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4" y="1007932"/>
                <a:ext cx="4769320" cy="18374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Graphic 45">
            <a:extLst>
              <a:ext uri="{FF2B5EF4-FFF2-40B4-BE49-F238E27FC236}">
                <a16:creationId xmlns:a16="http://schemas.microsoft.com/office/drawing/2014/main" id="{52CC6BF5-60C5-DB45-C7D4-041756400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5903" y="2558593"/>
            <a:ext cx="833086" cy="135376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3C9CA73-E0CE-99B7-EBF9-D46C0A9D7216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C07BDC-6895-7E36-ACE1-4F910A0499AB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519581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4A91-C781-0152-52AE-8493F87B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Epipolar</a:t>
            </a:r>
            <a:r>
              <a:rPr lang="en-US"/>
              <a:t> Constraint on P</a:t>
            </a:r>
            <a:r>
              <a:rPr lang="en-US" baseline="-25000"/>
              <a:t>1</a:t>
            </a:r>
            <a:r>
              <a:rPr lang="en-US"/>
              <a:t> and P</a:t>
            </a:r>
            <a:r>
              <a:rPr lang="en-US" baseline="-25000"/>
              <a:t>2  </a:t>
            </a:r>
            <a:r>
              <a:rPr lang="en-US"/>
              <a:t>(coplanar)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5A84EA-CBDF-C8E5-FC52-0826763BE190}"/>
              </a:ext>
            </a:extLst>
          </p:cNvPr>
          <p:cNvGrpSpPr/>
          <p:nvPr/>
        </p:nvGrpSpPr>
        <p:grpSpPr>
          <a:xfrm>
            <a:off x="5022355" y="1718569"/>
            <a:ext cx="6411433" cy="4115515"/>
            <a:chOff x="2692110" y="1659575"/>
            <a:chExt cx="6411433" cy="411551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7C0571-6DCF-7144-BC7E-7B3A4BDDAE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6337" y="4100052"/>
              <a:ext cx="682297" cy="1160958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8EAEED-BC5D-C515-3CB1-309D6E6DD4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233" y="1672159"/>
              <a:ext cx="3697310" cy="410293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8B3B107-72F4-CF2D-8384-806A5EC7EF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3395" y="1703850"/>
              <a:ext cx="3265405" cy="357606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604A016-6890-155E-DF79-45DE9B3E7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715" y="2481029"/>
              <a:ext cx="4322031" cy="279690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B509202-1CF4-ED09-07EF-3C4580032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934" y="3382616"/>
              <a:ext cx="4714200" cy="187839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6D15EE9-1CAD-23DD-1CF9-EB3724A952CA}"/>
                </a:ext>
              </a:extLst>
            </p:cNvPr>
            <p:cNvSpPr/>
            <p:nvPr/>
          </p:nvSpPr>
          <p:spPr>
            <a:xfrm rot="5400000">
              <a:off x="2365027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9D1E4E8B-54B4-8260-41CF-2BBBA76C0D02}"/>
                </a:ext>
              </a:extLst>
            </p:cNvPr>
            <p:cNvSpPr/>
            <p:nvPr/>
          </p:nvSpPr>
          <p:spPr>
            <a:xfrm rot="16200000" flipH="1">
              <a:off x="6870352" y="3650904"/>
              <a:ext cx="2374069" cy="1716023"/>
            </a:xfrm>
            <a:prstGeom prst="parallelogram">
              <a:avLst>
                <a:gd name="adj" fmla="val 7165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B9392A-3FD5-97E2-EE55-930759EDD890}"/>
                </a:ext>
              </a:extLst>
            </p:cNvPr>
            <p:cNvSpPr/>
            <p:nvPr/>
          </p:nvSpPr>
          <p:spPr>
            <a:xfrm>
              <a:off x="5717900" y="2061316"/>
              <a:ext cx="182880" cy="182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13F594-A0C4-2FC0-46B9-DA83F8AF93CE}"/>
                </a:ext>
              </a:extLst>
            </p:cNvPr>
            <p:cNvSpPr/>
            <p:nvPr/>
          </p:nvSpPr>
          <p:spPr>
            <a:xfrm>
              <a:off x="2829997" y="5150894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4F5BCF-6D5B-EC72-ECD1-EAE2779AF580}"/>
                </a:ext>
              </a:extLst>
            </p:cNvPr>
            <p:cNvSpPr/>
            <p:nvPr/>
          </p:nvSpPr>
          <p:spPr>
            <a:xfrm>
              <a:off x="8571842" y="5217563"/>
              <a:ext cx="254953" cy="2430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08D8F2-4C6E-4338-5FFD-C58A9CAA6970}"/>
                </a:ext>
              </a:extLst>
            </p:cNvPr>
            <p:cNvSpPr/>
            <p:nvPr/>
          </p:nvSpPr>
          <p:spPr>
            <a:xfrm>
              <a:off x="6464526" y="288645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43B42F-E652-7844-13C1-ED0F4426815E}"/>
                </a:ext>
              </a:extLst>
            </p:cNvPr>
            <p:cNvSpPr/>
            <p:nvPr/>
          </p:nvSpPr>
          <p:spPr>
            <a:xfrm>
              <a:off x="7049758" y="3526170"/>
              <a:ext cx="182880" cy="18288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B9CC26-88A6-EE0C-FA6A-F8D0C82BB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2545" y="5277930"/>
              <a:ext cx="5707170" cy="3889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566E5B-65E4-507B-2D90-8ED9D3AB2AA3}"/>
                </a:ext>
              </a:extLst>
            </p:cNvPr>
            <p:cNvSpPr txBox="1"/>
            <p:nvPr/>
          </p:nvSpPr>
          <p:spPr>
            <a:xfrm>
              <a:off x="3476337" y="4292638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9BEE64-105B-D3D4-70C9-FBC5A4E490FE}"/>
                </a:ext>
              </a:extLst>
            </p:cNvPr>
            <p:cNvSpPr txBox="1"/>
            <p:nvPr/>
          </p:nvSpPr>
          <p:spPr>
            <a:xfrm>
              <a:off x="3621853" y="4520731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92D536-3C33-BA45-22E7-3BB7D88E57A0}"/>
                </a:ext>
              </a:extLst>
            </p:cNvPr>
            <p:cNvSpPr txBox="1"/>
            <p:nvPr/>
          </p:nvSpPr>
          <p:spPr>
            <a:xfrm>
              <a:off x="3753458" y="4714197"/>
              <a:ext cx="355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B384D5-6C06-5DD0-98A0-B293851CE702}"/>
                </a:ext>
              </a:extLst>
            </p:cNvPr>
            <p:cNvSpPr txBox="1"/>
            <p:nvPr/>
          </p:nvSpPr>
          <p:spPr>
            <a:xfrm>
              <a:off x="4024306" y="5093474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DECEDC-A82D-6F00-D313-B6562EE30559}"/>
                </a:ext>
              </a:extLst>
            </p:cNvPr>
            <p:cNvSpPr txBox="1"/>
            <p:nvPr/>
          </p:nvSpPr>
          <p:spPr>
            <a:xfrm>
              <a:off x="7281414" y="510873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64CEE4-8B42-75BF-14EE-CE1C3BF93F72}"/>
                </a:ext>
              </a:extLst>
            </p:cNvPr>
            <p:cNvSpPr txBox="1"/>
            <p:nvPr/>
          </p:nvSpPr>
          <p:spPr>
            <a:xfrm>
              <a:off x="7818881" y="4380489"/>
              <a:ext cx="4051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>
                  <a:effectLst/>
                  <a:latin typeface="Source Sans Pro" panose="020B0503030403020204" pitchFamily="34" charset="0"/>
                </a:rPr>
                <a:t>⦻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565A24-6DCA-5D2C-EF92-1E6720184CCD}"/>
                </a:ext>
              </a:extLst>
            </p:cNvPr>
            <p:cNvSpPr txBox="1"/>
            <p:nvPr/>
          </p:nvSpPr>
          <p:spPr>
            <a:xfrm flipH="1">
              <a:off x="5669554" y="1659575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B29374-E57A-4773-D15A-0833BB2B1BFD}"/>
                </a:ext>
              </a:extLst>
            </p:cNvPr>
            <p:cNvSpPr txBox="1"/>
            <p:nvPr/>
          </p:nvSpPr>
          <p:spPr>
            <a:xfrm flipH="1">
              <a:off x="6355516" y="2428181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C9DEB9-EC53-C8D0-E327-AD8CFEEDED5B}"/>
                </a:ext>
              </a:extLst>
            </p:cNvPr>
            <p:cNvSpPr txBox="1"/>
            <p:nvPr/>
          </p:nvSpPr>
          <p:spPr>
            <a:xfrm flipH="1">
              <a:off x="6981491" y="3167582"/>
              <a:ext cx="448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EC9413-F162-70F3-E7EB-327BCBD4CAED}"/>
                </a:ext>
              </a:extLst>
            </p:cNvPr>
            <p:cNvSpPr txBox="1"/>
            <p:nvPr/>
          </p:nvSpPr>
          <p:spPr>
            <a:xfrm>
              <a:off x="6981491" y="165957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F42492-97A1-BCD4-67C9-889DA56B3C06}"/>
                </a:ext>
              </a:extLst>
            </p:cNvPr>
            <p:cNvSpPr txBox="1"/>
            <p:nvPr/>
          </p:nvSpPr>
          <p:spPr>
            <a:xfrm>
              <a:off x="2692110" y="349534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841E60-7882-3B1B-8C8D-9F8BD29E8DDF}"/>
                </a:ext>
              </a:extLst>
            </p:cNvPr>
            <p:cNvSpPr txBox="1"/>
            <p:nvPr/>
          </p:nvSpPr>
          <p:spPr>
            <a:xfrm>
              <a:off x="8598429" y="3452869"/>
              <a:ext cx="342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F4991D-1A0C-C60B-4A0D-2E3EE80DE9BC}"/>
                  </a:ext>
                </a:extLst>
              </p:cNvPr>
              <p:cNvSpPr txBox="1"/>
              <p:nvPr/>
            </p:nvSpPr>
            <p:spPr>
              <a:xfrm>
                <a:off x="776074" y="1007932"/>
                <a:ext cx="4769320" cy="1064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______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 baseline="-25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endParaRPr lang="en-US" sz="2800" baseline="-25000"/>
              </a:p>
              <a:p>
                <a:pPr marL="285750" indent="-28575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aseline="-25000" dirty="0"/>
                      <m:t>_____</m:t>
                    </m:r>
                  </m:oMath>
                </a14:m>
                <a:endParaRPr lang="en-US" sz="2800" baseline="-250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F4991D-1A0C-C60B-4A0D-2E3EE80DE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74" y="1007932"/>
                <a:ext cx="4769320" cy="10642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Graphic 45">
            <a:extLst>
              <a:ext uri="{FF2B5EF4-FFF2-40B4-BE49-F238E27FC236}">
                <a16:creationId xmlns:a16="http://schemas.microsoft.com/office/drawing/2014/main" id="{52CC6BF5-60C5-DB45-C7D4-041756400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5903" y="2558593"/>
            <a:ext cx="833086" cy="1353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D080A5D-C919-5F7B-1CB6-453FFA6A23E4}"/>
                  </a:ext>
                </a:extLst>
              </p:cNvPr>
              <p:cNvSpPr txBox="1"/>
              <p:nvPr/>
            </p:nvSpPr>
            <p:spPr>
              <a:xfrm>
                <a:off x="820299" y="2343873"/>
                <a:ext cx="5567550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        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        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D080A5D-C919-5F7B-1CB6-453FFA6A2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99" y="2343873"/>
                <a:ext cx="5567550" cy="646331"/>
              </a:xfrm>
              <a:prstGeom prst="rect">
                <a:avLst/>
              </a:prstGeom>
              <a:blipFill>
                <a:blip r:embed="rId6"/>
                <a:stretch>
                  <a:fillRect t="-12844" r="-2186" b="-321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713F8EC-9AC4-B339-9787-6828DC9077EB}"/>
              </a:ext>
            </a:extLst>
          </p:cNvPr>
          <p:cNvSpPr txBox="1"/>
          <p:nvPr/>
        </p:nvSpPr>
        <p:spPr>
          <a:xfrm>
            <a:off x="4776808" y="5173761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0EA5C-618A-7483-A6B2-D15B460C8CE6}"/>
              </a:ext>
            </a:extLst>
          </p:cNvPr>
          <p:cNvSpPr txBox="1"/>
          <p:nvPr/>
        </p:nvSpPr>
        <p:spPr>
          <a:xfrm>
            <a:off x="11157040" y="5286513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586843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F9F-940C-E1EA-A8B5-3467C674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Derive the </a:t>
            </a:r>
            <a:r>
              <a:rPr lang="en-US" err="1"/>
              <a:t>epipolar</a:t>
            </a:r>
            <a:r>
              <a:rPr lang="en-US"/>
              <a:t> constraint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AC11E-D98B-A24B-8CCF-8BFB20FC178B}"/>
                  </a:ext>
                </a:extLst>
              </p:cNvPr>
              <p:cNvSpPr txBox="1"/>
              <p:nvPr/>
            </p:nvSpPr>
            <p:spPr>
              <a:xfrm>
                <a:off x="4686904" y="4029055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BAC11E-D98B-A24B-8CCF-8BFB20FC1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904" y="4029055"/>
                <a:ext cx="3393878" cy="717248"/>
              </a:xfrm>
              <a:prstGeom prst="rect">
                <a:avLst/>
              </a:prstGeom>
              <a:blipFill>
                <a:blip r:embed="rId3"/>
                <a:stretch>
                  <a:fillRect t="-3390" r="-3411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625E4-F35D-7A87-1938-43C034CD881D}"/>
                  </a:ext>
                </a:extLst>
              </p:cNvPr>
              <p:cNvSpPr txBox="1"/>
              <p:nvPr/>
            </p:nvSpPr>
            <p:spPr>
              <a:xfrm>
                <a:off x="2910356" y="2301751"/>
                <a:ext cx="5333896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625E4-F35D-7A87-1938-43C034CD8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356" y="2301751"/>
                <a:ext cx="5333896" cy="717248"/>
              </a:xfrm>
              <a:prstGeom prst="rect">
                <a:avLst/>
              </a:prstGeom>
              <a:blipFill>
                <a:blip r:embed="rId4"/>
                <a:stretch>
                  <a:fillRect t="-3419" r="-1943" b="-32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059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F9F-940C-E1EA-A8B5-3467C674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Must use the same coordinate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55B2BE-53DB-CCF9-12AF-55B1184051E1}"/>
                  </a:ext>
                </a:extLst>
              </p:cNvPr>
              <p:cNvSpPr txBox="1"/>
              <p:nvPr/>
            </p:nvSpPr>
            <p:spPr>
              <a:xfrm>
                <a:off x="3798629" y="1413912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55B2BE-53DB-CCF9-12AF-55B118405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29" y="1413912"/>
                <a:ext cx="3393878" cy="717248"/>
              </a:xfrm>
              <a:prstGeom prst="rect">
                <a:avLst/>
              </a:prstGeom>
              <a:blipFill>
                <a:blip r:embed="rId3"/>
                <a:stretch>
                  <a:fillRect t="-3390" r="-3591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6EFA9E-6704-6F9C-F540-D0A900613E55}"/>
                  </a:ext>
                </a:extLst>
              </p:cNvPr>
              <p:cNvSpPr txBox="1"/>
              <p:nvPr/>
            </p:nvSpPr>
            <p:spPr>
              <a:xfrm>
                <a:off x="3798629" y="2728709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6EFA9E-6704-6F9C-F540-D0A900613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29" y="2728709"/>
                <a:ext cx="3393878" cy="717248"/>
              </a:xfrm>
              <a:prstGeom prst="rect">
                <a:avLst/>
              </a:prstGeom>
              <a:blipFill>
                <a:blip r:embed="rId4"/>
                <a:stretch>
                  <a:fillRect t="-3419" r="-3591" b="-32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341C4-1C2A-A0E8-02B5-B38E5D88690E}"/>
                  </a:ext>
                </a:extLst>
              </p:cNvPr>
              <p:cNvSpPr txBox="1"/>
              <p:nvPr/>
            </p:nvSpPr>
            <p:spPr>
              <a:xfrm>
                <a:off x="3798629" y="4132357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341C4-1C2A-A0E8-02B5-B38E5D886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29" y="4132357"/>
                <a:ext cx="3393878" cy="717248"/>
              </a:xfrm>
              <a:prstGeom prst="rect">
                <a:avLst/>
              </a:prstGeom>
              <a:blipFill>
                <a:blip r:embed="rId5"/>
                <a:stretch>
                  <a:fillRect t="-3390" r="-3591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407408-63B4-DBE5-D41E-58BFA833FB26}"/>
                  </a:ext>
                </a:extLst>
              </p:cNvPr>
              <p:cNvSpPr txBox="1"/>
              <p:nvPr/>
            </p:nvSpPr>
            <p:spPr>
              <a:xfrm>
                <a:off x="3798629" y="5505158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407408-63B4-DBE5-D41E-58BFA833F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29" y="5505158"/>
                <a:ext cx="3393878" cy="717248"/>
              </a:xfrm>
              <a:prstGeom prst="rect">
                <a:avLst/>
              </a:prstGeom>
              <a:blipFill>
                <a:blip r:embed="rId6"/>
                <a:stretch>
                  <a:fillRect t="-2542" r="-3591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734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1181-6633-F1A0-B214-75EDE5E1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Connect the left and right views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45543B-82A0-92C7-01EE-D00AD15005A3}"/>
                  </a:ext>
                </a:extLst>
              </p:cNvPr>
              <p:cNvSpPr txBox="1"/>
              <p:nvPr/>
            </p:nvSpPr>
            <p:spPr>
              <a:xfrm>
                <a:off x="969460" y="1565851"/>
                <a:ext cx="4081567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45543B-82A0-92C7-01EE-D00AD1500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60" y="1565851"/>
                <a:ext cx="4081567" cy="717248"/>
              </a:xfrm>
              <a:prstGeom prst="rect">
                <a:avLst/>
              </a:prstGeom>
              <a:blipFill>
                <a:blip r:embed="rId3"/>
                <a:stretch>
                  <a:fillRect t="-3390" r="-2836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13056A-2CAC-08B7-1C8C-A6E9EB184820}"/>
                  </a:ext>
                </a:extLst>
              </p:cNvPr>
              <p:cNvSpPr txBox="1"/>
              <p:nvPr/>
            </p:nvSpPr>
            <p:spPr>
              <a:xfrm>
                <a:off x="6654992" y="1528206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13056A-2CAC-08B7-1C8C-A6E9EB184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992" y="1528206"/>
                <a:ext cx="3393878" cy="717248"/>
              </a:xfrm>
              <a:prstGeom prst="rect">
                <a:avLst/>
              </a:prstGeom>
              <a:blipFill>
                <a:blip r:embed="rId4"/>
                <a:stretch>
                  <a:fillRect t="-3419" r="-3597" b="-32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D9B8A2-49A8-D151-8829-1ACAFD7E814A}"/>
                  </a:ext>
                </a:extLst>
              </p:cNvPr>
              <p:cNvSpPr txBox="1"/>
              <p:nvPr/>
            </p:nvSpPr>
            <p:spPr>
              <a:xfrm>
                <a:off x="6641383" y="4401894"/>
                <a:ext cx="3393878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D9B8A2-49A8-D151-8829-1ACAFD7E8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383" y="4401894"/>
                <a:ext cx="3393878" cy="717248"/>
              </a:xfrm>
              <a:prstGeom prst="rect">
                <a:avLst/>
              </a:prstGeom>
              <a:blipFill>
                <a:blip r:embed="rId5"/>
                <a:stretch>
                  <a:fillRect t="-2542" r="-3591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04F9551-277C-7F61-1CAC-CB9B36D0257B}"/>
                  </a:ext>
                </a:extLst>
              </p:cNvPr>
              <p:cNvSpPr txBox="1"/>
              <p:nvPr/>
            </p:nvSpPr>
            <p:spPr>
              <a:xfrm>
                <a:off x="920261" y="4458574"/>
                <a:ext cx="4081567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04F9551-277C-7F61-1CAC-CB9B36D02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61" y="4458574"/>
                <a:ext cx="4081567" cy="717248"/>
              </a:xfrm>
              <a:prstGeom prst="rect">
                <a:avLst/>
              </a:prstGeom>
              <a:blipFill>
                <a:blip r:embed="rId6"/>
                <a:stretch>
                  <a:fillRect t="-2542" r="-2687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44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arallelogram 310">
            <a:extLst>
              <a:ext uri="{FF2B5EF4-FFF2-40B4-BE49-F238E27FC236}">
                <a16:creationId xmlns:a16="http://schemas.microsoft.com/office/drawing/2014/main" id="{D684A319-E712-957D-8D92-591152005778}"/>
              </a:ext>
            </a:extLst>
          </p:cNvPr>
          <p:cNvSpPr/>
          <p:nvPr/>
        </p:nvSpPr>
        <p:spPr>
          <a:xfrm rot="3053705" flipH="1">
            <a:off x="8709564" y="2087770"/>
            <a:ext cx="2374069" cy="1716023"/>
          </a:xfrm>
          <a:prstGeom prst="parallelogram">
            <a:avLst>
              <a:gd name="adj" fmla="val 716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5DF8C-646A-C523-CFDC-99A92F2B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Left camera coordinate system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8E3D20-EA81-C3E3-8C59-3DC3751E3964}"/>
              </a:ext>
            </a:extLst>
          </p:cNvPr>
          <p:cNvCxnSpPr>
            <a:cxnSpLocks/>
          </p:cNvCxnSpPr>
          <p:nvPr/>
        </p:nvCxnSpPr>
        <p:spPr>
          <a:xfrm rot="19480877" flipH="1" flipV="1">
            <a:off x="5114860" y="4641402"/>
            <a:ext cx="682297" cy="1160958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3CD674-AE13-69C4-3D2B-9E185C98AC60}"/>
              </a:ext>
            </a:extLst>
          </p:cNvPr>
          <p:cNvCxnSpPr>
            <a:cxnSpLocks/>
          </p:cNvCxnSpPr>
          <p:nvPr/>
        </p:nvCxnSpPr>
        <p:spPr>
          <a:xfrm rot="19480877" flipH="1" flipV="1">
            <a:off x="5858887" y="402383"/>
            <a:ext cx="3697310" cy="410293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6934E6-1D99-7FFD-86F6-2085EC32732B}"/>
              </a:ext>
            </a:extLst>
          </p:cNvPr>
          <p:cNvCxnSpPr>
            <a:cxnSpLocks/>
          </p:cNvCxnSpPr>
          <p:nvPr/>
        </p:nvCxnSpPr>
        <p:spPr>
          <a:xfrm rot="19480877" flipH="1">
            <a:off x="3763266" y="2019619"/>
            <a:ext cx="3265405" cy="357606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954F5F-01A8-A1F3-6275-BB6805CCCF70}"/>
              </a:ext>
            </a:extLst>
          </p:cNvPr>
          <p:cNvCxnSpPr>
            <a:cxnSpLocks/>
          </p:cNvCxnSpPr>
          <p:nvPr/>
        </p:nvCxnSpPr>
        <p:spPr>
          <a:xfrm rot="19480877" flipH="1">
            <a:off x="3908322" y="2407126"/>
            <a:ext cx="4322031" cy="279690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10B506D-CD84-BD83-61D6-BD1820AB4A9F}"/>
              </a:ext>
            </a:extLst>
          </p:cNvPr>
          <p:cNvSpPr/>
          <p:nvPr/>
        </p:nvSpPr>
        <p:spPr>
          <a:xfrm rot="3280877">
            <a:off x="3953186" y="4377288"/>
            <a:ext cx="2374069" cy="1716023"/>
          </a:xfrm>
          <a:prstGeom prst="parallelogram">
            <a:avLst>
              <a:gd name="adj" fmla="val 716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C3BC3A-92A8-158B-9B9A-D14FBFEC3FC3}"/>
              </a:ext>
            </a:extLst>
          </p:cNvPr>
          <p:cNvSpPr/>
          <p:nvPr/>
        </p:nvSpPr>
        <p:spPr>
          <a:xfrm rot="19480877">
            <a:off x="5528378" y="1916390"/>
            <a:ext cx="182880" cy="182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EAF9C8-6D91-6CE9-124D-BC2DC02E6CCA}"/>
              </a:ext>
            </a:extLst>
          </p:cNvPr>
          <p:cNvSpPr/>
          <p:nvPr/>
        </p:nvSpPr>
        <p:spPr>
          <a:xfrm rot="19480877">
            <a:off x="4968998" y="6080497"/>
            <a:ext cx="254953" cy="24307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C151D9-F4B4-96CB-D5F7-B01112B82D70}"/>
              </a:ext>
            </a:extLst>
          </p:cNvPr>
          <p:cNvSpPr/>
          <p:nvPr/>
        </p:nvSpPr>
        <p:spPr>
          <a:xfrm rot="19480877">
            <a:off x="6614690" y="2157991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1A85F-879F-5454-785F-6555A74D3887}"/>
              </a:ext>
            </a:extLst>
          </p:cNvPr>
          <p:cNvSpPr txBox="1"/>
          <p:nvPr/>
        </p:nvSpPr>
        <p:spPr>
          <a:xfrm rot="19480877">
            <a:off x="5022871" y="4951497"/>
            <a:ext cx="40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ource Sans Pro" panose="020B0503030403020204" pitchFamily="34" charset="0"/>
              </a:rPr>
              <a:t>⦻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3FED17-52C6-8798-5D29-EC5F7345A607}"/>
              </a:ext>
            </a:extLst>
          </p:cNvPr>
          <p:cNvSpPr txBox="1"/>
          <p:nvPr/>
        </p:nvSpPr>
        <p:spPr>
          <a:xfrm rot="19480877">
            <a:off x="5273471" y="5053483"/>
            <a:ext cx="40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ource Sans Pro" panose="020B0503030403020204" pitchFamily="34" charset="0"/>
              </a:rPr>
              <a:t>⦻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B98FC-A844-DEF9-1C92-19F6703624CA}"/>
              </a:ext>
            </a:extLst>
          </p:cNvPr>
          <p:cNvSpPr txBox="1"/>
          <p:nvPr/>
        </p:nvSpPr>
        <p:spPr>
          <a:xfrm rot="19480877" flipH="1">
            <a:off x="5286239" y="1522701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D473B-8227-D797-57E9-7F802A6D2A5C}"/>
              </a:ext>
            </a:extLst>
          </p:cNvPr>
          <p:cNvSpPr txBox="1"/>
          <p:nvPr/>
        </p:nvSpPr>
        <p:spPr>
          <a:xfrm rot="19480877" flipH="1">
            <a:off x="6290299" y="1753273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393F4C-F7E2-3E1B-11BB-B5C07B1E125A}"/>
              </a:ext>
            </a:extLst>
          </p:cNvPr>
          <p:cNvSpPr txBox="1"/>
          <p:nvPr/>
        </p:nvSpPr>
        <p:spPr>
          <a:xfrm rot="19480877">
            <a:off x="6380947" y="8403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F0F3E7-2190-A72A-8F64-06089AD52D80}"/>
              </a:ext>
            </a:extLst>
          </p:cNvPr>
          <p:cNvSpPr txBox="1"/>
          <p:nvPr/>
        </p:nvSpPr>
        <p:spPr>
          <a:xfrm>
            <a:off x="3930096" y="47796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692FD9E-AE42-8805-5422-FC5C4A932B1B}"/>
              </a:ext>
            </a:extLst>
          </p:cNvPr>
          <p:cNvSpPr txBox="1"/>
          <p:nvPr/>
        </p:nvSpPr>
        <p:spPr>
          <a:xfrm>
            <a:off x="4498321" y="6060558"/>
            <a:ext cx="38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8C4DEC5-BC60-E997-09C0-52961EB2B291}"/>
              </a:ext>
            </a:extLst>
          </p:cNvPr>
          <p:cNvSpPr/>
          <p:nvPr/>
        </p:nvSpPr>
        <p:spPr>
          <a:xfrm rot="2183008">
            <a:off x="10490393" y="3009133"/>
            <a:ext cx="254953" cy="24307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0ADADE9-C14C-BE38-926A-46296B0CB77E}"/>
              </a:ext>
            </a:extLst>
          </p:cNvPr>
          <p:cNvSpPr txBox="1"/>
          <p:nvPr/>
        </p:nvSpPr>
        <p:spPr>
          <a:xfrm>
            <a:off x="10863804" y="3060822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3353A7D3-79CE-7D7F-724E-7B718D2BF570}"/>
              </a:ext>
            </a:extLst>
          </p:cNvPr>
          <p:cNvSpPr txBox="1"/>
          <p:nvPr/>
        </p:nvSpPr>
        <p:spPr>
          <a:xfrm>
            <a:off x="9276402" y="3259011"/>
            <a:ext cx="28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</a:t>
            </a:r>
          </a:p>
        </p:txBody>
      </p:sp>
      <p:pic>
        <p:nvPicPr>
          <p:cNvPr id="413" name="Graphic 412">
            <a:extLst>
              <a:ext uri="{FF2B5EF4-FFF2-40B4-BE49-F238E27FC236}">
                <a16:creationId xmlns:a16="http://schemas.microsoft.com/office/drawing/2014/main" id="{37935054-F4DD-1E85-8AB2-37C29121B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4941" y="1173891"/>
            <a:ext cx="1293745" cy="2082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93EC6352-B370-02E0-ADFE-F88558BC9778}"/>
                  </a:ext>
                </a:extLst>
              </p:cNvPr>
              <p:cNvSpPr txBox="1"/>
              <p:nvPr/>
            </p:nvSpPr>
            <p:spPr>
              <a:xfrm>
                <a:off x="909755" y="1714513"/>
                <a:ext cx="2872902" cy="72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=______</a:t>
                </a:r>
              </a:p>
            </p:txBody>
          </p:sp>
        </mc:Choice>
        <mc:Fallback xmlns=""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93EC6352-B370-02E0-ADFE-F88558BC9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55" y="1714513"/>
                <a:ext cx="2872902" cy="728276"/>
              </a:xfrm>
              <a:prstGeom prst="rect">
                <a:avLst/>
              </a:prstGeom>
              <a:blipFill>
                <a:blip r:embed="rId5"/>
                <a:stretch>
                  <a:fillRect t="-2500" r="-3390" b="-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B0A019D7-E49E-1E67-FA1C-4DE723FE0841}"/>
                  </a:ext>
                </a:extLst>
              </p:cNvPr>
              <p:cNvSpPr txBox="1"/>
              <p:nvPr/>
            </p:nvSpPr>
            <p:spPr>
              <a:xfrm>
                <a:off x="891064" y="3461869"/>
                <a:ext cx="2910284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=______</a:t>
                </a:r>
              </a:p>
            </p:txBody>
          </p:sp>
        </mc:Choice>
        <mc:Fallback xmlns=""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B0A019D7-E49E-1E67-FA1C-4DE723FE0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64" y="3461869"/>
                <a:ext cx="2910284" cy="717248"/>
              </a:xfrm>
              <a:prstGeom prst="rect">
                <a:avLst/>
              </a:prstGeom>
              <a:blipFill>
                <a:blip r:embed="rId6"/>
                <a:stretch>
                  <a:fillRect t="-3390" r="-2510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255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DF8C-646A-C523-CFDC-99A92F2B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Right camera coordinate system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0DAE051-D026-86C6-8163-3EF6E201CC8C}"/>
              </a:ext>
            </a:extLst>
          </p:cNvPr>
          <p:cNvCxnSpPr>
            <a:cxnSpLocks/>
          </p:cNvCxnSpPr>
          <p:nvPr/>
        </p:nvCxnSpPr>
        <p:spPr>
          <a:xfrm rot="2183008" flipH="1" flipV="1">
            <a:off x="4598031" y="2058374"/>
            <a:ext cx="3697310" cy="4102931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1FE9E315-D929-0B6D-B055-0FD45E47372B}"/>
              </a:ext>
            </a:extLst>
          </p:cNvPr>
          <p:cNvSpPr/>
          <p:nvPr/>
        </p:nvSpPr>
        <p:spPr>
          <a:xfrm rot="3216992">
            <a:off x="5439891" y="4360070"/>
            <a:ext cx="2374069" cy="1716023"/>
          </a:xfrm>
          <a:prstGeom prst="parallelogram">
            <a:avLst>
              <a:gd name="adj" fmla="val 716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4F003A3-A913-1FAE-B2BE-17756452325F}"/>
              </a:ext>
            </a:extLst>
          </p:cNvPr>
          <p:cNvSpPr/>
          <p:nvPr/>
        </p:nvSpPr>
        <p:spPr>
          <a:xfrm rot="2183008">
            <a:off x="6123380" y="1896294"/>
            <a:ext cx="182880" cy="182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2D43923-661D-0D95-6941-4E043E4CB506}"/>
              </a:ext>
            </a:extLst>
          </p:cNvPr>
          <p:cNvSpPr/>
          <p:nvPr/>
        </p:nvSpPr>
        <p:spPr>
          <a:xfrm rot="2183008">
            <a:off x="6523791" y="6145682"/>
            <a:ext cx="254953" cy="24307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62D1544-2F7B-37B8-16E0-E4EA054A9DD1}"/>
              </a:ext>
            </a:extLst>
          </p:cNvPr>
          <p:cNvSpPr/>
          <p:nvPr/>
        </p:nvSpPr>
        <p:spPr>
          <a:xfrm rot="2183008">
            <a:off x="6234928" y="3003444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8AEE0D3-CB40-58E9-43E7-345E8AEFAF93}"/>
              </a:ext>
            </a:extLst>
          </p:cNvPr>
          <p:cNvSpPr txBox="1"/>
          <p:nvPr/>
        </p:nvSpPr>
        <p:spPr>
          <a:xfrm rot="2183008">
            <a:off x="6362061" y="5057386"/>
            <a:ext cx="405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Source Sans Pro" panose="020B0503030403020204" pitchFamily="34" charset="0"/>
              </a:rPr>
              <a:t>⦻</a:t>
            </a:r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EE5D0CB-F9DC-3182-0B31-E13ECD0BD5B6}"/>
              </a:ext>
            </a:extLst>
          </p:cNvPr>
          <p:cNvSpPr txBox="1"/>
          <p:nvPr/>
        </p:nvSpPr>
        <p:spPr>
          <a:xfrm flipH="1">
            <a:off x="6241542" y="1604644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9D5ADA3-64CA-A4CF-4626-282BCFB4A85D}"/>
              </a:ext>
            </a:extLst>
          </p:cNvPr>
          <p:cNvSpPr txBox="1"/>
          <p:nvPr/>
        </p:nvSpPr>
        <p:spPr>
          <a:xfrm flipH="1">
            <a:off x="6337859" y="2630326"/>
            <a:ext cx="4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3CA9D6B-1A1B-44A4-0692-3E09361FE8F2}"/>
              </a:ext>
            </a:extLst>
          </p:cNvPr>
          <p:cNvSpPr txBox="1"/>
          <p:nvPr/>
        </p:nvSpPr>
        <p:spPr>
          <a:xfrm>
            <a:off x="5565702" y="4729177"/>
            <a:ext cx="28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2BC77AD-F836-C2D0-047E-2388A44642EF}"/>
              </a:ext>
            </a:extLst>
          </p:cNvPr>
          <p:cNvSpPr txBox="1"/>
          <p:nvPr/>
        </p:nvSpPr>
        <p:spPr>
          <a:xfrm>
            <a:off x="6897202" y="6197371"/>
            <a:ext cx="48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</a:t>
            </a:r>
            <a:r>
              <a:rPr lang="en-US" baseline="-2500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2CF09E4-DB8D-D062-AD92-463D4753F79F}"/>
                  </a:ext>
                </a:extLst>
              </p:cNvPr>
              <p:cNvSpPr txBox="1"/>
              <p:nvPr/>
            </p:nvSpPr>
            <p:spPr>
              <a:xfrm>
                <a:off x="909755" y="1714513"/>
                <a:ext cx="2872902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=______</a:t>
                </a: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2CF09E4-DB8D-D062-AD92-463D4753F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55" y="1714513"/>
                <a:ext cx="2872902" cy="717248"/>
              </a:xfrm>
              <a:prstGeom prst="rect">
                <a:avLst/>
              </a:prstGeom>
              <a:blipFill>
                <a:blip r:embed="rId3"/>
                <a:stretch>
                  <a:fillRect t="-2542" r="-5085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F0C5F62-11D1-E50F-A1EB-CFA757AC4F12}"/>
                  </a:ext>
                </a:extLst>
              </p:cNvPr>
              <p:cNvSpPr txBox="1"/>
              <p:nvPr/>
            </p:nvSpPr>
            <p:spPr>
              <a:xfrm>
                <a:off x="841107" y="4243790"/>
                <a:ext cx="2637260" cy="713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=______</a:t>
                </a: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3F0C5F62-11D1-E50F-A1EB-CFA757AC4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07" y="4243790"/>
                <a:ext cx="2637260" cy="713657"/>
              </a:xfrm>
              <a:prstGeom prst="rect">
                <a:avLst/>
              </a:prstGeom>
              <a:blipFill>
                <a:blip r:embed="rId4"/>
                <a:stretch>
                  <a:fillRect t="-2564" r="-4157" b="-324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9" name="Graphic 188">
            <a:extLst>
              <a:ext uri="{FF2B5EF4-FFF2-40B4-BE49-F238E27FC236}">
                <a16:creationId xmlns:a16="http://schemas.microsoft.com/office/drawing/2014/main" id="{6AA83A28-A5FA-047D-AF57-59E956E84D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4941" y="1173891"/>
            <a:ext cx="1293745" cy="2082614"/>
          </a:xfrm>
          <a:prstGeom prst="rect">
            <a:avLst/>
          </a:prstGeom>
        </p:spPr>
      </p:pic>
      <p:pic>
        <p:nvPicPr>
          <p:cNvPr id="200" name="Graphic 199">
            <a:extLst>
              <a:ext uri="{FF2B5EF4-FFF2-40B4-BE49-F238E27FC236}">
                <a16:creationId xmlns:a16="http://schemas.microsoft.com/office/drawing/2014/main" id="{7946FF19-C4BF-94A5-472D-AFA1952D69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9854" y="2042244"/>
            <a:ext cx="1346090" cy="17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54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331C-DD8C-3986-DFBA-B94CA5F8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Put everything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F21983-C5DA-C206-3D55-C0B46B60AFEC}"/>
                  </a:ext>
                </a:extLst>
              </p:cNvPr>
              <p:cNvSpPr txBox="1"/>
              <p:nvPr/>
            </p:nvSpPr>
            <p:spPr>
              <a:xfrm>
                <a:off x="3767964" y="1872128"/>
                <a:ext cx="4081567" cy="717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______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36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3600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/>
                  <a:t>= 0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F21983-C5DA-C206-3D55-C0B46B60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64" y="1872128"/>
                <a:ext cx="4081567" cy="717248"/>
              </a:xfrm>
              <a:prstGeom prst="rect">
                <a:avLst/>
              </a:prstGeom>
              <a:blipFill>
                <a:blip r:embed="rId3"/>
                <a:stretch>
                  <a:fillRect t="-2542" r="-2836" b="-313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5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1D6B38-E77A-A44B-875C-CEC1C5C33424}">
  <we:reference id="1f4df590-35fc-4b16-a239-39709f9d8a74" version="1.0.0.1" store="EXCatalog" storeType="EXCatalog"/>
  <we:alternateReferences>
    <we:reference id="WA104381063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339653-0c01-4318-ae97-7b543795deb4" xsi:nil="true"/>
    <LikesCount xmlns="http://schemas.microsoft.com/sharepoint/v3" xsi:nil="true"/>
    <Instructor xmlns="808fd839-170a-44a4-85e4-5aff044f8a2d" xsi:nil="true"/>
    <Ratings xmlns="http://schemas.microsoft.com/sharepoint/v3" xsi:nil="true"/>
    <lcf76f155ced4ddcb4097134ff3c332f xmlns="808fd839-170a-44a4-85e4-5aff044f8a2d">
      <Terms xmlns="http://schemas.microsoft.com/office/infopath/2007/PartnerControls"/>
    </lcf76f155ced4ddcb4097134ff3c332f>
    <LikedBy xmlns="http://schemas.microsoft.com/sharepoint/v3">
      <UserInfo>
        <DisplayName/>
        <AccountId xsi:nil="true"/>
        <AccountType/>
      </UserInfo>
    </LikedBy>
    <Program_x0020_Affiliation xmlns="808fd839-170a-44a4-85e4-5aff044f8a2d">MS-EE</Program_x0020_Affiliation>
    <RatedBy xmlns="http://schemas.microsoft.com/sharepoint/v3">
      <UserInfo>
        <DisplayName/>
        <AccountId xsi:nil="true"/>
        <AccountType/>
      </UserInfo>
    </Rated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D1C97D5F27A942A6ECCDFB95DF13FE" ma:contentTypeVersion="27" ma:contentTypeDescription="Create a new document." ma:contentTypeScope="" ma:versionID="3995ac26ab8c87c24c9bec2660b6b5b4">
  <xsd:schema xmlns:xsd="http://www.w3.org/2001/XMLSchema" xmlns:xs="http://www.w3.org/2001/XMLSchema" xmlns:p="http://schemas.microsoft.com/office/2006/metadata/properties" xmlns:ns1="http://schemas.microsoft.com/sharepoint/v3" xmlns:ns2="808fd839-170a-44a4-85e4-5aff044f8a2d" xmlns:ns3="9f339653-0c01-4318-ae97-7b543795deb4" targetNamespace="http://schemas.microsoft.com/office/2006/metadata/properties" ma:root="true" ma:fieldsID="554da56fc64e799ffdad86fa85e1e05c" ns1:_="" ns2:_="" ns3:_="">
    <xsd:import namespace="http://schemas.microsoft.com/sharepoint/v3"/>
    <xsd:import namespace="808fd839-170a-44a4-85e4-5aff044f8a2d"/>
    <xsd:import namespace="9f339653-0c01-4318-ae97-7b543795de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Instructor" minOccurs="0"/>
                <xsd:element ref="ns2:Program_x0020_Affiliation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fd839-170a-44a4-85e4-5aff044f8a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Instructor" ma:index="10" nillable="true" ma:displayName="Instructor" ma:format="Dropdown" ma:internalName="Instructor">
      <xsd:simpleType>
        <xsd:restriction base="dms:Text">
          <xsd:maxLength value="255"/>
        </xsd:restriction>
      </xsd:simpleType>
    </xsd:element>
    <xsd:element name="Program_x0020_Affiliation" ma:index="11" nillable="true" ma:displayName="Program Affiliation" ma:default="MS-EE" ma:format="Dropdown" ma:internalName="Program_x0020_Affiliation">
      <xsd:simpleType>
        <xsd:restriction base="dms:Choice">
          <xsd:enumeration value="MS-EE"/>
          <xsd:enumeration value="MS-DS"/>
          <xsd:enumeration value="ME-EM"/>
          <xsd:enumeration value="Non-Credit"/>
          <xsd:enumeration value="MS-CS"/>
        </xsd:restriction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339653-0c01-4318-ae97-7b543795deb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af0b387-c937-4d03-a801-ab4615f1d031}" ma:internalName="TaxCatchAll" ma:showField="CatchAllData" ma:web="9f339653-0c01-4318-ae97-7b543795de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54BC52-308C-4B34-B33C-E6EE1A5674D4}">
  <ds:schemaRefs>
    <ds:schemaRef ds:uri="808fd839-170a-44a4-85e4-5aff044f8a2d"/>
    <ds:schemaRef ds:uri="9f339653-0c01-4318-ae97-7b543795deb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C8647C5-FFDB-4F11-A00D-95FD5D7725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3C9E99-5224-4ED0-AE30-597BCAB9E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08fd839-170a-44a4-85e4-5aff044f8a2d"/>
    <ds:schemaRef ds:uri="9f339653-0c01-4318-ae97-7b543795d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1460</Words>
  <Application>Microsoft Office PowerPoint</Application>
  <PresentationFormat>Widescreen</PresentationFormat>
  <Paragraphs>511</Paragraphs>
  <Slides>25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Epipolar</vt:lpstr>
      <vt:lpstr>Motivation</vt:lpstr>
      <vt:lpstr>Two DVDs and Two cameras</vt:lpstr>
      <vt:lpstr>What do the cameras see?</vt:lpstr>
      <vt:lpstr>PowerPoint Presentation</vt:lpstr>
      <vt:lpstr>PowerPoint Presentation</vt:lpstr>
      <vt:lpstr>PowerPoint Presentation</vt:lpstr>
      <vt:lpstr>PowerPoint Presentation</vt:lpstr>
      <vt:lpstr>Basic Components of Epipolar Geometry</vt:lpstr>
      <vt:lpstr>Epipolar Geometry</vt:lpstr>
      <vt:lpstr>Projections on virtual image planes</vt:lpstr>
      <vt:lpstr>Epipoles</vt:lpstr>
      <vt:lpstr>Epipolar Line</vt:lpstr>
      <vt:lpstr>Two epipolar planes</vt:lpstr>
      <vt:lpstr>Two epipolar lines</vt:lpstr>
      <vt:lpstr>Epipolar Constraint</vt:lpstr>
      <vt:lpstr>Surface normal of an epipolar plane</vt:lpstr>
      <vt:lpstr>Calculate surface normal</vt:lpstr>
      <vt:lpstr>Epipolar Constraint on P1 and P2  (coplanar)</vt:lpstr>
      <vt:lpstr>Derive the epipolar constraint equation</vt:lpstr>
      <vt:lpstr>Must use the same coordinate system</vt:lpstr>
      <vt:lpstr>Connect the left and right views</vt:lpstr>
      <vt:lpstr>Left camera coordinate system</vt:lpstr>
      <vt:lpstr>Right camera coordinate system</vt:lpstr>
      <vt:lpstr>Put everything together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Kayla Jane Kohake</cp:lastModifiedBy>
  <cp:revision>4</cp:revision>
  <dcterms:created xsi:type="dcterms:W3CDTF">2023-09-26T16:58:49Z</dcterms:created>
  <dcterms:modified xsi:type="dcterms:W3CDTF">2025-12-02T10:53:15Z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0x01010055D1C97D5F27A942A6ECCDFB95DF13FE</vt:lpwstr>
  </property>
  <property fmtid="{D5CDD505-2E9C-101B-9397-08002B2CF9AE}" pid="3" name="MediaServiceImageTags">
    <vt:lpwstr/>
  </property>
</Properties>
</file>