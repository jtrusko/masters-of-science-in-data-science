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708f52a7d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g3f708f52a7d_0_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g3f708f52a7d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f708f52a7d_0_1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g3f708f52a7d_0_19: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g3f708f52a7d_0_1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708f52a7d_0_4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g3f708f52a7d_0_49: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g3f708f52a7d_0_4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708f52a7d_0_7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f708f52a7d_0_74: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f708f52a7d_0_7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708f52a7d_0_9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g3f708f52a7d_0_9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3f708f52a7d_0_9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f708f52a7d_0_11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g3f708f52a7d_0_119: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g3f708f52a7d_0_11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708f52a7d_0_13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g3f708f52a7d_0_136: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g3f708f52a7d_0_13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f708f52a7d_0_16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g3f708f52a7d_0_16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g3f708f52a7d_0_16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f708f52a7d_0_18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g3f708f52a7d_0_188: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g3f708f52a7d_0_18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f708f52a7d_0_21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g3f708f52a7d_0_21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End on the partial answer rather than overclaiming. Detection is solved, prediction is half solved, and the report says exactly which half and why.</a:t>
            </a:r>
            <a:endParaRPr/>
          </a:p>
        </p:txBody>
      </p:sp>
      <p:sp>
        <p:nvSpPr>
          <p:cNvPr id="280" name="Google Shape;280;g3f708f52a7d_0_21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38"/>
        </a:solidFill>
      </p:bgPr>
    </p:bg>
    <p:spTree>
      <p:nvGrpSpPr>
        <p:cNvPr id="55" name="Shape 55"/>
        <p:cNvGrpSpPr/>
        <p:nvPr/>
      </p:nvGrpSpPr>
      <p:grpSpPr>
        <a:xfrm>
          <a:off x="0" y="0"/>
          <a:ext cx="0" cy="0"/>
          <a:chOff x="0" y="0"/>
          <a:chExt cx="0" cy="0"/>
        </a:xfrm>
      </p:grpSpPr>
      <p:sp>
        <p:nvSpPr>
          <p:cNvPr id="56" name="Google Shape;56;p14"/>
          <p:cNvSpPr/>
          <p:nvPr/>
        </p:nvSpPr>
        <p:spPr>
          <a:xfrm>
            <a:off x="7063740" y="-1234440"/>
            <a:ext cx="3703200" cy="3703200"/>
          </a:xfrm>
          <a:prstGeom prst="ellipse">
            <a:avLst/>
          </a:prstGeom>
          <a:solidFill>
            <a:srgbClr val="12355B">
              <a:alpha val="5490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 name="Google Shape;57;p14"/>
          <p:cNvSpPr/>
          <p:nvPr/>
        </p:nvSpPr>
        <p:spPr>
          <a:xfrm>
            <a:off x="8161020" y="3360420"/>
            <a:ext cx="2194800" cy="2194800"/>
          </a:xfrm>
          <a:prstGeom prst="ellipse">
            <a:avLst/>
          </a:prstGeom>
          <a:solidFill>
            <a:srgbClr val="E8A33D">
              <a:alpha val="1608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 name="Google Shape;58;p14"/>
          <p:cNvSpPr/>
          <p:nvPr/>
        </p:nvSpPr>
        <p:spPr>
          <a:xfrm>
            <a:off x="480060" y="1028700"/>
            <a:ext cx="61722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 sz="1100" u="none" cap="none" strike="noStrike">
                <a:solidFill>
                  <a:srgbClr val="E8A33D"/>
                </a:solidFill>
                <a:latin typeface="Calibri"/>
                <a:ea typeface="Calibri"/>
                <a:cs typeface="Calibri"/>
                <a:sym typeface="Calibri"/>
              </a:rPr>
              <a:t>FINAL PROJECT REPORT</a:t>
            </a:r>
            <a:endParaRPr b="0" i="0" sz="1100" u="none" cap="none" strike="noStrike">
              <a:solidFill>
                <a:schemeClr val="dk1"/>
              </a:solidFill>
              <a:latin typeface="Calibri"/>
              <a:ea typeface="Calibri"/>
              <a:cs typeface="Calibri"/>
              <a:sym typeface="Calibri"/>
            </a:endParaRPr>
          </a:p>
        </p:txBody>
      </p:sp>
      <p:sp>
        <p:nvSpPr>
          <p:cNvPr id="59" name="Google Shape;59;p14"/>
          <p:cNvSpPr/>
          <p:nvPr/>
        </p:nvSpPr>
        <p:spPr>
          <a:xfrm>
            <a:off x="480060" y="1371600"/>
            <a:ext cx="6583800" cy="1234500"/>
          </a:xfrm>
          <a:prstGeom prst="rect">
            <a:avLst/>
          </a:prstGeom>
          <a:noFill/>
          <a:ln>
            <a:noFill/>
          </a:ln>
        </p:spPr>
        <p:txBody>
          <a:bodyPr anchorCtr="0" anchor="ctr" bIns="0" lIns="0" spcFirstLastPara="1" rIns="0" wrap="square" tIns="0">
            <a:noAutofit/>
          </a:bodyPr>
          <a:lstStyle/>
          <a:p>
            <a:pPr indent="0" lvl="0" marL="0" marR="0" rtl="0" algn="l">
              <a:lnSpc>
                <a:spcPct val="109090"/>
              </a:lnSpc>
              <a:spcBef>
                <a:spcPts val="0"/>
              </a:spcBef>
              <a:spcAft>
                <a:spcPts val="0"/>
              </a:spcAft>
              <a:buClr>
                <a:srgbClr val="FFFFFF"/>
              </a:buClr>
              <a:buSzPts val="3300"/>
              <a:buFont typeface="Cambria"/>
              <a:buNone/>
            </a:pPr>
            <a:r>
              <a:rPr b="1" i="0" lang="en" sz="3300" u="none" cap="none" strike="noStrike">
                <a:solidFill>
                  <a:srgbClr val="FFFFFF"/>
                </a:solidFill>
                <a:latin typeface="Cambria"/>
                <a:ea typeface="Cambria"/>
                <a:cs typeface="Cambria"/>
                <a:sym typeface="Cambria"/>
              </a:rPr>
              <a:t>Predictive Maintenance for</a:t>
            </a:r>
            <a:endParaRPr b="0" i="0" sz="3300" u="none" cap="none" strike="noStrike">
              <a:solidFill>
                <a:schemeClr val="dk1"/>
              </a:solidFill>
              <a:latin typeface="Calibri"/>
              <a:ea typeface="Calibri"/>
              <a:cs typeface="Calibri"/>
              <a:sym typeface="Calibri"/>
            </a:endParaRPr>
          </a:p>
          <a:p>
            <a:pPr indent="0" lvl="0" marL="0" marR="0" rtl="0" algn="l">
              <a:lnSpc>
                <a:spcPct val="109090"/>
              </a:lnSpc>
              <a:spcBef>
                <a:spcPts val="0"/>
              </a:spcBef>
              <a:spcAft>
                <a:spcPts val="0"/>
              </a:spcAft>
              <a:buClr>
                <a:srgbClr val="FFFFFF"/>
              </a:buClr>
              <a:buSzPts val="3300"/>
              <a:buFont typeface="Cambria"/>
              <a:buNone/>
            </a:pPr>
            <a:r>
              <a:rPr b="1" i="0" lang="en" sz="3300" u="none" cap="none" strike="noStrike">
                <a:solidFill>
                  <a:srgbClr val="FFFFFF"/>
                </a:solidFill>
                <a:latin typeface="Cambria"/>
                <a:ea typeface="Cambria"/>
                <a:cs typeface="Cambria"/>
                <a:sym typeface="Cambria"/>
              </a:rPr>
              <a:t>Metro Climate &amp; Air Systems</a:t>
            </a:r>
            <a:endParaRPr b="0" i="0" sz="3300" u="none" cap="none" strike="noStrike">
              <a:solidFill>
                <a:schemeClr val="dk1"/>
              </a:solidFill>
              <a:latin typeface="Calibri"/>
              <a:ea typeface="Calibri"/>
              <a:cs typeface="Calibri"/>
              <a:sym typeface="Calibri"/>
            </a:endParaRPr>
          </a:p>
        </p:txBody>
      </p:sp>
      <p:sp>
        <p:nvSpPr>
          <p:cNvPr id="60" name="Google Shape;60;p14"/>
          <p:cNvSpPr/>
          <p:nvPr/>
        </p:nvSpPr>
        <p:spPr>
          <a:xfrm>
            <a:off x="480060" y="2640330"/>
            <a:ext cx="64464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6E3"/>
              </a:buClr>
              <a:buSzPts val="1200"/>
              <a:buFont typeface="Calibri"/>
              <a:buNone/>
            </a:pPr>
            <a:r>
              <a:rPr b="0" i="0" lang="en" sz="1200" u="none" cap="none" strike="noStrike">
                <a:solidFill>
                  <a:srgbClr val="C9D6E3"/>
                </a:solidFill>
                <a:latin typeface="Calibri"/>
                <a:ea typeface="Calibri"/>
                <a:cs typeface="Calibri"/>
                <a:sym typeface="Calibri"/>
              </a:rPr>
              <a:t>What 1.5 million sensor readings revealed about how a metro air compressor fails.</a:t>
            </a:r>
            <a:endParaRPr b="0" i="0" sz="1200" u="none" cap="none" strike="noStrike">
              <a:solidFill>
                <a:schemeClr val="dk1"/>
              </a:solidFill>
              <a:latin typeface="Calibri"/>
              <a:ea typeface="Calibri"/>
              <a:cs typeface="Calibri"/>
              <a:sym typeface="Calibri"/>
            </a:endParaRPr>
          </a:p>
        </p:txBody>
      </p:sp>
      <p:sp>
        <p:nvSpPr>
          <p:cNvPr id="61" name="Google Shape;61;p14"/>
          <p:cNvSpPr/>
          <p:nvPr/>
        </p:nvSpPr>
        <p:spPr>
          <a:xfrm>
            <a:off x="480060" y="3291840"/>
            <a:ext cx="4114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Joseph (Neil) Truskolaski</a:t>
            </a:r>
            <a:endParaRPr b="0" i="0" sz="1400" u="none" cap="none" strike="noStrike">
              <a:solidFill>
                <a:schemeClr val="dk1"/>
              </a:solidFill>
              <a:latin typeface="Calibri"/>
              <a:ea typeface="Calibri"/>
              <a:cs typeface="Calibri"/>
              <a:sym typeface="Calibri"/>
            </a:endParaRPr>
          </a:p>
        </p:txBody>
      </p:sp>
      <p:sp>
        <p:nvSpPr>
          <p:cNvPr id="62" name="Google Shape;62;p14"/>
          <p:cNvSpPr/>
          <p:nvPr/>
        </p:nvSpPr>
        <p:spPr>
          <a:xfrm>
            <a:off x="480060" y="3566160"/>
            <a:ext cx="61722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1000"/>
              <a:buFont typeface="Calibri"/>
              <a:buNone/>
            </a:pPr>
            <a:r>
              <a:rPr b="0" i="0" lang="en" sz="1000" u="none" cap="none" strike="noStrike">
                <a:solidFill>
                  <a:srgbClr val="9FB3C8"/>
                </a:solidFill>
                <a:latin typeface="Calibri"/>
                <a:ea typeface="Calibri"/>
                <a:cs typeface="Calibri"/>
                <a:sym typeface="Calibri"/>
              </a:rPr>
              <a:t>Project: 21 June to 15 August 2027  ·  Data: Porto Metro APU, Feb to Sep 2020</a:t>
            </a:r>
            <a:endParaRPr b="0" i="0" sz="1000" u="none" cap="none" strike="noStrike">
              <a:solidFill>
                <a:schemeClr val="dk1"/>
              </a:solidFill>
              <a:latin typeface="Calibri"/>
              <a:ea typeface="Calibri"/>
              <a:cs typeface="Calibri"/>
              <a:sym typeface="Calibri"/>
            </a:endParaRPr>
          </a:p>
        </p:txBody>
      </p:sp>
      <p:sp>
        <p:nvSpPr>
          <p:cNvPr id="63" name="Google Shape;63;p14"/>
          <p:cNvSpPr/>
          <p:nvPr/>
        </p:nvSpPr>
        <p:spPr>
          <a:xfrm>
            <a:off x="480060" y="4183380"/>
            <a:ext cx="15771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800"/>
              <a:buFont typeface="Cambria"/>
              <a:buNone/>
            </a:pPr>
            <a:r>
              <a:rPr b="1" i="0" lang="en" sz="1800" u="none" cap="none" strike="noStrike">
                <a:solidFill>
                  <a:srgbClr val="E8A33D"/>
                </a:solidFill>
                <a:latin typeface="Cambria"/>
                <a:ea typeface="Cambria"/>
                <a:cs typeface="Cambria"/>
                <a:sym typeface="Cambria"/>
              </a:rPr>
              <a:t>0.580</a:t>
            </a:r>
            <a:endParaRPr b="0" i="0" sz="1800" u="none" cap="none" strike="noStrike">
              <a:solidFill>
                <a:schemeClr val="dk1"/>
              </a:solidFill>
              <a:latin typeface="Calibri"/>
              <a:ea typeface="Calibri"/>
              <a:cs typeface="Calibri"/>
              <a:sym typeface="Calibri"/>
            </a:endParaRPr>
          </a:p>
        </p:txBody>
      </p:sp>
      <p:sp>
        <p:nvSpPr>
          <p:cNvPr id="64" name="Google Shape;64;p14"/>
          <p:cNvSpPr/>
          <p:nvPr/>
        </p:nvSpPr>
        <p:spPr>
          <a:xfrm>
            <a:off x="480060" y="4512564"/>
            <a:ext cx="15771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800"/>
              <a:buFont typeface="Calibri"/>
              <a:buNone/>
            </a:pPr>
            <a:r>
              <a:rPr b="0" i="0" lang="en" sz="800" u="none" cap="none" strike="noStrike">
                <a:solidFill>
                  <a:srgbClr val="9FB3C8"/>
                </a:solidFill>
                <a:latin typeface="Calibri"/>
                <a:ea typeface="Calibri"/>
                <a:cs typeface="Calibri"/>
                <a:sym typeface="Calibri"/>
              </a:rPr>
              <a:t>final F1</a:t>
            </a:r>
            <a:endParaRPr b="0" i="0" sz="800" u="none" cap="none" strike="noStrike">
              <a:solidFill>
                <a:schemeClr val="dk1"/>
              </a:solidFill>
              <a:latin typeface="Calibri"/>
              <a:ea typeface="Calibri"/>
              <a:cs typeface="Calibri"/>
              <a:sym typeface="Calibri"/>
            </a:endParaRPr>
          </a:p>
        </p:txBody>
      </p:sp>
      <p:sp>
        <p:nvSpPr>
          <p:cNvPr id="65" name="Google Shape;65;p14"/>
          <p:cNvSpPr/>
          <p:nvPr/>
        </p:nvSpPr>
        <p:spPr>
          <a:xfrm>
            <a:off x="2125980" y="4183380"/>
            <a:ext cx="15771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800"/>
              <a:buFont typeface="Cambria"/>
              <a:buNone/>
            </a:pPr>
            <a:r>
              <a:rPr b="1" i="0" lang="en" sz="1800" u="none" cap="none" strike="noStrike">
                <a:solidFill>
                  <a:srgbClr val="E8A33D"/>
                </a:solidFill>
                <a:latin typeface="Cambria"/>
                <a:ea typeface="Cambria"/>
                <a:cs typeface="Cambria"/>
                <a:sym typeface="Cambria"/>
              </a:rPr>
              <a:t>98.5%</a:t>
            </a:r>
            <a:endParaRPr b="0" i="0" sz="1800" u="none" cap="none" strike="noStrike">
              <a:solidFill>
                <a:schemeClr val="dk1"/>
              </a:solidFill>
              <a:latin typeface="Calibri"/>
              <a:ea typeface="Calibri"/>
              <a:cs typeface="Calibri"/>
              <a:sym typeface="Calibri"/>
            </a:endParaRPr>
          </a:p>
        </p:txBody>
      </p:sp>
      <p:sp>
        <p:nvSpPr>
          <p:cNvPr id="66" name="Google Shape;66;p14"/>
          <p:cNvSpPr/>
          <p:nvPr/>
        </p:nvSpPr>
        <p:spPr>
          <a:xfrm>
            <a:off x="2125980" y="4512564"/>
            <a:ext cx="15771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800"/>
              <a:buFont typeface="Calibri"/>
              <a:buNone/>
            </a:pPr>
            <a:r>
              <a:rPr b="0" i="0" lang="en" sz="800" u="none" cap="none" strike="noStrike">
                <a:solidFill>
                  <a:srgbClr val="9FB3C8"/>
                </a:solidFill>
                <a:latin typeface="Calibri"/>
                <a:ea typeface="Calibri"/>
                <a:cs typeface="Calibri"/>
                <a:sym typeface="Calibri"/>
              </a:rPr>
              <a:t>recall</a:t>
            </a:r>
            <a:endParaRPr b="0" i="0" sz="800" u="none" cap="none" strike="noStrike">
              <a:solidFill>
                <a:schemeClr val="dk1"/>
              </a:solidFill>
              <a:latin typeface="Calibri"/>
              <a:ea typeface="Calibri"/>
              <a:cs typeface="Calibri"/>
              <a:sym typeface="Calibri"/>
            </a:endParaRPr>
          </a:p>
        </p:txBody>
      </p:sp>
      <p:sp>
        <p:nvSpPr>
          <p:cNvPr id="67" name="Google Shape;67;p14"/>
          <p:cNvSpPr/>
          <p:nvPr/>
        </p:nvSpPr>
        <p:spPr>
          <a:xfrm>
            <a:off x="3771900" y="4183380"/>
            <a:ext cx="15771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800"/>
              <a:buFont typeface="Cambria"/>
              <a:buNone/>
            </a:pPr>
            <a:r>
              <a:rPr b="1" i="0" lang="en" sz="1800" u="none" cap="none" strike="noStrike">
                <a:solidFill>
                  <a:srgbClr val="E8A33D"/>
                </a:solidFill>
                <a:latin typeface="Cambria"/>
                <a:ea typeface="Cambria"/>
                <a:cs typeface="Cambria"/>
                <a:sym typeface="Cambria"/>
              </a:rPr>
              <a:t>4 / 4</a:t>
            </a:r>
            <a:endParaRPr b="0" i="0" sz="1800" u="none" cap="none" strike="noStrike">
              <a:solidFill>
                <a:schemeClr val="dk1"/>
              </a:solidFill>
              <a:latin typeface="Calibri"/>
              <a:ea typeface="Calibri"/>
              <a:cs typeface="Calibri"/>
              <a:sym typeface="Calibri"/>
            </a:endParaRPr>
          </a:p>
        </p:txBody>
      </p:sp>
      <p:sp>
        <p:nvSpPr>
          <p:cNvPr id="68" name="Google Shape;68;p14"/>
          <p:cNvSpPr/>
          <p:nvPr/>
        </p:nvSpPr>
        <p:spPr>
          <a:xfrm>
            <a:off x="3771900" y="4512564"/>
            <a:ext cx="15771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800"/>
              <a:buFont typeface="Calibri"/>
              <a:buNone/>
            </a:pPr>
            <a:r>
              <a:rPr b="0" i="0" lang="en" sz="800" u="none" cap="none" strike="noStrike">
                <a:solidFill>
                  <a:srgbClr val="9FB3C8"/>
                </a:solidFill>
                <a:latin typeface="Calibri"/>
                <a:ea typeface="Calibri"/>
                <a:cs typeface="Calibri"/>
                <a:sym typeface="Calibri"/>
              </a:rPr>
              <a:t>faults detected</a:t>
            </a:r>
            <a:endParaRPr b="0" i="0" sz="800" u="none" cap="none" strike="noStrike">
              <a:solidFill>
                <a:schemeClr val="dk1"/>
              </a:solidFill>
              <a:latin typeface="Calibri"/>
              <a:ea typeface="Calibri"/>
              <a:cs typeface="Calibri"/>
              <a:sym typeface="Calibri"/>
            </a:endParaRPr>
          </a:p>
        </p:txBody>
      </p:sp>
      <p:sp>
        <p:nvSpPr>
          <p:cNvPr id="69" name="Google Shape;69;p14"/>
          <p:cNvSpPr/>
          <p:nvPr/>
        </p:nvSpPr>
        <p:spPr>
          <a:xfrm>
            <a:off x="5417820" y="4183380"/>
            <a:ext cx="15771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800"/>
              <a:buFont typeface="Cambria"/>
              <a:buNone/>
            </a:pPr>
            <a:r>
              <a:rPr b="1" i="0" lang="en" sz="1800" u="none" cap="none" strike="noStrike">
                <a:solidFill>
                  <a:srgbClr val="E8A33D"/>
                </a:solidFill>
                <a:latin typeface="Cambria"/>
                <a:ea typeface="Cambria"/>
                <a:cs typeface="Cambria"/>
                <a:sym typeface="Cambria"/>
              </a:rPr>
              <a:t>0.97 ms</a:t>
            </a:r>
            <a:endParaRPr b="0" i="0" sz="1800" u="none" cap="none" strike="noStrike">
              <a:solidFill>
                <a:schemeClr val="dk1"/>
              </a:solidFill>
              <a:latin typeface="Calibri"/>
              <a:ea typeface="Calibri"/>
              <a:cs typeface="Calibri"/>
              <a:sym typeface="Calibri"/>
            </a:endParaRPr>
          </a:p>
        </p:txBody>
      </p:sp>
      <p:sp>
        <p:nvSpPr>
          <p:cNvPr id="70" name="Google Shape;70;p14"/>
          <p:cNvSpPr/>
          <p:nvPr/>
        </p:nvSpPr>
        <p:spPr>
          <a:xfrm>
            <a:off x="5417820" y="4512564"/>
            <a:ext cx="15771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800"/>
              <a:buFont typeface="Calibri"/>
              <a:buNone/>
            </a:pPr>
            <a:r>
              <a:rPr b="0" i="0" lang="en" sz="800" u="none" cap="none" strike="noStrike">
                <a:solidFill>
                  <a:srgbClr val="9FB3C8"/>
                </a:solidFill>
                <a:latin typeface="Calibri"/>
                <a:ea typeface="Calibri"/>
                <a:cs typeface="Calibri"/>
                <a:sym typeface="Calibri"/>
              </a:rPr>
              <a:t>end-to-end per window</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p:nvPr/>
        </p:nvSpPr>
        <p:spPr>
          <a:xfrm>
            <a:off x="7749540" y="288036"/>
            <a:ext cx="912300" cy="260700"/>
          </a:xfrm>
          <a:prstGeom prst="roundRect">
            <a:avLst>
              <a:gd fmla="val 26316" name="adj"/>
            </a:avLst>
          </a:prstGeom>
          <a:solidFill>
            <a:srgbClr val="EAF0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7" name="Google Shape;77;p15"/>
          <p:cNvSpPr/>
          <p:nvPr/>
        </p:nvSpPr>
        <p:spPr>
          <a:xfrm>
            <a:off x="7749540" y="288036"/>
            <a:ext cx="9123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355B"/>
              </a:buClr>
              <a:buSzPts val="800"/>
              <a:buFont typeface="Calibri"/>
              <a:buNone/>
            </a:pPr>
            <a:r>
              <a:rPr b="1" i="0" lang="en" sz="800" u="none" cap="none" strike="noStrike">
                <a:solidFill>
                  <a:srgbClr val="12355B"/>
                </a:solidFill>
                <a:latin typeface="Calibri"/>
                <a:ea typeface="Calibri"/>
                <a:cs typeface="Calibri"/>
                <a:sym typeface="Calibri"/>
              </a:rPr>
              <a:t>OVERVIEW</a:t>
            </a:r>
            <a:endParaRPr b="0" i="0" sz="800" u="none" cap="none" strike="noStrike">
              <a:solidFill>
                <a:schemeClr val="dk1"/>
              </a:solidFill>
              <a:latin typeface="Calibri"/>
              <a:ea typeface="Calibri"/>
              <a:cs typeface="Calibri"/>
              <a:sym typeface="Calibri"/>
            </a:endParaRPr>
          </a:p>
        </p:txBody>
      </p:sp>
      <p:sp>
        <p:nvSpPr>
          <p:cNvPr id="78" name="Google Shape;78;p15"/>
          <p:cNvSpPr/>
          <p:nvPr/>
        </p:nvSpPr>
        <p:spPr>
          <a:xfrm>
            <a:off x="480060" y="260604"/>
            <a:ext cx="69471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2500"/>
              <a:buFont typeface="Cambria"/>
              <a:buNone/>
            </a:pPr>
            <a:r>
              <a:rPr b="1" i="0" lang="en" sz="2500" u="none" cap="none" strike="noStrike">
                <a:solidFill>
                  <a:srgbClr val="12355B"/>
                </a:solidFill>
                <a:latin typeface="Cambria"/>
                <a:ea typeface="Cambria"/>
                <a:cs typeface="Cambria"/>
                <a:sym typeface="Cambria"/>
              </a:rPr>
              <a:t>The Project in One Slide</a:t>
            </a:r>
            <a:endParaRPr b="0" i="0" sz="2500" u="none" cap="none" strike="noStrike">
              <a:solidFill>
                <a:schemeClr val="dk1"/>
              </a:solidFill>
              <a:latin typeface="Calibri"/>
              <a:ea typeface="Calibri"/>
              <a:cs typeface="Calibri"/>
              <a:sym typeface="Calibri"/>
            </a:endParaRPr>
          </a:p>
        </p:txBody>
      </p:sp>
      <p:sp>
        <p:nvSpPr>
          <p:cNvPr id="79" name="Google Shape;79;p15"/>
          <p:cNvSpPr/>
          <p:nvPr/>
        </p:nvSpPr>
        <p:spPr>
          <a:xfrm>
            <a:off x="480060" y="768096"/>
            <a:ext cx="6947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200"/>
              <a:buFont typeface="Calibri"/>
              <a:buNone/>
            </a:pPr>
            <a:r>
              <a:rPr b="0" i="1" lang="en" sz="1200" u="none" cap="none" strike="noStrike">
                <a:solidFill>
                  <a:srgbClr val="5A6472"/>
                </a:solidFill>
                <a:latin typeface="Calibri"/>
                <a:ea typeface="Calibri"/>
                <a:cs typeface="Calibri"/>
                <a:sym typeface="Calibri"/>
              </a:rPr>
              <a:t>Eight weeks, 21 June to 15 August 2027. Two course corrections, both forced by the data.</a:t>
            </a:r>
            <a:endParaRPr b="0" i="0" sz="1200" u="none" cap="none" strike="noStrike">
              <a:solidFill>
                <a:schemeClr val="dk1"/>
              </a:solidFill>
              <a:latin typeface="Calibri"/>
              <a:ea typeface="Calibri"/>
              <a:cs typeface="Calibri"/>
              <a:sym typeface="Calibri"/>
            </a:endParaRPr>
          </a:p>
        </p:txBody>
      </p:sp>
      <p:sp>
        <p:nvSpPr>
          <p:cNvPr id="80" name="Google Shape;80;p15"/>
          <p:cNvSpPr/>
          <p:nvPr/>
        </p:nvSpPr>
        <p:spPr>
          <a:xfrm>
            <a:off x="480060" y="1179576"/>
            <a:ext cx="2571900" cy="1268700"/>
          </a:xfrm>
          <a:prstGeom prst="roundRect">
            <a:avLst>
              <a:gd fmla="val 3243"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1" name="Google Shape;81;p15"/>
          <p:cNvSpPr/>
          <p:nvPr/>
        </p:nvSpPr>
        <p:spPr>
          <a:xfrm>
            <a:off x="685800" y="1316736"/>
            <a:ext cx="21948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900"/>
              <a:buFont typeface="Calibri"/>
              <a:buNone/>
            </a:pPr>
            <a:r>
              <a:rPr b="1" i="0" lang="en" sz="900" u="none" cap="none" strike="noStrike">
                <a:solidFill>
                  <a:srgbClr val="12355B"/>
                </a:solidFill>
                <a:latin typeface="Calibri"/>
                <a:ea typeface="Calibri"/>
                <a:cs typeface="Calibri"/>
                <a:sym typeface="Calibri"/>
              </a:rPr>
              <a:t>PROPOSE  ·  21 JUN</a:t>
            </a:r>
            <a:endParaRPr b="0" i="0" sz="900" u="none" cap="none" strike="noStrike">
              <a:solidFill>
                <a:schemeClr val="dk1"/>
              </a:solidFill>
              <a:latin typeface="Calibri"/>
              <a:ea typeface="Calibri"/>
              <a:cs typeface="Calibri"/>
              <a:sym typeface="Calibri"/>
            </a:endParaRPr>
          </a:p>
        </p:txBody>
      </p:sp>
      <p:sp>
        <p:nvSpPr>
          <p:cNvPr id="82" name="Google Shape;82;p15"/>
          <p:cNvSpPr/>
          <p:nvPr/>
        </p:nvSpPr>
        <p:spPr>
          <a:xfrm>
            <a:off x="685800" y="1591056"/>
            <a:ext cx="2160300" cy="75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000"/>
              <a:buFont typeface="Calibri"/>
              <a:buNone/>
            </a:pPr>
            <a:r>
              <a:rPr b="0" i="0" lang="en" sz="1000" u="none" cap="none" strike="noStrike">
                <a:solidFill>
                  <a:srgbClr val="5A6472"/>
                </a:solidFill>
                <a:latin typeface="Calibri"/>
                <a:ea typeface="Calibri"/>
                <a:cs typeface="Calibri"/>
                <a:sym typeface="Calibri"/>
              </a:rPr>
              <a:t>Cycle-level anomaly detection.</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472"/>
              </a:buClr>
              <a:buSzPts val="1000"/>
              <a:buFont typeface="Calibri"/>
              <a:buNone/>
            </a:pPr>
            <a:r>
              <a:rPr b="0" i="0" lang="en" sz="1000" u="none" cap="none" strike="noStrike">
                <a:solidFill>
                  <a:srgbClr val="5A6472"/>
                </a:solidFill>
                <a:latin typeface="Calibri"/>
                <a:ea typeface="Calibri"/>
                <a:cs typeface="Calibri"/>
                <a:sym typeface="Calibri"/>
              </a:rPr>
              <a:t>Baseline named: F1 0.32.</a:t>
            </a:r>
            <a:endParaRPr b="0" i="0" sz="1000" u="none" cap="none" strike="noStrike">
              <a:solidFill>
                <a:schemeClr val="dk1"/>
              </a:solidFill>
              <a:latin typeface="Calibri"/>
              <a:ea typeface="Calibri"/>
              <a:cs typeface="Calibri"/>
              <a:sym typeface="Calibri"/>
            </a:endParaRPr>
          </a:p>
        </p:txBody>
      </p:sp>
      <p:sp>
        <p:nvSpPr>
          <p:cNvPr id="83" name="Google Shape;83;p15"/>
          <p:cNvSpPr/>
          <p:nvPr/>
        </p:nvSpPr>
        <p:spPr>
          <a:xfrm>
            <a:off x="3072384" y="1645920"/>
            <a:ext cx="20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A33D"/>
              </a:buClr>
              <a:buSzPts val="1500"/>
              <a:buFont typeface="Calibri"/>
              <a:buNone/>
            </a:pPr>
            <a:r>
              <a:rPr b="0" i="0" lang="en" sz="1500" u="none" cap="none" strike="noStrike">
                <a:solidFill>
                  <a:srgbClr val="E8A33D"/>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84" name="Google Shape;84;p15"/>
          <p:cNvSpPr/>
          <p:nvPr/>
        </p:nvSpPr>
        <p:spPr>
          <a:xfrm>
            <a:off x="3257550" y="1179576"/>
            <a:ext cx="2571900" cy="1268700"/>
          </a:xfrm>
          <a:prstGeom prst="roundRect">
            <a:avLst>
              <a:gd fmla="val 3243"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5" name="Google Shape;85;p15"/>
          <p:cNvSpPr/>
          <p:nvPr/>
        </p:nvSpPr>
        <p:spPr>
          <a:xfrm>
            <a:off x="3463290" y="1316736"/>
            <a:ext cx="21948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900"/>
              <a:buFont typeface="Calibri"/>
              <a:buNone/>
            </a:pPr>
            <a:r>
              <a:rPr b="1" i="0" lang="en" sz="900" u="none" cap="none" strike="noStrike">
                <a:solidFill>
                  <a:srgbClr val="E8A33D"/>
                </a:solidFill>
                <a:latin typeface="Calibri"/>
                <a:ea typeface="Calibri"/>
                <a:cs typeface="Calibri"/>
                <a:sym typeface="Calibri"/>
              </a:rPr>
              <a:t>CHECKPOINT  ·  18 JUL</a:t>
            </a:r>
            <a:endParaRPr b="0" i="0" sz="900" u="none" cap="none" strike="noStrike">
              <a:solidFill>
                <a:schemeClr val="dk1"/>
              </a:solidFill>
              <a:latin typeface="Calibri"/>
              <a:ea typeface="Calibri"/>
              <a:cs typeface="Calibri"/>
              <a:sym typeface="Calibri"/>
            </a:endParaRPr>
          </a:p>
        </p:txBody>
      </p:sp>
      <p:sp>
        <p:nvSpPr>
          <p:cNvPr id="86" name="Google Shape;86;p15"/>
          <p:cNvSpPr/>
          <p:nvPr/>
        </p:nvSpPr>
        <p:spPr>
          <a:xfrm>
            <a:off x="3463290" y="1591056"/>
            <a:ext cx="2160300" cy="75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000"/>
              <a:buFont typeface="Calibri"/>
              <a:buNone/>
            </a:pPr>
            <a:r>
              <a:rPr b="0" i="0" lang="en" sz="1000" u="none" cap="none" strike="noStrike">
                <a:solidFill>
                  <a:srgbClr val="5A6472"/>
                </a:solidFill>
                <a:latin typeface="Calibri"/>
                <a:ea typeface="Calibri"/>
                <a:cs typeface="Calibri"/>
                <a:sym typeface="Calibri"/>
              </a:rPr>
              <a:t>Cycle unit failed. Moved to</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472"/>
              </a:buClr>
              <a:buSzPts val="1000"/>
              <a:buFont typeface="Calibri"/>
              <a:buNone/>
            </a:pPr>
            <a:r>
              <a:rPr b="0" i="0" lang="en" sz="1000" u="none" cap="none" strike="noStrike">
                <a:solidFill>
                  <a:srgbClr val="5A6472"/>
                </a:solidFill>
                <a:latin typeface="Calibri"/>
                <a:ea typeface="Calibri"/>
                <a:cs typeface="Calibri"/>
                <a:sym typeface="Calibri"/>
              </a:rPr>
              <a:t>15-min windows. IF lost to physics.</a:t>
            </a:r>
            <a:endParaRPr b="0" i="0" sz="1000" u="none" cap="none" strike="noStrike">
              <a:solidFill>
                <a:schemeClr val="dk1"/>
              </a:solidFill>
              <a:latin typeface="Calibri"/>
              <a:ea typeface="Calibri"/>
              <a:cs typeface="Calibri"/>
              <a:sym typeface="Calibri"/>
            </a:endParaRPr>
          </a:p>
        </p:txBody>
      </p:sp>
      <p:sp>
        <p:nvSpPr>
          <p:cNvPr id="87" name="Google Shape;87;p15"/>
          <p:cNvSpPr/>
          <p:nvPr/>
        </p:nvSpPr>
        <p:spPr>
          <a:xfrm>
            <a:off x="5849874" y="1645920"/>
            <a:ext cx="205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A33D"/>
              </a:buClr>
              <a:buSzPts val="1500"/>
              <a:buFont typeface="Calibri"/>
              <a:buNone/>
            </a:pPr>
            <a:r>
              <a:rPr b="0" i="0" lang="en" sz="1500" u="none" cap="none" strike="noStrike">
                <a:solidFill>
                  <a:srgbClr val="E8A33D"/>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88" name="Google Shape;88;p15"/>
          <p:cNvSpPr/>
          <p:nvPr/>
        </p:nvSpPr>
        <p:spPr>
          <a:xfrm>
            <a:off x="6035040" y="1179576"/>
            <a:ext cx="2571900" cy="1268700"/>
          </a:xfrm>
          <a:prstGeom prst="roundRect">
            <a:avLst>
              <a:gd fmla="val 3243"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9" name="Google Shape;89;p15"/>
          <p:cNvSpPr/>
          <p:nvPr/>
        </p:nvSpPr>
        <p:spPr>
          <a:xfrm>
            <a:off x="6240780" y="1316736"/>
            <a:ext cx="21948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9E77"/>
              </a:buClr>
              <a:buSzPts val="900"/>
              <a:buFont typeface="Calibri"/>
              <a:buNone/>
            </a:pPr>
            <a:r>
              <a:rPr b="1" i="0" lang="en" sz="900" u="none" cap="none" strike="noStrike">
                <a:solidFill>
                  <a:srgbClr val="1B9E77"/>
                </a:solidFill>
                <a:latin typeface="Calibri"/>
                <a:ea typeface="Calibri"/>
                <a:cs typeface="Calibri"/>
                <a:sym typeface="Calibri"/>
              </a:rPr>
              <a:t>FINAL  ·  15 AUG</a:t>
            </a:r>
            <a:endParaRPr b="0" i="0" sz="900" u="none" cap="none" strike="noStrike">
              <a:solidFill>
                <a:schemeClr val="dk1"/>
              </a:solidFill>
              <a:latin typeface="Calibri"/>
              <a:ea typeface="Calibri"/>
              <a:cs typeface="Calibri"/>
              <a:sym typeface="Calibri"/>
            </a:endParaRPr>
          </a:p>
        </p:txBody>
      </p:sp>
      <p:sp>
        <p:nvSpPr>
          <p:cNvPr id="90" name="Google Shape;90;p15"/>
          <p:cNvSpPr/>
          <p:nvPr/>
        </p:nvSpPr>
        <p:spPr>
          <a:xfrm>
            <a:off x="6240780" y="1591056"/>
            <a:ext cx="2160300" cy="75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000"/>
              <a:buFont typeface="Calibri"/>
              <a:buNone/>
            </a:pPr>
            <a:r>
              <a:rPr b="0" i="0" lang="en" sz="1000" u="none" cap="none" strike="noStrike">
                <a:solidFill>
                  <a:srgbClr val="5A6472"/>
                </a:solidFill>
                <a:latin typeface="Calibri"/>
                <a:ea typeface="Calibri"/>
                <a:cs typeface="Calibri"/>
                <a:sym typeface="Calibri"/>
              </a:rPr>
              <a:t>Two-layer system shipped.</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472"/>
              </a:buClr>
              <a:buSzPts val="1000"/>
              <a:buFont typeface="Calibri"/>
              <a:buNone/>
            </a:pPr>
            <a:r>
              <a:rPr b="0" i="0" lang="en" sz="1000" u="none" cap="none" strike="noStrike">
                <a:solidFill>
                  <a:srgbClr val="5A6472"/>
                </a:solidFill>
                <a:latin typeface="Calibri"/>
                <a:ea typeface="Calibri"/>
                <a:cs typeface="Calibri"/>
                <a:sym typeface="Calibri"/>
              </a:rPr>
              <a:t>Early warning fell back to CUSUM.</a:t>
            </a:r>
            <a:endParaRPr b="0" i="0" sz="1000" u="none" cap="none" strike="noStrike">
              <a:solidFill>
                <a:schemeClr val="dk1"/>
              </a:solidFill>
              <a:latin typeface="Calibri"/>
              <a:ea typeface="Calibri"/>
              <a:cs typeface="Calibri"/>
              <a:sym typeface="Calibri"/>
            </a:endParaRPr>
          </a:p>
        </p:txBody>
      </p:sp>
      <p:sp>
        <p:nvSpPr>
          <p:cNvPr id="91" name="Google Shape;91;p15"/>
          <p:cNvSpPr/>
          <p:nvPr/>
        </p:nvSpPr>
        <p:spPr>
          <a:xfrm>
            <a:off x="480060" y="2640330"/>
            <a:ext cx="8181600" cy="925800"/>
          </a:xfrm>
          <a:prstGeom prst="roundRect">
            <a:avLst>
              <a:gd fmla="val 4444" name="adj"/>
            </a:avLst>
          </a:prstGeom>
          <a:solidFill>
            <a:srgbClr val="12355B"/>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2" name="Google Shape;92;p15"/>
          <p:cNvSpPr/>
          <p:nvPr/>
        </p:nvSpPr>
        <p:spPr>
          <a:xfrm>
            <a:off x="754380" y="2777490"/>
            <a:ext cx="76329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 sz="1100" u="none" cap="none" strike="noStrike">
                <a:solidFill>
                  <a:srgbClr val="E8A33D"/>
                </a:solidFill>
                <a:latin typeface="Calibri"/>
                <a:ea typeface="Calibri"/>
                <a:cs typeface="Calibri"/>
                <a:sym typeface="Calibri"/>
              </a:rPr>
              <a:t>The final system:  </a:t>
            </a:r>
            <a:r>
              <a:rPr b="0" i="0" lang="en" sz="1100" u="none" cap="none" strike="noStrike">
                <a:solidFill>
                  <a:srgbClr val="DCE6EF"/>
                </a:solidFill>
                <a:latin typeface="Calibri"/>
                <a:ea typeface="Calibri"/>
                <a:cs typeface="Calibri"/>
                <a:sym typeface="Calibri"/>
              </a:rPr>
              <a:t>Layer 1 detects a fault in progress using an Isolation Forest gated by cluster membership. Layer 2 issues an advisory early warning using a CUSUM change-point detector on cycle rate. The two layers exist because they solve genuinely different problems, and only one of them is solved well.</a:t>
            </a:r>
            <a:endParaRPr b="0" i="0" sz="1100" u="none" cap="none" strike="noStrike">
              <a:solidFill>
                <a:schemeClr val="dk1"/>
              </a:solidFill>
              <a:latin typeface="Calibri"/>
              <a:ea typeface="Calibri"/>
              <a:cs typeface="Calibri"/>
              <a:sym typeface="Calibri"/>
            </a:endParaRPr>
          </a:p>
        </p:txBody>
      </p:sp>
      <p:sp>
        <p:nvSpPr>
          <p:cNvPr id="93" name="Google Shape;93;p15"/>
          <p:cNvSpPr/>
          <p:nvPr/>
        </p:nvSpPr>
        <p:spPr>
          <a:xfrm>
            <a:off x="480060" y="3737610"/>
            <a:ext cx="1988700" cy="42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2300"/>
              <a:buFont typeface="Cambria"/>
              <a:buNone/>
            </a:pPr>
            <a:r>
              <a:rPr b="1" i="0" lang="en" sz="2300" u="none" cap="none" strike="noStrike">
                <a:solidFill>
                  <a:srgbClr val="12355B"/>
                </a:solidFill>
                <a:latin typeface="Cambria"/>
                <a:ea typeface="Cambria"/>
                <a:cs typeface="Cambria"/>
                <a:sym typeface="Cambria"/>
              </a:rPr>
              <a:t>1,516,948</a:t>
            </a:r>
            <a:endParaRPr b="0" i="0" sz="2300" u="none" cap="none" strike="noStrike">
              <a:solidFill>
                <a:schemeClr val="dk1"/>
              </a:solidFill>
              <a:latin typeface="Calibri"/>
              <a:ea typeface="Calibri"/>
              <a:cs typeface="Calibri"/>
              <a:sym typeface="Calibri"/>
            </a:endParaRPr>
          </a:p>
        </p:txBody>
      </p:sp>
      <p:sp>
        <p:nvSpPr>
          <p:cNvPr id="94" name="Google Shape;94;p15"/>
          <p:cNvSpPr/>
          <p:nvPr/>
        </p:nvSpPr>
        <p:spPr>
          <a:xfrm>
            <a:off x="480060" y="4183380"/>
            <a:ext cx="1988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readings processed</a:t>
            </a:r>
            <a:endParaRPr b="0" i="0" sz="900" u="none" cap="none" strike="noStrike">
              <a:solidFill>
                <a:schemeClr val="dk1"/>
              </a:solidFill>
              <a:latin typeface="Calibri"/>
              <a:ea typeface="Calibri"/>
              <a:cs typeface="Calibri"/>
              <a:sym typeface="Calibri"/>
            </a:endParaRPr>
          </a:p>
        </p:txBody>
      </p:sp>
      <p:sp>
        <p:nvSpPr>
          <p:cNvPr id="95" name="Google Shape;95;p15"/>
          <p:cNvSpPr/>
          <p:nvPr/>
        </p:nvSpPr>
        <p:spPr>
          <a:xfrm>
            <a:off x="2571750" y="3737610"/>
            <a:ext cx="1988700" cy="42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2300"/>
              <a:buFont typeface="Cambria"/>
              <a:buNone/>
            </a:pPr>
            <a:r>
              <a:rPr b="1" i="0" lang="en" sz="2300" u="none" cap="none" strike="noStrike">
                <a:solidFill>
                  <a:srgbClr val="12355B"/>
                </a:solidFill>
                <a:latin typeface="Cambria"/>
                <a:ea typeface="Cambria"/>
                <a:cs typeface="Cambria"/>
                <a:sym typeface="Cambria"/>
              </a:rPr>
              <a:t>16,773</a:t>
            </a:r>
            <a:endParaRPr b="0" i="0" sz="2300" u="none" cap="none" strike="noStrike">
              <a:solidFill>
                <a:schemeClr val="dk1"/>
              </a:solidFill>
              <a:latin typeface="Calibri"/>
              <a:ea typeface="Calibri"/>
              <a:cs typeface="Calibri"/>
              <a:sym typeface="Calibri"/>
            </a:endParaRPr>
          </a:p>
        </p:txBody>
      </p:sp>
      <p:sp>
        <p:nvSpPr>
          <p:cNvPr id="96" name="Google Shape;96;p15"/>
          <p:cNvSpPr/>
          <p:nvPr/>
        </p:nvSpPr>
        <p:spPr>
          <a:xfrm>
            <a:off x="2571750" y="4183380"/>
            <a:ext cx="1988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modelling windows</a:t>
            </a:r>
            <a:endParaRPr b="0" i="0" sz="900" u="none" cap="none" strike="noStrike">
              <a:solidFill>
                <a:schemeClr val="dk1"/>
              </a:solidFill>
              <a:latin typeface="Calibri"/>
              <a:ea typeface="Calibri"/>
              <a:cs typeface="Calibri"/>
              <a:sym typeface="Calibri"/>
            </a:endParaRPr>
          </a:p>
        </p:txBody>
      </p:sp>
      <p:sp>
        <p:nvSpPr>
          <p:cNvPr id="97" name="Google Shape;97;p15"/>
          <p:cNvSpPr/>
          <p:nvPr/>
        </p:nvSpPr>
        <p:spPr>
          <a:xfrm>
            <a:off x="4663440" y="3737610"/>
            <a:ext cx="1988700" cy="42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2300"/>
              <a:buFont typeface="Cambria"/>
              <a:buNone/>
            </a:pPr>
            <a:r>
              <a:rPr b="1" i="0" lang="en" sz="2300" u="none" cap="none" strike="noStrike">
                <a:solidFill>
                  <a:srgbClr val="12355B"/>
                </a:solidFill>
                <a:latin typeface="Cambria"/>
                <a:ea typeface="Cambria"/>
                <a:cs typeface="Cambria"/>
                <a:sym typeface="Cambria"/>
              </a:rPr>
              <a:t>16.25 s</a:t>
            </a:r>
            <a:endParaRPr b="0" i="0" sz="2300" u="none" cap="none" strike="noStrike">
              <a:solidFill>
                <a:schemeClr val="dk1"/>
              </a:solidFill>
              <a:latin typeface="Calibri"/>
              <a:ea typeface="Calibri"/>
              <a:cs typeface="Calibri"/>
              <a:sym typeface="Calibri"/>
            </a:endParaRPr>
          </a:p>
        </p:txBody>
      </p:sp>
      <p:sp>
        <p:nvSpPr>
          <p:cNvPr id="98" name="Google Shape;98;p15"/>
          <p:cNvSpPr/>
          <p:nvPr/>
        </p:nvSpPr>
        <p:spPr>
          <a:xfrm>
            <a:off x="4663440" y="4183380"/>
            <a:ext cx="1988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full clean, end to end</a:t>
            </a:r>
            <a:endParaRPr b="0" i="0" sz="900" u="none" cap="none" strike="noStrike">
              <a:solidFill>
                <a:schemeClr val="dk1"/>
              </a:solidFill>
              <a:latin typeface="Calibri"/>
              <a:ea typeface="Calibri"/>
              <a:cs typeface="Calibri"/>
              <a:sym typeface="Calibri"/>
            </a:endParaRPr>
          </a:p>
        </p:txBody>
      </p:sp>
      <p:sp>
        <p:nvSpPr>
          <p:cNvPr id="99" name="Google Shape;99;p15"/>
          <p:cNvSpPr/>
          <p:nvPr/>
        </p:nvSpPr>
        <p:spPr>
          <a:xfrm>
            <a:off x="6755130" y="3737610"/>
            <a:ext cx="1988700" cy="425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2300"/>
              <a:buFont typeface="Cambria"/>
              <a:buNone/>
            </a:pPr>
            <a:r>
              <a:rPr b="1" i="0" lang="en" sz="2300" u="none" cap="none" strike="noStrike">
                <a:solidFill>
                  <a:srgbClr val="C0392B"/>
                </a:solidFill>
                <a:latin typeface="Cambria"/>
                <a:ea typeface="Cambria"/>
                <a:cs typeface="Cambria"/>
                <a:sym typeface="Cambria"/>
              </a:rPr>
              <a:t>2 of 4</a:t>
            </a:r>
            <a:endParaRPr b="0" i="0" sz="2300" u="none" cap="none" strike="noStrike">
              <a:solidFill>
                <a:schemeClr val="dk1"/>
              </a:solidFill>
              <a:latin typeface="Calibri"/>
              <a:ea typeface="Calibri"/>
              <a:cs typeface="Calibri"/>
              <a:sym typeface="Calibri"/>
            </a:endParaRPr>
          </a:p>
        </p:txBody>
      </p:sp>
      <p:sp>
        <p:nvSpPr>
          <p:cNvPr id="100" name="Google Shape;100;p15"/>
          <p:cNvSpPr/>
          <p:nvPr/>
        </p:nvSpPr>
        <p:spPr>
          <a:xfrm>
            <a:off x="6755130" y="4183380"/>
            <a:ext cx="1988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faults warned in advance</a:t>
            </a:r>
            <a:endParaRPr b="0" i="0" sz="900" u="none" cap="none" strike="noStrike">
              <a:solidFill>
                <a:schemeClr val="dk1"/>
              </a:solidFill>
              <a:latin typeface="Calibri"/>
              <a:ea typeface="Calibri"/>
              <a:cs typeface="Calibri"/>
              <a:sym typeface="Calibri"/>
            </a:endParaRPr>
          </a:p>
        </p:txBody>
      </p:sp>
      <p:sp>
        <p:nvSpPr>
          <p:cNvPr id="101" name="Google Shape;101;p15"/>
          <p:cNvSpPr/>
          <p:nvPr/>
        </p:nvSpPr>
        <p:spPr>
          <a:xfrm>
            <a:off x="480060" y="4526280"/>
            <a:ext cx="81816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900"/>
              <a:buFont typeface="Calibri"/>
              <a:buNone/>
            </a:pPr>
            <a:r>
              <a:rPr b="1" i="1" lang="en" sz="900" u="none" cap="none" strike="noStrike">
                <a:solidFill>
                  <a:srgbClr val="C0392B"/>
                </a:solidFill>
                <a:latin typeface="Calibri"/>
                <a:ea typeface="Calibri"/>
                <a:cs typeface="Calibri"/>
                <a:sym typeface="Calibri"/>
              </a:rPr>
              <a:t>Note on the 0.32: it was measured per-sample on the raw stream, not per-window after cleaning. The like-for-like comparator is 0.577, so the real gain in F1 is 0.003, not 0.26. See slide 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p:nvPr/>
        </p:nvSpPr>
        <p:spPr>
          <a:xfrm>
            <a:off x="7749540" y="288036"/>
            <a:ext cx="912300" cy="260700"/>
          </a:xfrm>
          <a:prstGeom prst="roundRect">
            <a:avLst>
              <a:gd fmla="val 26316" name="adj"/>
            </a:avLst>
          </a:prstGeom>
          <a:solidFill>
            <a:srgbClr val="EAF0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8" name="Google Shape;108;p16"/>
          <p:cNvSpPr/>
          <p:nvPr/>
        </p:nvSpPr>
        <p:spPr>
          <a:xfrm>
            <a:off x="7749540" y="288036"/>
            <a:ext cx="9123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355B"/>
              </a:buClr>
              <a:buSzPts val="800"/>
              <a:buFont typeface="Calibri"/>
              <a:buNone/>
            </a:pPr>
            <a:r>
              <a:rPr b="1" i="0" lang="en" sz="800" u="none" cap="none" strike="noStrike">
                <a:solidFill>
                  <a:srgbClr val="12355B"/>
                </a:solidFill>
                <a:latin typeface="Calibri"/>
                <a:ea typeface="Calibri"/>
                <a:cs typeface="Calibri"/>
                <a:sym typeface="Calibri"/>
              </a:rPr>
              <a:t>FINDING 1</a:t>
            </a:r>
            <a:endParaRPr b="0" i="0" sz="800" u="none" cap="none" strike="noStrike">
              <a:solidFill>
                <a:schemeClr val="dk1"/>
              </a:solidFill>
              <a:latin typeface="Calibri"/>
              <a:ea typeface="Calibri"/>
              <a:cs typeface="Calibri"/>
              <a:sym typeface="Calibri"/>
            </a:endParaRPr>
          </a:p>
        </p:txBody>
      </p:sp>
      <p:sp>
        <p:nvSpPr>
          <p:cNvPr id="109" name="Google Shape;109;p16"/>
          <p:cNvSpPr/>
          <p:nvPr/>
        </p:nvSpPr>
        <p:spPr>
          <a:xfrm>
            <a:off x="480060" y="260604"/>
            <a:ext cx="69471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2500"/>
              <a:buFont typeface="Cambria"/>
              <a:buNone/>
            </a:pPr>
            <a:r>
              <a:rPr b="1" i="0" lang="en" sz="2500" u="none" cap="none" strike="noStrike">
                <a:solidFill>
                  <a:srgbClr val="12355B"/>
                </a:solidFill>
                <a:latin typeface="Cambria"/>
                <a:ea typeface="Cambria"/>
                <a:cs typeface="Cambria"/>
                <a:sym typeface="Cambria"/>
              </a:rPr>
              <a:t>How This Machine Actually Fails</a:t>
            </a:r>
            <a:endParaRPr b="0" i="0" sz="2500" u="none" cap="none" strike="noStrike">
              <a:solidFill>
                <a:schemeClr val="dk1"/>
              </a:solidFill>
              <a:latin typeface="Calibri"/>
              <a:ea typeface="Calibri"/>
              <a:cs typeface="Calibri"/>
              <a:sym typeface="Calibri"/>
            </a:endParaRPr>
          </a:p>
        </p:txBody>
      </p:sp>
      <p:sp>
        <p:nvSpPr>
          <p:cNvPr id="110" name="Google Shape;110;p16"/>
          <p:cNvSpPr/>
          <p:nvPr/>
        </p:nvSpPr>
        <p:spPr>
          <a:xfrm>
            <a:off x="480060" y="768096"/>
            <a:ext cx="6947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200"/>
              <a:buFont typeface="Calibri"/>
              <a:buNone/>
            </a:pPr>
            <a:r>
              <a:rPr b="0" i="1" lang="en" sz="1200" u="none" cap="none" strike="noStrike">
                <a:solidFill>
                  <a:srgbClr val="5A6472"/>
                </a:solidFill>
                <a:latin typeface="Calibri"/>
                <a:ea typeface="Calibri"/>
                <a:cs typeface="Calibri"/>
                <a:sym typeface="Calibri"/>
              </a:rPr>
              <a:t>A three-stage signature, found in the data, not assumed from theory.</a:t>
            </a:r>
            <a:endParaRPr b="0" i="0" sz="1200" u="none" cap="none" strike="noStrike">
              <a:solidFill>
                <a:schemeClr val="dk1"/>
              </a:solidFill>
              <a:latin typeface="Calibri"/>
              <a:ea typeface="Calibri"/>
              <a:cs typeface="Calibri"/>
              <a:sym typeface="Calibri"/>
            </a:endParaRPr>
          </a:p>
        </p:txBody>
      </p:sp>
      <p:pic>
        <p:nvPicPr>
          <p:cNvPr descr="fig/c1_signature.png" id="111" name="Google Shape;111;p16"/>
          <p:cNvPicPr preferRelativeResize="0"/>
          <p:nvPr/>
        </p:nvPicPr>
        <p:blipFill rotWithShape="1">
          <a:blip r:embed="rId3">
            <a:alphaModFix/>
          </a:blip>
          <a:srcRect b="0" l="0" r="0" t="0"/>
          <a:stretch/>
        </p:blipFill>
        <p:spPr>
          <a:xfrm>
            <a:off x="480060" y="1152144"/>
            <a:ext cx="8161021" cy="2571750"/>
          </a:xfrm>
          <a:prstGeom prst="rect">
            <a:avLst/>
          </a:prstGeom>
          <a:noFill/>
          <a:ln>
            <a:noFill/>
          </a:ln>
        </p:spPr>
      </p:pic>
      <p:sp>
        <p:nvSpPr>
          <p:cNvPr id="112" name="Google Shape;112;p16"/>
          <p:cNvSpPr/>
          <p:nvPr/>
        </p:nvSpPr>
        <p:spPr>
          <a:xfrm>
            <a:off x="480060" y="3806190"/>
            <a:ext cx="2571900" cy="754500"/>
          </a:xfrm>
          <a:prstGeom prst="roundRect">
            <a:avLst>
              <a:gd fmla="val 5455"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3" name="Google Shape;113;p16"/>
          <p:cNvSpPr/>
          <p:nvPr/>
        </p:nvSpPr>
        <p:spPr>
          <a:xfrm>
            <a:off x="644652" y="3963924"/>
            <a:ext cx="274200" cy="274200"/>
          </a:xfrm>
          <a:prstGeom prst="ellipse">
            <a:avLst/>
          </a:prstGeom>
          <a:solidFill>
            <a:srgbClr val="1B9E7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4" name="Google Shape;114;p16"/>
          <p:cNvSpPr/>
          <p:nvPr/>
        </p:nvSpPr>
        <p:spPr>
          <a:xfrm>
            <a:off x="1001268" y="3881628"/>
            <a:ext cx="19887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9E77"/>
              </a:buClr>
              <a:buSzPts val="800"/>
              <a:buFont typeface="Calibri"/>
              <a:buNone/>
            </a:pPr>
            <a:r>
              <a:rPr b="1" i="0" lang="en" sz="800" u="none" cap="none" strike="noStrike">
                <a:solidFill>
                  <a:srgbClr val="1B9E77"/>
                </a:solidFill>
                <a:latin typeface="Calibri"/>
                <a:ea typeface="Calibri"/>
                <a:cs typeface="Calibri"/>
                <a:sym typeface="Calibri"/>
              </a:rPr>
              <a:t>HEALTHY</a:t>
            </a:r>
            <a:endParaRPr b="0" i="0" sz="800" u="none" cap="none" strike="noStrike">
              <a:solidFill>
                <a:schemeClr val="dk1"/>
              </a:solidFill>
              <a:latin typeface="Calibri"/>
              <a:ea typeface="Calibri"/>
              <a:cs typeface="Calibri"/>
              <a:sym typeface="Calibri"/>
            </a:endParaRPr>
          </a:p>
        </p:txBody>
      </p:sp>
      <p:sp>
        <p:nvSpPr>
          <p:cNvPr id="115" name="Google Shape;115;p16"/>
          <p:cNvSpPr/>
          <p:nvPr/>
        </p:nvSpPr>
        <p:spPr>
          <a:xfrm>
            <a:off x="1001268" y="4073652"/>
            <a:ext cx="1988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100"/>
              <a:buFont typeface="Calibri"/>
              <a:buNone/>
            </a:pPr>
            <a:r>
              <a:rPr b="1" i="0" lang="en" sz="1100" u="none" cap="none" strike="noStrike">
                <a:solidFill>
                  <a:srgbClr val="12355B"/>
                </a:solidFill>
                <a:latin typeface="Calibri"/>
                <a:ea typeface="Calibri"/>
                <a:cs typeface="Calibri"/>
                <a:sym typeface="Calibri"/>
              </a:rPr>
              <a:t>2.60 cycles/h</a:t>
            </a:r>
            <a:endParaRPr b="0" i="0" sz="1100" u="none" cap="none" strike="noStrike">
              <a:solidFill>
                <a:schemeClr val="dk1"/>
              </a:solidFill>
              <a:latin typeface="Calibri"/>
              <a:ea typeface="Calibri"/>
              <a:cs typeface="Calibri"/>
              <a:sym typeface="Calibri"/>
            </a:endParaRPr>
          </a:p>
        </p:txBody>
      </p:sp>
      <p:sp>
        <p:nvSpPr>
          <p:cNvPr id="116" name="Google Shape;116;p16"/>
          <p:cNvSpPr/>
          <p:nvPr/>
        </p:nvSpPr>
        <p:spPr>
          <a:xfrm>
            <a:off x="1001268" y="4279392"/>
            <a:ext cx="1988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800"/>
              <a:buFont typeface="Calibri"/>
              <a:buNone/>
            </a:pPr>
            <a:r>
              <a:rPr b="0" i="0" lang="en" sz="800" u="none" cap="none" strike="noStrike">
                <a:solidFill>
                  <a:srgbClr val="5A6472"/>
                </a:solidFill>
                <a:latin typeface="Calibri"/>
                <a:ea typeface="Calibri"/>
                <a:cs typeface="Calibri"/>
                <a:sym typeface="Calibri"/>
              </a:rPr>
              <a:t>long, infrequent refills</a:t>
            </a:r>
            <a:endParaRPr b="0" i="0" sz="800" u="none" cap="none" strike="noStrike">
              <a:solidFill>
                <a:schemeClr val="dk1"/>
              </a:solidFill>
              <a:latin typeface="Calibri"/>
              <a:ea typeface="Calibri"/>
              <a:cs typeface="Calibri"/>
              <a:sym typeface="Calibri"/>
            </a:endParaRPr>
          </a:p>
        </p:txBody>
      </p:sp>
      <p:sp>
        <p:nvSpPr>
          <p:cNvPr id="117" name="Google Shape;117;p16"/>
          <p:cNvSpPr/>
          <p:nvPr/>
        </p:nvSpPr>
        <p:spPr>
          <a:xfrm>
            <a:off x="3257550" y="3806190"/>
            <a:ext cx="2571900" cy="754500"/>
          </a:xfrm>
          <a:prstGeom prst="roundRect">
            <a:avLst>
              <a:gd fmla="val 5455"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8" name="Google Shape;118;p16"/>
          <p:cNvSpPr/>
          <p:nvPr/>
        </p:nvSpPr>
        <p:spPr>
          <a:xfrm>
            <a:off x="3422142" y="3963924"/>
            <a:ext cx="274200" cy="274200"/>
          </a:xfrm>
          <a:prstGeom prst="ellipse">
            <a:avLst/>
          </a:prstGeom>
          <a:solidFill>
            <a:srgbClr val="E8A33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9" name="Google Shape;119;p16"/>
          <p:cNvSpPr/>
          <p:nvPr/>
        </p:nvSpPr>
        <p:spPr>
          <a:xfrm>
            <a:off x="3778758" y="3881628"/>
            <a:ext cx="19887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800"/>
              <a:buFont typeface="Calibri"/>
              <a:buNone/>
            </a:pPr>
            <a:r>
              <a:rPr b="1" i="0" lang="en" sz="800" u="none" cap="none" strike="noStrike">
                <a:solidFill>
                  <a:srgbClr val="E8A33D"/>
                </a:solidFill>
                <a:latin typeface="Calibri"/>
                <a:ea typeface="Calibri"/>
                <a:cs typeface="Calibri"/>
                <a:sym typeface="Calibri"/>
              </a:rPr>
              <a:t>DEVELOPING LEAK</a:t>
            </a:r>
            <a:endParaRPr b="0" i="0" sz="800" u="none" cap="none" strike="noStrike">
              <a:solidFill>
                <a:schemeClr val="dk1"/>
              </a:solidFill>
              <a:latin typeface="Calibri"/>
              <a:ea typeface="Calibri"/>
              <a:cs typeface="Calibri"/>
              <a:sym typeface="Calibri"/>
            </a:endParaRPr>
          </a:p>
        </p:txBody>
      </p:sp>
      <p:sp>
        <p:nvSpPr>
          <p:cNvPr id="120" name="Google Shape;120;p16"/>
          <p:cNvSpPr/>
          <p:nvPr/>
        </p:nvSpPr>
        <p:spPr>
          <a:xfrm>
            <a:off x="3778758" y="4073652"/>
            <a:ext cx="1988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100"/>
              <a:buFont typeface="Calibri"/>
              <a:buNone/>
            </a:pPr>
            <a:r>
              <a:rPr b="1" i="0" lang="en" sz="1100" u="none" cap="none" strike="noStrike">
                <a:solidFill>
                  <a:srgbClr val="12355B"/>
                </a:solidFill>
                <a:latin typeface="Calibri"/>
                <a:ea typeface="Calibri"/>
                <a:cs typeface="Calibri"/>
                <a:sym typeface="Calibri"/>
              </a:rPr>
              <a:t>3.11 cycles/h  (+20%)</a:t>
            </a:r>
            <a:endParaRPr b="0" i="0" sz="1100" u="none" cap="none" strike="noStrike">
              <a:solidFill>
                <a:schemeClr val="dk1"/>
              </a:solidFill>
              <a:latin typeface="Calibri"/>
              <a:ea typeface="Calibri"/>
              <a:cs typeface="Calibri"/>
              <a:sym typeface="Calibri"/>
            </a:endParaRPr>
          </a:p>
        </p:txBody>
      </p:sp>
      <p:sp>
        <p:nvSpPr>
          <p:cNvPr id="121" name="Google Shape;121;p16"/>
          <p:cNvSpPr/>
          <p:nvPr/>
        </p:nvSpPr>
        <p:spPr>
          <a:xfrm>
            <a:off x="3778758" y="4279392"/>
            <a:ext cx="1988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800"/>
              <a:buFont typeface="Calibri"/>
              <a:buNone/>
            </a:pPr>
            <a:r>
              <a:rPr b="0" i="0" lang="en" sz="800" u="none" cap="none" strike="noStrike">
                <a:solidFill>
                  <a:srgbClr val="5A6472"/>
                </a:solidFill>
                <a:latin typeface="Calibri"/>
                <a:ea typeface="Calibri"/>
                <a:cs typeface="Calibri"/>
                <a:sym typeface="Calibri"/>
              </a:rPr>
              <a:t>reservoir drains faster,</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472"/>
              </a:buClr>
              <a:buSzPts val="800"/>
              <a:buFont typeface="Calibri"/>
              <a:buNone/>
            </a:pPr>
            <a:r>
              <a:rPr b="0" i="0" lang="en" sz="800" u="none" cap="none" strike="noStrike">
                <a:solidFill>
                  <a:srgbClr val="5A6472"/>
                </a:solidFill>
                <a:latin typeface="Calibri"/>
                <a:ea typeface="Calibri"/>
                <a:cs typeface="Calibri"/>
                <a:sym typeface="Calibri"/>
              </a:rPr>
              <a:t>so it refills more often</a:t>
            </a:r>
            <a:endParaRPr b="0" i="0" sz="800" u="none" cap="none" strike="noStrike">
              <a:solidFill>
                <a:schemeClr val="dk1"/>
              </a:solidFill>
              <a:latin typeface="Calibri"/>
              <a:ea typeface="Calibri"/>
              <a:cs typeface="Calibri"/>
              <a:sym typeface="Calibri"/>
            </a:endParaRPr>
          </a:p>
        </p:txBody>
      </p:sp>
      <p:sp>
        <p:nvSpPr>
          <p:cNvPr id="122" name="Google Shape;122;p16"/>
          <p:cNvSpPr/>
          <p:nvPr/>
        </p:nvSpPr>
        <p:spPr>
          <a:xfrm>
            <a:off x="6035040" y="3806190"/>
            <a:ext cx="2571900" cy="754500"/>
          </a:xfrm>
          <a:prstGeom prst="roundRect">
            <a:avLst>
              <a:gd fmla="val 5455"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3" name="Google Shape;123;p16"/>
          <p:cNvSpPr/>
          <p:nvPr/>
        </p:nvSpPr>
        <p:spPr>
          <a:xfrm>
            <a:off x="6199632" y="3963924"/>
            <a:ext cx="274200" cy="274200"/>
          </a:xfrm>
          <a:prstGeom prst="ellipse">
            <a:avLst/>
          </a:prstGeom>
          <a:solidFill>
            <a:srgbClr val="C0392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4" name="Google Shape;124;p16"/>
          <p:cNvSpPr/>
          <p:nvPr/>
        </p:nvSpPr>
        <p:spPr>
          <a:xfrm>
            <a:off x="6556248" y="3881628"/>
            <a:ext cx="1988700" cy="19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800"/>
              <a:buFont typeface="Calibri"/>
              <a:buNone/>
            </a:pPr>
            <a:r>
              <a:rPr b="1" i="0" lang="en" sz="800" u="none" cap="none" strike="noStrike">
                <a:solidFill>
                  <a:srgbClr val="C0392B"/>
                </a:solidFill>
                <a:latin typeface="Calibri"/>
                <a:ea typeface="Calibri"/>
                <a:cs typeface="Calibri"/>
                <a:sym typeface="Calibri"/>
              </a:rPr>
              <a:t>FAILURE</a:t>
            </a:r>
            <a:endParaRPr b="0" i="0" sz="800" u="none" cap="none" strike="noStrike">
              <a:solidFill>
                <a:schemeClr val="dk1"/>
              </a:solidFill>
              <a:latin typeface="Calibri"/>
              <a:ea typeface="Calibri"/>
              <a:cs typeface="Calibri"/>
              <a:sym typeface="Calibri"/>
            </a:endParaRPr>
          </a:p>
        </p:txBody>
      </p:sp>
      <p:sp>
        <p:nvSpPr>
          <p:cNvPr id="125" name="Google Shape;125;p16"/>
          <p:cNvSpPr/>
          <p:nvPr/>
        </p:nvSpPr>
        <p:spPr>
          <a:xfrm>
            <a:off x="6556248" y="4073652"/>
            <a:ext cx="19887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100"/>
              <a:buFont typeface="Calibri"/>
              <a:buNone/>
            </a:pPr>
            <a:r>
              <a:rPr b="1" i="0" lang="en" sz="1100" u="none" cap="none" strike="noStrike">
                <a:solidFill>
                  <a:srgbClr val="12355B"/>
                </a:solidFill>
                <a:latin typeface="Calibri"/>
                <a:ea typeface="Calibri"/>
                <a:cs typeface="Calibri"/>
                <a:sym typeface="Calibri"/>
              </a:rPr>
              <a:t>0.13 cycles/h  (-95%)</a:t>
            </a:r>
            <a:endParaRPr b="0" i="0" sz="1100" u="none" cap="none" strike="noStrike">
              <a:solidFill>
                <a:schemeClr val="dk1"/>
              </a:solidFill>
              <a:latin typeface="Calibri"/>
              <a:ea typeface="Calibri"/>
              <a:cs typeface="Calibri"/>
              <a:sym typeface="Calibri"/>
            </a:endParaRPr>
          </a:p>
        </p:txBody>
      </p:sp>
      <p:sp>
        <p:nvSpPr>
          <p:cNvPr id="126" name="Google Shape;126;p16"/>
          <p:cNvSpPr/>
          <p:nvPr/>
        </p:nvSpPr>
        <p:spPr>
          <a:xfrm>
            <a:off x="6556248" y="4279392"/>
            <a:ext cx="1988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800"/>
              <a:buFont typeface="Calibri"/>
              <a:buNone/>
            </a:pPr>
            <a:r>
              <a:rPr b="0" i="0" lang="en" sz="800" u="none" cap="none" strike="noStrike">
                <a:solidFill>
                  <a:srgbClr val="5A6472"/>
                </a:solidFill>
                <a:latin typeface="Calibri"/>
                <a:ea typeface="Calibri"/>
                <a:cs typeface="Calibri"/>
                <a:sym typeface="Calibri"/>
              </a:rPr>
              <a:t>leak outpaces capacity,</a:t>
            </a:r>
            <a:endParaRPr b="0" i="0" sz="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A6472"/>
              </a:buClr>
              <a:buSzPts val="800"/>
              <a:buFont typeface="Calibri"/>
              <a:buNone/>
            </a:pPr>
            <a:r>
              <a:rPr b="0" i="0" lang="en" sz="800" u="none" cap="none" strike="noStrike">
                <a:solidFill>
                  <a:srgbClr val="5A6472"/>
                </a:solidFill>
                <a:latin typeface="Calibri"/>
                <a:ea typeface="Calibri"/>
                <a:cs typeface="Calibri"/>
                <a:sym typeface="Calibri"/>
              </a:rPr>
              <a:t>cycling stops entirely</a:t>
            </a:r>
            <a:endParaRPr b="0" i="0" sz="800" u="none" cap="none" strike="noStrike">
              <a:solidFill>
                <a:schemeClr val="dk1"/>
              </a:solidFill>
              <a:latin typeface="Calibri"/>
              <a:ea typeface="Calibri"/>
              <a:cs typeface="Calibri"/>
              <a:sym typeface="Calibri"/>
            </a:endParaRPr>
          </a:p>
        </p:txBody>
      </p:sp>
      <p:sp>
        <p:nvSpPr>
          <p:cNvPr id="127" name="Google Shape;127;p16"/>
          <p:cNvSpPr/>
          <p:nvPr/>
        </p:nvSpPr>
        <p:spPr>
          <a:xfrm>
            <a:off x="480060" y="4649724"/>
            <a:ext cx="818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00"/>
              <a:buFont typeface="Calibri"/>
              <a:buNone/>
            </a:pPr>
            <a:r>
              <a:rPr b="1" i="1" lang="en" sz="1000" u="none" cap="none" strike="noStrike">
                <a:solidFill>
                  <a:srgbClr val="C0392B"/>
                </a:solidFill>
                <a:latin typeface="Calibri"/>
                <a:ea typeface="Calibri"/>
                <a:cs typeface="Calibri"/>
                <a:sym typeface="Calibri"/>
              </a:rPr>
              <a:t>Duty cycle sits flat at 0.14 until the moment of failure. Any duty-based alarm therefore has ZERO lead time by construction.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7"/>
          <p:cNvSpPr/>
          <p:nvPr/>
        </p:nvSpPr>
        <p:spPr>
          <a:xfrm>
            <a:off x="7749540" y="288036"/>
            <a:ext cx="912300" cy="260700"/>
          </a:xfrm>
          <a:prstGeom prst="roundRect">
            <a:avLst>
              <a:gd fmla="val 26316" name="adj"/>
            </a:avLst>
          </a:prstGeom>
          <a:solidFill>
            <a:srgbClr val="EAF0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4" name="Google Shape;134;p17"/>
          <p:cNvSpPr/>
          <p:nvPr/>
        </p:nvSpPr>
        <p:spPr>
          <a:xfrm>
            <a:off x="7749540" y="288036"/>
            <a:ext cx="9123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355B"/>
              </a:buClr>
              <a:buSzPts val="800"/>
              <a:buFont typeface="Calibri"/>
              <a:buNone/>
            </a:pPr>
            <a:r>
              <a:rPr b="1" i="0" lang="en" sz="800" u="none" cap="none" strike="noStrike">
                <a:solidFill>
                  <a:srgbClr val="12355B"/>
                </a:solidFill>
                <a:latin typeface="Calibri"/>
                <a:ea typeface="Calibri"/>
                <a:cs typeface="Calibri"/>
                <a:sym typeface="Calibri"/>
              </a:rPr>
              <a:t>FINDING 2</a:t>
            </a:r>
            <a:endParaRPr b="0" i="0" sz="800" u="none" cap="none" strike="noStrike">
              <a:solidFill>
                <a:schemeClr val="dk1"/>
              </a:solidFill>
              <a:latin typeface="Calibri"/>
              <a:ea typeface="Calibri"/>
              <a:cs typeface="Calibri"/>
              <a:sym typeface="Calibri"/>
            </a:endParaRPr>
          </a:p>
        </p:txBody>
      </p:sp>
      <p:sp>
        <p:nvSpPr>
          <p:cNvPr id="135" name="Google Shape;135;p17"/>
          <p:cNvSpPr/>
          <p:nvPr/>
        </p:nvSpPr>
        <p:spPr>
          <a:xfrm>
            <a:off x="480060" y="260604"/>
            <a:ext cx="69471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2500"/>
              <a:buFont typeface="Cambria"/>
              <a:buNone/>
            </a:pPr>
            <a:r>
              <a:rPr b="1" i="0" lang="en" sz="2500" u="none" cap="none" strike="noStrike">
                <a:solidFill>
                  <a:srgbClr val="12355B"/>
                </a:solidFill>
                <a:latin typeface="Cambria"/>
                <a:ea typeface="Cambria"/>
                <a:cs typeface="Cambria"/>
                <a:sym typeface="Cambria"/>
              </a:rPr>
              <a:t>Two Operating Regimes, Found Without Labels</a:t>
            </a:r>
            <a:endParaRPr b="0" i="0" sz="2500" u="none" cap="none" strike="noStrike">
              <a:solidFill>
                <a:schemeClr val="dk1"/>
              </a:solidFill>
              <a:latin typeface="Calibri"/>
              <a:ea typeface="Calibri"/>
              <a:cs typeface="Calibri"/>
              <a:sym typeface="Calibri"/>
            </a:endParaRPr>
          </a:p>
        </p:txBody>
      </p:sp>
      <p:sp>
        <p:nvSpPr>
          <p:cNvPr id="136" name="Google Shape;136;p17"/>
          <p:cNvSpPr/>
          <p:nvPr/>
        </p:nvSpPr>
        <p:spPr>
          <a:xfrm>
            <a:off x="480060" y="768096"/>
            <a:ext cx="6947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200"/>
              <a:buFont typeface="Calibri"/>
              <a:buNone/>
            </a:pPr>
            <a:r>
              <a:rPr b="0" i="1" lang="en" sz="1200" u="none" cap="none" strike="noStrike">
                <a:solidFill>
                  <a:srgbClr val="5A6472"/>
                </a:solidFill>
                <a:latin typeface="Calibri"/>
                <a:ea typeface="Calibri"/>
                <a:cs typeface="Calibri"/>
                <a:sym typeface="Calibri"/>
              </a:rPr>
              <a:t>k = 2, silhouette 0.676. The fault regime emerged unsupervised.</a:t>
            </a:r>
            <a:endParaRPr b="0" i="0" sz="1200" u="none" cap="none" strike="noStrike">
              <a:solidFill>
                <a:schemeClr val="dk1"/>
              </a:solidFill>
              <a:latin typeface="Calibri"/>
              <a:ea typeface="Calibri"/>
              <a:cs typeface="Calibri"/>
              <a:sym typeface="Calibri"/>
            </a:endParaRPr>
          </a:p>
        </p:txBody>
      </p:sp>
      <p:pic>
        <p:nvPicPr>
          <p:cNvPr descr="fig/c2_clusters.png" id="137" name="Google Shape;137;p17"/>
          <p:cNvPicPr preferRelativeResize="0"/>
          <p:nvPr/>
        </p:nvPicPr>
        <p:blipFill rotWithShape="1">
          <a:blip r:embed="rId3">
            <a:alphaModFix/>
          </a:blip>
          <a:srcRect b="0" l="0" r="0" t="0"/>
          <a:stretch/>
        </p:blipFill>
        <p:spPr>
          <a:xfrm>
            <a:off x="480060" y="1165860"/>
            <a:ext cx="4457701" cy="3017520"/>
          </a:xfrm>
          <a:prstGeom prst="rect">
            <a:avLst/>
          </a:prstGeom>
          <a:noFill/>
          <a:ln>
            <a:noFill/>
          </a:ln>
        </p:spPr>
      </p:pic>
      <p:sp>
        <p:nvSpPr>
          <p:cNvPr id="138" name="Google Shape;138;p17"/>
          <p:cNvSpPr/>
          <p:nvPr/>
        </p:nvSpPr>
        <p:spPr>
          <a:xfrm>
            <a:off x="5520690" y="1268730"/>
            <a:ext cx="3120300" cy="905100"/>
          </a:xfrm>
          <a:prstGeom prst="roundRect">
            <a:avLst>
              <a:gd fmla="val 4545"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9" name="Google Shape;139;p17"/>
          <p:cNvSpPr/>
          <p:nvPr/>
        </p:nvSpPr>
        <p:spPr>
          <a:xfrm>
            <a:off x="5692140" y="1405890"/>
            <a:ext cx="205800" cy="205800"/>
          </a:xfrm>
          <a:prstGeom prst="ellipse">
            <a:avLst/>
          </a:prstGeom>
          <a:solidFill>
            <a:srgbClr val="1B9E7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0" name="Google Shape;140;p17"/>
          <p:cNvSpPr/>
          <p:nvPr/>
        </p:nvSpPr>
        <p:spPr>
          <a:xfrm>
            <a:off x="5966460" y="1364742"/>
            <a:ext cx="25377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100"/>
              <a:buFont typeface="Calibri"/>
              <a:buNone/>
            </a:pPr>
            <a:r>
              <a:rPr b="1" i="0" lang="en" sz="1100" u="none" cap="none" strike="noStrike">
                <a:solidFill>
                  <a:srgbClr val="12355B"/>
                </a:solidFill>
                <a:latin typeface="Calibri"/>
                <a:ea typeface="Calibri"/>
                <a:cs typeface="Calibri"/>
                <a:sym typeface="Calibri"/>
              </a:rPr>
              <a:t>Cluster 1  ·  cycling</a:t>
            </a:r>
            <a:endParaRPr b="0" i="0" sz="1100" u="none" cap="none" strike="noStrike">
              <a:solidFill>
                <a:schemeClr val="dk1"/>
              </a:solidFill>
              <a:latin typeface="Calibri"/>
              <a:ea typeface="Calibri"/>
              <a:cs typeface="Calibri"/>
              <a:sym typeface="Calibri"/>
            </a:endParaRPr>
          </a:p>
        </p:txBody>
      </p:sp>
      <p:sp>
        <p:nvSpPr>
          <p:cNvPr id="141" name="Google Shape;141;p17"/>
          <p:cNvSpPr/>
          <p:nvPr/>
        </p:nvSpPr>
        <p:spPr>
          <a:xfrm>
            <a:off x="5692140" y="1652778"/>
            <a:ext cx="2880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94.3% of windows   ·   2.6 cycles/h, duty 0.11</a:t>
            </a:r>
            <a:endParaRPr b="0" i="0" sz="900" u="none" cap="none" strike="noStrike">
              <a:solidFill>
                <a:schemeClr val="dk1"/>
              </a:solidFill>
              <a:latin typeface="Calibri"/>
              <a:ea typeface="Calibri"/>
              <a:cs typeface="Calibri"/>
              <a:sym typeface="Calibri"/>
            </a:endParaRPr>
          </a:p>
        </p:txBody>
      </p:sp>
      <p:sp>
        <p:nvSpPr>
          <p:cNvPr id="142" name="Google Shape;142;p17"/>
          <p:cNvSpPr/>
          <p:nvPr/>
        </p:nvSpPr>
        <p:spPr>
          <a:xfrm>
            <a:off x="5692140" y="1872234"/>
            <a:ext cx="28806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9E77"/>
              </a:buClr>
              <a:buSzPts val="900"/>
              <a:buFont typeface="Calibri"/>
              <a:buNone/>
            </a:pPr>
            <a:r>
              <a:rPr b="1" i="0" lang="en" sz="900" u="none" cap="none" strike="noStrike">
                <a:solidFill>
                  <a:srgbClr val="1B9E77"/>
                </a:solidFill>
                <a:latin typeface="Calibri"/>
                <a:ea typeface="Calibri"/>
                <a:cs typeface="Calibri"/>
                <a:sym typeface="Calibri"/>
              </a:rPr>
              <a:t>0.03% are reported faults</a:t>
            </a:r>
            <a:endParaRPr b="0" i="0" sz="900" u="none" cap="none" strike="noStrike">
              <a:solidFill>
                <a:schemeClr val="dk1"/>
              </a:solidFill>
              <a:latin typeface="Calibri"/>
              <a:ea typeface="Calibri"/>
              <a:cs typeface="Calibri"/>
              <a:sym typeface="Calibri"/>
            </a:endParaRPr>
          </a:p>
        </p:txBody>
      </p:sp>
      <p:sp>
        <p:nvSpPr>
          <p:cNvPr id="143" name="Google Shape;143;p17"/>
          <p:cNvSpPr/>
          <p:nvPr/>
        </p:nvSpPr>
        <p:spPr>
          <a:xfrm>
            <a:off x="5520690" y="2297430"/>
            <a:ext cx="3120300" cy="905100"/>
          </a:xfrm>
          <a:prstGeom prst="roundRect">
            <a:avLst>
              <a:gd fmla="val 4545"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4" name="Google Shape;144;p17"/>
          <p:cNvSpPr/>
          <p:nvPr/>
        </p:nvSpPr>
        <p:spPr>
          <a:xfrm>
            <a:off x="5692140" y="2434590"/>
            <a:ext cx="205800" cy="205800"/>
          </a:xfrm>
          <a:prstGeom prst="ellipse">
            <a:avLst/>
          </a:prstGeom>
          <a:solidFill>
            <a:srgbClr val="1235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5" name="Google Shape;145;p17"/>
          <p:cNvSpPr/>
          <p:nvPr/>
        </p:nvSpPr>
        <p:spPr>
          <a:xfrm>
            <a:off x="5966460" y="2393442"/>
            <a:ext cx="25377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100"/>
              <a:buFont typeface="Calibri"/>
              <a:buNone/>
            </a:pPr>
            <a:r>
              <a:rPr b="1" i="0" lang="en" sz="1100" u="none" cap="none" strike="noStrike">
                <a:solidFill>
                  <a:srgbClr val="12355B"/>
                </a:solidFill>
                <a:latin typeface="Calibri"/>
                <a:ea typeface="Calibri"/>
                <a:cs typeface="Calibri"/>
                <a:sym typeface="Calibri"/>
              </a:rPr>
              <a:t>Cluster 0  ·  continuous run</a:t>
            </a:r>
            <a:endParaRPr b="0" i="0" sz="1100" u="none" cap="none" strike="noStrike">
              <a:solidFill>
                <a:schemeClr val="dk1"/>
              </a:solidFill>
              <a:latin typeface="Calibri"/>
              <a:ea typeface="Calibri"/>
              <a:cs typeface="Calibri"/>
              <a:sym typeface="Calibri"/>
            </a:endParaRPr>
          </a:p>
        </p:txBody>
      </p:sp>
      <p:sp>
        <p:nvSpPr>
          <p:cNvPr id="146" name="Google Shape;146;p17"/>
          <p:cNvSpPr/>
          <p:nvPr/>
        </p:nvSpPr>
        <p:spPr>
          <a:xfrm>
            <a:off x="5692140" y="2681478"/>
            <a:ext cx="28806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5.7% of windows   ·   0.004 cycles/h, duty 1.00</a:t>
            </a:r>
            <a:endParaRPr b="0" i="0" sz="900" u="none" cap="none" strike="noStrike">
              <a:solidFill>
                <a:schemeClr val="dk1"/>
              </a:solidFill>
              <a:latin typeface="Calibri"/>
              <a:ea typeface="Calibri"/>
              <a:cs typeface="Calibri"/>
              <a:sym typeface="Calibri"/>
            </a:endParaRPr>
          </a:p>
        </p:txBody>
      </p:sp>
      <p:sp>
        <p:nvSpPr>
          <p:cNvPr id="147" name="Google Shape;147;p17"/>
          <p:cNvSpPr/>
          <p:nvPr/>
        </p:nvSpPr>
        <p:spPr>
          <a:xfrm>
            <a:off x="5692140" y="2900934"/>
            <a:ext cx="28806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900"/>
              <a:buFont typeface="Calibri"/>
              <a:buNone/>
            </a:pPr>
            <a:r>
              <a:rPr b="1" i="0" lang="en" sz="900" u="none" cap="none" strike="noStrike">
                <a:solidFill>
                  <a:srgbClr val="12355B"/>
                </a:solidFill>
                <a:latin typeface="Calibri"/>
                <a:ea typeface="Calibri"/>
                <a:cs typeface="Calibri"/>
                <a:sym typeface="Calibri"/>
              </a:rPr>
              <a:t>34.0% are reported faults</a:t>
            </a:r>
            <a:endParaRPr b="0" i="0" sz="900" u="none" cap="none" strike="noStrike">
              <a:solidFill>
                <a:schemeClr val="dk1"/>
              </a:solidFill>
              <a:latin typeface="Calibri"/>
              <a:ea typeface="Calibri"/>
              <a:cs typeface="Calibri"/>
              <a:sym typeface="Calibri"/>
            </a:endParaRPr>
          </a:p>
        </p:txBody>
      </p:sp>
      <p:sp>
        <p:nvSpPr>
          <p:cNvPr id="148" name="Google Shape;148;p17"/>
          <p:cNvSpPr/>
          <p:nvPr/>
        </p:nvSpPr>
        <p:spPr>
          <a:xfrm>
            <a:off x="5520690" y="3360420"/>
            <a:ext cx="3120300" cy="857400"/>
          </a:xfrm>
          <a:prstGeom prst="roundRect">
            <a:avLst>
              <a:gd fmla="val 4800" name="adj"/>
            </a:avLst>
          </a:prstGeom>
          <a:solidFill>
            <a:srgbClr val="FDF3E3"/>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9" name="Google Shape;149;p17"/>
          <p:cNvSpPr/>
          <p:nvPr/>
        </p:nvSpPr>
        <p:spPr>
          <a:xfrm>
            <a:off x="5726430" y="3470148"/>
            <a:ext cx="2743200" cy="2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5A12"/>
              </a:buClr>
              <a:buSzPts val="1100"/>
              <a:buFont typeface="Calibri"/>
              <a:buNone/>
            </a:pPr>
            <a:r>
              <a:rPr b="1" i="0" lang="en" sz="1100" u="none" cap="none" strike="noStrike">
                <a:solidFill>
                  <a:srgbClr val="8A5A12"/>
                </a:solidFill>
                <a:latin typeface="Calibri"/>
                <a:ea typeface="Calibri"/>
                <a:cs typeface="Calibri"/>
                <a:sym typeface="Calibri"/>
              </a:rPr>
              <a:t>98.5% of faults are in cluster 0</a:t>
            </a:r>
            <a:endParaRPr b="0" i="0" sz="1100" u="none" cap="none" strike="noStrike">
              <a:solidFill>
                <a:schemeClr val="dk1"/>
              </a:solidFill>
              <a:latin typeface="Calibri"/>
              <a:ea typeface="Calibri"/>
              <a:cs typeface="Calibri"/>
              <a:sym typeface="Calibri"/>
            </a:endParaRPr>
          </a:p>
        </p:txBody>
      </p:sp>
      <p:sp>
        <p:nvSpPr>
          <p:cNvPr id="150" name="Google Shape;150;p17"/>
          <p:cNvSpPr/>
          <p:nvPr/>
        </p:nvSpPr>
        <p:spPr>
          <a:xfrm>
            <a:off x="5726430" y="3744468"/>
            <a:ext cx="27432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A14"/>
              </a:buClr>
              <a:buSzPts val="900"/>
              <a:buFont typeface="Calibri"/>
              <a:buNone/>
            </a:pPr>
            <a:r>
              <a:rPr b="0" i="0" lang="en" sz="900" u="none" cap="none" strike="noStrike">
                <a:solidFill>
                  <a:srgbClr val="6B4A14"/>
                </a:solidFill>
                <a:latin typeface="Calibri"/>
                <a:ea typeface="Calibri"/>
                <a:cs typeface="Calibri"/>
                <a:sym typeface="Calibri"/>
              </a:rPr>
              <a:t>But two thirds of cluster 0 has no maintenance report. Continuous running is necessary, not sufficient.</a:t>
            </a:r>
            <a:endParaRPr b="0" i="0" sz="900" u="none" cap="none" strike="noStrike">
              <a:solidFill>
                <a:schemeClr val="dk1"/>
              </a:solidFill>
              <a:latin typeface="Calibri"/>
              <a:ea typeface="Calibri"/>
              <a:cs typeface="Calibri"/>
              <a:sym typeface="Calibri"/>
            </a:endParaRPr>
          </a:p>
        </p:txBody>
      </p:sp>
      <p:sp>
        <p:nvSpPr>
          <p:cNvPr id="151" name="Google Shape;151;p17"/>
          <p:cNvSpPr/>
          <p:nvPr/>
        </p:nvSpPr>
        <p:spPr>
          <a:xfrm>
            <a:off x="480060" y="4389120"/>
            <a:ext cx="818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000"/>
              <a:buFont typeface="Calibri"/>
              <a:buNone/>
            </a:pPr>
            <a:r>
              <a:rPr b="0" i="1" lang="en" sz="1000" u="none" cap="none" strike="noStrike">
                <a:solidFill>
                  <a:srgbClr val="12355B"/>
                </a:solidFill>
                <a:latin typeface="Calibri"/>
                <a:ea typeface="Calibri"/>
                <a:cs typeface="Calibri"/>
                <a:sym typeface="Calibri"/>
              </a:rPr>
              <a:t>This is the ceiling on precision, and it is set by the labels rather than by any model.</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8"/>
          <p:cNvSpPr/>
          <p:nvPr/>
        </p:nvSpPr>
        <p:spPr>
          <a:xfrm>
            <a:off x="7749540" y="288036"/>
            <a:ext cx="912300" cy="260700"/>
          </a:xfrm>
          <a:prstGeom prst="roundRect">
            <a:avLst>
              <a:gd fmla="val 26316" name="adj"/>
            </a:avLst>
          </a:prstGeom>
          <a:solidFill>
            <a:srgbClr val="EAF0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8" name="Google Shape;158;p18"/>
          <p:cNvSpPr/>
          <p:nvPr/>
        </p:nvSpPr>
        <p:spPr>
          <a:xfrm>
            <a:off x="7749540" y="288036"/>
            <a:ext cx="9123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355B"/>
              </a:buClr>
              <a:buSzPts val="800"/>
              <a:buFont typeface="Calibri"/>
              <a:buNone/>
            </a:pPr>
            <a:r>
              <a:rPr b="1" i="0" lang="en" sz="800" u="none" cap="none" strike="noStrike">
                <a:solidFill>
                  <a:srgbClr val="12355B"/>
                </a:solidFill>
                <a:latin typeface="Calibri"/>
                <a:ea typeface="Calibri"/>
                <a:cs typeface="Calibri"/>
                <a:sym typeface="Calibri"/>
              </a:rPr>
              <a:t>RESULTS</a:t>
            </a:r>
            <a:endParaRPr b="0" i="0" sz="800" u="none" cap="none" strike="noStrike">
              <a:solidFill>
                <a:schemeClr val="dk1"/>
              </a:solidFill>
              <a:latin typeface="Calibri"/>
              <a:ea typeface="Calibri"/>
              <a:cs typeface="Calibri"/>
              <a:sym typeface="Calibri"/>
            </a:endParaRPr>
          </a:p>
        </p:txBody>
      </p:sp>
      <p:sp>
        <p:nvSpPr>
          <p:cNvPr id="159" name="Google Shape;159;p18"/>
          <p:cNvSpPr/>
          <p:nvPr/>
        </p:nvSpPr>
        <p:spPr>
          <a:xfrm>
            <a:off x="480060" y="260604"/>
            <a:ext cx="69471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2500"/>
              <a:buFont typeface="Cambria"/>
              <a:buNone/>
            </a:pPr>
            <a:r>
              <a:rPr b="1" i="0" lang="en" sz="2500" u="none" cap="none" strike="noStrike">
                <a:solidFill>
                  <a:srgbClr val="12355B"/>
                </a:solidFill>
                <a:latin typeface="Cambria"/>
                <a:ea typeface="Cambria"/>
                <a:cs typeface="Cambria"/>
                <a:sym typeface="Cambria"/>
              </a:rPr>
              <a:t>Detection Performance</a:t>
            </a:r>
            <a:endParaRPr b="0" i="0" sz="2500" u="none" cap="none" strike="noStrike">
              <a:solidFill>
                <a:schemeClr val="dk1"/>
              </a:solidFill>
              <a:latin typeface="Calibri"/>
              <a:ea typeface="Calibri"/>
              <a:cs typeface="Calibri"/>
              <a:sym typeface="Calibri"/>
            </a:endParaRPr>
          </a:p>
        </p:txBody>
      </p:sp>
      <p:sp>
        <p:nvSpPr>
          <p:cNvPr id="160" name="Google Shape;160;p18"/>
          <p:cNvSpPr/>
          <p:nvPr/>
        </p:nvSpPr>
        <p:spPr>
          <a:xfrm>
            <a:off x="480060" y="768096"/>
            <a:ext cx="6947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200"/>
              <a:buFont typeface="Calibri"/>
              <a:buNone/>
            </a:pPr>
            <a:r>
              <a:rPr b="0" i="1" lang="en" sz="1200" u="none" cap="none" strike="noStrike">
                <a:solidFill>
                  <a:srgbClr val="5A6472"/>
                </a:solidFill>
                <a:latin typeface="Calibri"/>
                <a:ea typeface="Calibri"/>
                <a:cs typeface="Calibri"/>
                <a:sym typeface="Calibri"/>
              </a:rPr>
              <a:t>Test period April to September. 11,885 windows, 332 of them faults.</a:t>
            </a:r>
            <a:endParaRPr b="0" i="0" sz="1200" u="none" cap="none" strike="noStrike">
              <a:solidFill>
                <a:schemeClr val="dk1"/>
              </a:solidFill>
              <a:latin typeface="Calibri"/>
              <a:ea typeface="Calibri"/>
              <a:cs typeface="Calibri"/>
              <a:sym typeface="Calibri"/>
            </a:endParaRPr>
          </a:p>
        </p:txBody>
      </p:sp>
      <p:pic>
        <p:nvPicPr>
          <p:cNvPr descr="fig/z1_confusion.png" id="161" name="Google Shape;161;p18"/>
          <p:cNvPicPr preferRelativeResize="0"/>
          <p:nvPr/>
        </p:nvPicPr>
        <p:blipFill rotWithShape="1">
          <a:blip r:embed="rId3">
            <a:alphaModFix/>
          </a:blip>
          <a:srcRect b="0" l="0" r="0" t="0"/>
          <a:stretch/>
        </p:blipFill>
        <p:spPr>
          <a:xfrm>
            <a:off x="720090" y="1200150"/>
            <a:ext cx="2846070" cy="2331720"/>
          </a:xfrm>
          <a:prstGeom prst="rect">
            <a:avLst/>
          </a:prstGeom>
          <a:noFill/>
          <a:ln>
            <a:noFill/>
          </a:ln>
        </p:spPr>
      </p:pic>
      <p:pic>
        <p:nvPicPr>
          <p:cNvPr descr="fig/z3_scoreboard.png" id="162" name="Google Shape;162;p18"/>
          <p:cNvPicPr preferRelativeResize="0"/>
          <p:nvPr/>
        </p:nvPicPr>
        <p:blipFill rotWithShape="1">
          <a:blip r:embed="rId4">
            <a:alphaModFix/>
          </a:blip>
          <a:srcRect b="0" l="0" r="0" t="0"/>
          <a:stretch/>
        </p:blipFill>
        <p:spPr>
          <a:xfrm>
            <a:off x="3977640" y="1200150"/>
            <a:ext cx="4663441" cy="1851660"/>
          </a:xfrm>
          <a:prstGeom prst="rect">
            <a:avLst/>
          </a:prstGeom>
          <a:noFill/>
          <a:ln>
            <a:noFill/>
          </a:ln>
        </p:spPr>
      </p:pic>
      <p:sp>
        <p:nvSpPr>
          <p:cNvPr id="163" name="Google Shape;163;p18"/>
          <p:cNvSpPr/>
          <p:nvPr/>
        </p:nvSpPr>
        <p:spPr>
          <a:xfrm>
            <a:off x="3977640" y="3223260"/>
            <a:ext cx="4663500" cy="1028700"/>
          </a:xfrm>
          <a:prstGeom prst="roundRect">
            <a:avLst>
              <a:gd fmla="val 4000" name="adj"/>
            </a:avLst>
          </a:prstGeom>
          <a:solidFill>
            <a:srgbClr val="FDF3E3"/>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4" name="Google Shape;164;p18"/>
          <p:cNvSpPr/>
          <p:nvPr/>
        </p:nvSpPr>
        <p:spPr>
          <a:xfrm>
            <a:off x="4217670" y="3332988"/>
            <a:ext cx="42519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5A12"/>
              </a:buClr>
              <a:buSzPts val="1100"/>
              <a:buFont typeface="Calibri"/>
              <a:buNone/>
            </a:pPr>
            <a:r>
              <a:rPr b="1" i="0" lang="en" sz="1100" u="none" cap="none" strike="noStrike">
                <a:solidFill>
                  <a:srgbClr val="8A5A12"/>
                </a:solidFill>
                <a:latin typeface="Calibri"/>
                <a:ea typeface="Calibri"/>
                <a:cs typeface="Calibri"/>
                <a:sym typeface="Calibri"/>
              </a:rPr>
              <a:t>Why accuracy is the wrong headline</a:t>
            </a:r>
            <a:endParaRPr b="0" i="0" sz="1100" u="none" cap="none" strike="noStrike">
              <a:solidFill>
                <a:schemeClr val="dk1"/>
              </a:solidFill>
              <a:latin typeface="Calibri"/>
              <a:ea typeface="Calibri"/>
              <a:cs typeface="Calibri"/>
              <a:sym typeface="Calibri"/>
            </a:endParaRPr>
          </a:p>
        </p:txBody>
      </p:sp>
      <p:sp>
        <p:nvSpPr>
          <p:cNvPr id="165" name="Google Shape;165;p18"/>
          <p:cNvSpPr/>
          <p:nvPr/>
        </p:nvSpPr>
        <p:spPr>
          <a:xfrm>
            <a:off x="4217670" y="3607308"/>
            <a:ext cx="42519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A14"/>
              </a:buClr>
              <a:buSzPts val="900"/>
              <a:buFont typeface="Calibri"/>
              <a:buNone/>
            </a:pPr>
            <a:r>
              <a:rPr b="0" i="0" lang="en" sz="900" u="none" cap="none" strike="noStrike">
                <a:solidFill>
                  <a:srgbClr val="6B4A14"/>
                </a:solidFill>
                <a:latin typeface="Calibri"/>
                <a:ea typeface="Calibri"/>
                <a:cs typeface="Calibri"/>
                <a:sym typeface="Calibri"/>
              </a:rPr>
              <a:t>Our model scores 96.0% accuracy. A model that predicts 'normal' every single time scores 97.2%. Accuracy rewards ignoring the faults entirely, which is why every number we report is precision, recall or PR-AUC.</a:t>
            </a:r>
            <a:endParaRPr b="0" i="0" sz="900" u="none" cap="none" strike="noStrike">
              <a:solidFill>
                <a:schemeClr val="dk1"/>
              </a:solidFill>
              <a:latin typeface="Calibri"/>
              <a:ea typeface="Calibri"/>
              <a:cs typeface="Calibri"/>
              <a:sym typeface="Calibri"/>
            </a:endParaRPr>
          </a:p>
        </p:txBody>
      </p:sp>
      <p:sp>
        <p:nvSpPr>
          <p:cNvPr id="166" name="Google Shape;166;p18"/>
          <p:cNvSpPr/>
          <p:nvPr/>
        </p:nvSpPr>
        <p:spPr>
          <a:xfrm>
            <a:off x="720090" y="3737610"/>
            <a:ext cx="754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300"/>
              <a:buFont typeface="Cambria"/>
              <a:buNone/>
            </a:pPr>
            <a:r>
              <a:rPr b="1" i="0" lang="en" sz="1300" u="none" cap="none" strike="noStrike">
                <a:solidFill>
                  <a:srgbClr val="12355B"/>
                </a:solidFill>
                <a:latin typeface="Cambria"/>
                <a:ea typeface="Cambria"/>
                <a:cs typeface="Cambria"/>
                <a:sym typeface="Cambria"/>
              </a:rPr>
              <a:t>0.580</a:t>
            </a:r>
            <a:endParaRPr b="0" i="0" sz="1300" u="none" cap="none" strike="noStrike">
              <a:solidFill>
                <a:schemeClr val="dk1"/>
              </a:solidFill>
              <a:latin typeface="Calibri"/>
              <a:ea typeface="Calibri"/>
              <a:cs typeface="Calibri"/>
              <a:sym typeface="Calibri"/>
            </a:endParaRPr>
          </a:p>
        </p:txBody>
      </p:sp>
      <p:sp>
        <p:nvSpPr>
          <p:cNvPr id="167" name="Google Shape;167;p18"/>
          <p:cNvSpPr/>
          <p:nvPr/>
        </p:nvSpPr>
        <p:spPr>
          <a:xfrm>
            <a:off x="720090" y="4011930"/>
            <a:ext cx="7545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700"/>
              <a:buFont typeface="Calibri"/>
              <a:buNone/>
            </a:pPr>
            <a:r>
              <a:rPr b="0" i="0" lang="en" sz="700" u="none" cap="none" strike="noStrike">
                <a:solidFill>
                  <a:srgbClr val="5A6472"/>
                </a:solidFill>
                <a:latin typeface="Calibri"/>
                <a:ea typeface="Calibri"/>
                <a:cs typeface="Calibri"/>
                <a:sym typeface="Calibri"/>
              </a:rPr>
              <a:t>F1</a:t>
            </a:r>
            <a:endParaRPr b="0" i="0" sz="700" u="none" cap="none" strike="noStrike">
              <a:solidFill>
                <a:schemeClr val="dk1"/>
              </a:solidFill>
              <a:latin typeface="Calibri"/>
              <a:ea typeface="Calibri"/>
              <a:cs typeface="Calibri"/>
              <a:sym typeface="Calibri"/>
            </a:endParaRPr>
          </a:p>
        </p:txBody>
      </p:sp>
      <p:sp>
        <p:nvSpPr>
          <p:cNvPr id="168" name="Google Shape;168;p18"/>
          <p:cNvSpPr/>
          <p:nvPr/>
        </p:nvSpPr>
        <p:spPr>
          <a:xfrm>
            <a:off x="1508760" y="3737610"/>
            <a:ext cx="754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300"/>
              <a:buFont typeface="Cambria"/>
              <a:buNone/>
            </a:pPr>
            <a:r>
              <a:rPr b="1" i="0" lang="en" sz="1300" u="none" cap="none" strike="noStrike">
                <a:solidFill>
                  <a:srgbClr val="E8A33D"/>
                </a:solidFill>
                <a:latin typeface="Cambria"/>
                <a:ea typeface="Cambria"/>
                <a:cs typeface="Cambria"/>
                <a:sym typeface="Cambria"/>
              </a:rPr>
              <a:t>0.411</a:t>
            </a:r>
            <a:endParaRPr b="0" i="0" sz="1300" u="none" cap="none" strike="noStrike">
              <a:solidFill>
                <a:schemeClr val="dk1"/>
              </a:solidFill>
              <a:latin typeface="Calibri"/>
              <a:ea typeface="Calibri"/>
              <a:cs typeface="Calibri"/>
              <a:sym typeface="Calibri"/>
            </a:endParaRPr>
          </a:p>
        </p:txBody>
      </p:sp>
      <p:sp>
        <p:nvSpPr>
          <p:cNvPr id="169" name="Google Shape;169;p18"/>
          <p:cNvSpPr/>
          <p:nvPr/>
        </p:nvSpPr>
        <p:spPr>
          <a:xfrm>
            <a:off x="1508760" y="4011930"/>
            <a:ext cx="7545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700"/>
              <a:buFont typeface="Calibri"/>
              <a:buNone/>
            </a:pPr>
            <a:r>
              <a:rPr b="0" i="0" lang="en" sz="700" u="none" cap="none" strike="noStrike">
                <a:solidFill>
                  <a:srgbClr val="5A6472"/>
                </a:solidFill>
                <a:latin typeface="Calibri"/>
                <a:ea typeface="Calibri"/>
                <a:cs typeface="Calibri"/>
                <a:sym typeface="Calibri"/>
              </a:rPr>
              <a:t>precision</a:t>
            </a:r>
            <a:endParaRPr b="0" i="0" sz="700" u="none" cap="none" strike="noStrike">
              <a:solidFill>
                <a:schemeClr val="dk1"/>
              </a:solidFill>
              <a:latin typeface="Calibri"/>
              <a:ea typeface="Calibri"/>
              <a:cs typeface="Calibri"/>
              <a:sym typeface="Calibri"/>
            </a:endParaRPr>
          </a:p>
        </p:txBody>
      </p:sp>
      <p:sp>
        <p:nvSpPr>
          <p:cNvPr id="170" name="Google Shape;170;p18"/>
          <p:cNvSpPr/>
          <p:nvPr/>
        </p:nvSpPr>
        <p:spPr>
          <a:xfrm>
            <a:off x="2297430" y="3737610"/>
            <a:ext cx="754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9E77"/>
              </a:buClr>
              <a:buSzPts val="1300"/>
              <a:buFont typeface="Cambria"/>
              <a:buNone/>
            </a:pPr>
            <a:r>
              <a:rPr b="1" i="0" lang="en" sz="1300" u="none" cap="none" strike="noStrike">
                <a:solidFill>
                  <a:srgbClr val="1B9E77"/>
                </a:solidFill>
                <a:latin typeface="Cambria"/>
                <a:ea typeface="Cambria"/>
                <a:cs typeface="Cambria"/>
                <a:sym typeface="Cambria"/>
              </a:rPr>
              <a:t>0.985</a:t>
            </a:r>
            <a:endParaRPr b="0" i="0" sz="1300" u="none" cap="none" strike="noStrike">
              <a:solidFill>
                <a:schemeClr val="dk1"/>
              </a:solidFill>
              <a:latin typeface="Calibri"/>
              <a:ea typeface="Calibri"/>
              <a:cs typeface="Calibri"/>
              <a:sym typeface="Calibri"/>
            </a:endParaRPr>
          </a:p>
        </p:txBody>
      </p:sp>
      <p:sp>
        <p:nvSpPr>
          <p:cNvPr id="171" name="Google Shape;171;p18"/>
          <p:cNvSpPr/>
          <p:nvPr/>
        </p:nvSpPr>
        <p:spPr>
          <a:xfrm>
            <a:off x="2297430" y="4011930"/>
            <a:ext cx="7545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700"/>
              <a:buFont typeface="Calibri"/>
              <a:buNone/>
            </a:pPr>
            <a:r>
              <a:rPr b="0" i="0" lang="en" sz="700" u="none" cap="none" strike="noStrike">
                <a:solidFill>
                  <a:srgbClr val="5A6472"/>
                </a:solidFill>
                <a:latin typeface="Calibri"/>
                <a:ea typeface="Calibri"/>
                <a:cs typeface="Calibri"/>
                <a:sym typeface="Calibri"/>
              </a:rPr>
              <a:t>recall</a:t>
            </a:r>
            <a:endParaRPr b="0" i="0" sz="700" u="none" cap="none" strike="noStrike">
              <a:solidFill>
                <a:schemeClr val="dk1"/>
              </a:solidFill>
              <a:latin typeface="Calibri"/>
              <a:ea typeface="Calibri"/>
              <a:cs typeface="Calibri"/>
              <a:sym typeface="Calibri"/>
            </a:endParaRPr>
          </a:p>
        </p:txBody>
      </p:sp>
      <p:sp>
        <p:nvSpPr>
          <p:cNvPr id="172" name="Google Shape;172;p18"/>
          <p:cNvSpPr/>
          <p:nvPr/>
        </p:nvSpPr>
        <p:spPr>
          <a:xfrm>
            <a:off x="3086100" y="3737610"/>
            <a:ext cx="754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300"/>
              <a:buFont typeface="Cambria"/>
              <a:buNone/>
            </a:pPr>
            <a:r>
              <a:rPr b="1" i="0" lang="en" sz="1300" u="none" cap="none" strike="noStrike">
                <a:solidFill>
                  <a:srgbClr val="5A6472"/>
                </a:solidFill>
                <a:latin typeface="Cambria"/>
                <a:ea typeface="Cambria"/>
                <a:cs typeface="Cambria"/>
                <a:sym typeface="Cambria"/>
              </a:rPr>
              <a:t>92 / 30d</a:t>
            </a:r>
            <a:endParaRPr b="0" i="0" sz="1300" u="none" cap="none" strike="noStrike">
              <a:solidFill>
                <a:schemeClr val="dk1"/>
              </a:solidFill>
              <a:latin typeface="Calibri"/>
              <a:ea typeface="Calibri"/>
              <a:cs typeface="Calibri"/>
              <a:sym typeface="Calibri"/>
            </a:endParaRPr>
          </a:p>
        </p:txBody>
      </p:sp>
      <p:sp>
        <p:nvSpPr>
          <p:cNvPr id="173" name="Google Shape;173;p18"/>
          <p:cNvSpPr/>
          <p:nvPr/>
        </p:nvSpPr>
        <p:spPr>
          <a:xfrm>
            <a:off x="3086100" y="4011930"/>
            <a:ext cx="7545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700"/>
              <a:buFont typeface="Calibri"/>
              <a:buNone/>
            </a:pPr>
            <a:r>
              <a:rPr b="0" i="0" lang="en" sz="700" u="none" cap="none" strike="noStrike">
                <a:solidFill>
                  <a:srgbClr val="5A6472"/>
                </a:solidFill>
                <a:latin typeface="Calibri"/>
                <a:ea typeface="Calibri"/>
                <a:cs typeface="Calibri"/>
                <a:sym typeface="Calibri"/>
              </a:rPr>
              <a:t>false alarms</a:t>
            </a:r>
            <a:endParaRPr b="0" i="0" sz="700" u="none" cap="none" strike="noStrike">
              <a:solidFill>
                <a:schemeClr val="dk1"/>
              </a:solidFill>
              <a:latin typeface="Calibri"/>
              <a:ea typeface="Calibri"/>
              <a:cs typeface="Calibri"/>
              <a:sym typeface="Calibri"/>
            </a:endParaRPr>
          </a:p>
        </p:txBody>
      </p:sp>
      <p:sp>
        <p:nvSpPr>
          <p:cNvPr id="174" name="Google Shape;174;p18"/>
          <p:cNvSpPr/>
          <p:nvPr/>
        </p:nvSpPr>
        <p:spPr>
          <a:xfrm>
            <a:off x="480060" y="4457700"/>
            <a:ext cx="8181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900"/>
              <a:buFont typeface="Calibri"/>
              <a:buNone/>
            </a:pPr>
            <a:r>
              <a:rPr b="1" i="1" lang="en" sz="900" u="none" cap="none" strike="noStrike">
                <a:solidFill>
                  <a:srgbClr val="C0392B"/>
                </a:solidFill>
                <a:latin typeface="Calibri"/>
                <a:ea typeface="Calibri"/>
                <a:cs typeface="Calibri"/>
                <a:sym typeface="Calibri"/>
              </a:rPr>
              <a:t>Like for like:  </a:t>
            </a:r>
            <a:r>
              <a:rPr b="0" i="1" lang="en" sz="900" u="none" cap="none" strike="noStrike">
                <a:solidFill>
                  <a:srgbClr val="12355B"/>
                </a:solidFill>
                <a:latin typeface="Calibri"/>
                <a:ea typeface="Calibri"/>
                <a:cs typeface="Calibri"/>
                <a:sym typeface="Calibri"/>
              </a:rPr>
              <a:t>the best physical threshold reaches F1 0.577, so our gain is 0.003, not the 0.26 implied by the proposal's 0.32 baseline. At EQUAL alert budget the margin is 0.088, because duty saturates (798 tied windows) and cannot be dialled to a budget at all. The model buys controllability, not accuracy.</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9"/>
          <p:cNvSpPr/>
          <p:nvPr/>
        </p:nvSpPr>
        <p:spPr>
          <a:xfrm>
            <a:off x="7749540" y="288036"/>
            <a:ext cx="912300" cy="260700"/>
          </a:xfrm>
          <a:prstGeom prst="roundRect">
            <a:avLst>
              <a:gd fmla="val 26316" name="adj"/>
            </a:avLst>
          </a:prstGeom>
          <a:solidFill>
            <a:srgbClr val="EAF0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1" name="Google Shape;181;p19"/>
          <p:cNvSpPr/>
          <p:nvPr/>
        </p:nvSpPr>
        <p:spPr>
          <a:xfrm>
            <a:off x="7749540" y="288036"/>
            <a:ext cx="9123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355B"/>
              </a:buClr>
              <a:buSzPts val="800"/>
              <a:buFont typeface="Calibri"/>
              <a:buNone/>
            </a:pPr>
            <a:r>
              <a:rPr b="1" i="0" lang="en" sz="800" u="none" cap="none" strike="noStrike">
                <a:solidFill>
                  <a:srgbClr val="12355B"/>
                </a:solidFill>
                <a:latin typeface="Calibri"/>
                <a:ea typeface="Calibri"/>
                <a:cs typeface="Calibri"/>
                <a:sym typeface="Calibri"/>
              </a:rPr>
              <a:t>EVIDENCE</a:t>
            </a:r>
            <a:endParaRPr b="0" i="0" sz="800" u="none" cap="none" strike="noStrike">
              <a:solidFill>
                <a:schemeClr val="dk1"/>
              </a:solidFill>
              <a:latin typeface="Calibri"/>
              <a:ea typeface="Calibri"/>
              <a:cs typeface="Calibri"/>
              <a:sym typeface="Calibri"/>
            </a:endParaRPr>
          </a:p>
        </p:txBody>
      </p:sp>
      <p:sp>
        <p:nvSpPr>
          <p:cNvPr id="182" name="Google Shape;182;p19"/>
          <p:cNvSpPr/>
          <p:nvPr/>
        </p:nvSpPr>
        <p:spPr>
          <a:xfrm>
            <a:off x="480060" y="260604"/>
            <a:ext cx="69471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2500"/>
              <a:buFont typeface="Cambria"/>
              <a:buNone/>
            </a:pPr>
            <a:r>
              <a:rPr b="1" i="0" lang="en" sz="2500" u="none" cap="none" strike="noStrike">
                <a:solidFill>
                  <a:srgbClr val="12355B"/>
                </a:solidFill>
                <a:latin typeface="Cambria"/>
                <a:ea typeface="Cambria"/>
                <a:cs typeface="Cambria"/>
                <a:sym typeface="Cambria"/>
              </a:rPr>
              <a:t>The System Running Across Five Months</a:t>
            </a:r>
            <a:endParaRPr b="0" i="0" sz="2500" u="none" cap="none" strike="noStrike">
              <a:solidFill>
                <a:schemeClr val="dk1"/>
              </a:solidFill>
              <a:latin typeface="Calibri"/>
              <a:ea typeface="Calibri"/>
              <a:cs typeface="Calibri"/>
              <a:sym typeface="Calibri"/>
            </a:endParaRPr>
          </a:p>
        </p:txBody>
      </p:sp>
      <p:sp>
        <p:nvSpPr>
          <p:cNvPr id="183" name="Google Shape;183;p19"/>
          <p:cNvSpPr/>
          <p:nvPr/>
        </p:nvSpPr>
        <p:spPr>
          <a:xfrm>
            <a:off x="480060" y="768096"/>
            <a:ext cx="6947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200"/>
              <a:buFont typeface="Calibri"/>
              <a:buNone/>
            </a:pPr>
            <a:r>
              <a:rPr b="0" i="1" lang="en" sz="1200" u="none" cap="none" strike="noStrike">
                <a:solidFill>
                  <a:srgbClr val="5A6472"/>
                </a:solidFill>
                <a:latin typeface="Calibri"/>
                <a:ea typeface="Calibri"/>
                <a:cs typeface="Calibri"/>
                <a:sym typeface="Calibri"/>
              </a:rPr>
              <a:t>Every fault caught. Early warning on two of four. Insets zoom three events.</a:t>
            </a:r>
            <a:endParaRPr b="0" i="0" sz="1200" u="none" cap="none" strike="noStrike">
              <a:solidFill>
                <a:schemeClr val="dk1"/>
              </a:solidFill>
              <a:latin typeface="Calibri"/>
              <a:ea typeface="Calibri"/>
              <a:cs typeface="Calibri"/>
              <a:sym typeface="Calibri"/>
            </a:endParaRPr>
          </a:p>
        </p:txBody>
      </p:sp>
      <p:pic>
        <p:nvPicPr>
          <p:cNvPr descr="fig/z2_temporal.png" id="184" name="Google Shape;184;p19"/>
          <p:cNvPicPr preferRelativeResize="0"/>
          <p:nvPr/>
        </p:nvPicPr>
        <p:blipFill rotWithShape="1">
          <a:blip r:embed="rId3">
            <a:alphaModFix/>
          </a:blip>
          <a:srcRect b="0" l="0" r="0" t="0"/>
          <a:stretch/>
        </p:blipFill>
        <p:spPr>
          <a:xfrm>
            <a:off x="480060" y="1110996"/>
            <a:ext cx="8161020" cy="2948940"/>
          </a:xfrm>
          <a:prstGeom prst="rect">
            <a:avLst/>
          </a:prstGeom>
          <a:noFill/>
          <a:ln>
            <a:noFill/>
          </a:ln>
        </p:spPr>
      </p:pic>
      <p:sp>
        <p:nvSpPr>
          <p:cNvPr id="185" name="Google Shape;185;p19"/>
          <p:cNvSpPr/>
          <p:nvPr/>
        </p:nvSpPr>
        <p:spPr>
          <a:xfrm>
            <a:off x="480060" y="4169664"/>
            <a:ext cx="19887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9E77"/>
              </a:buClr>
              <a:buSzPts val="2000"/>
              <a:buFont typeface="Cambria"/>
              <a:buNone/>
            </a:pPr>
            <a:r>
              <a:rPr b="1" i="0" lang="en" sz="2000" u="none" cap="none" strike="noStrike">
                <a:solidFill>
                  <a:srgbClr val="1B9E77"/>
                </a:solidFill>
                <a:latin typeface="Cambria"/>
                <a:ea typeface="Cambria"/>
                <a:cs typeface="Cambria"/>
                <a:sym typeface="Cambria"/>
              </a:rPr>
              <a:t>4 / 4</a:t>
            </a:r>
            <a:endParaRPr b="0" i="0" sz="2000" u="none" cap="none" strike="noStrike">
              <a:solidFill>
                <a:schemeClr val="dk1"/>
              </a:solidFill>
              <a:latin typeface="Calibri"/>
              <a:ea typeface="Calibri"/>
              <a:cs typeface="Calibri"/>
              <a:sym typeface="Calibri"/>
            </a:endParaRPr>
          </a:p>
        </p:txBody>
      </p:sp>
      <p:sp>
        <p:nvSpPr>
          <p:cNvPr id="186" name="Google Shape;186;p19"/>
          <p:cNvSpPr/>
          <p:nvPr/>
        </p:nvSpPr>
        <p:spPr>
          <a:xfrm>
            <a:off x="480060" y="4539996"/>
            <a:ext cx="19887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faults detected while in progress</a:t>
            </a:r>
            <a:endParaRPr b="0" i="0" sz="900" u="none" cap="none" strike="noStrike">
              <a:solidFill>
                <a:schemeClr val="dk1"/>
              </a:solidFill>
              <a:latin typeface="Calibri"/>
              <a:ea typeface="Calibri"/>
              <a:cs typeface="Calibri"/>
              <a:sym typeface="Calibri"/>
            </a:endParaRPr>
          </a:p>
        </p:txBody>
      </p:sp>
      <p:sp>
        <p:nvSpPr>
          <p:cNvPr id="187" name="Google Shape;187;p19"/>
          <p:cNvSpPr/>
          <p:nvPr/>
        </p:nvSpPr>
        <p:spPr>
          <a:xfrm>
            <a:off x="2571750" y="4169664"/>
            <a:ext cx="19887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2000"/>
              <a:buFont typeface="Cambria"/>
              <a:buNone/>
            </a:pPr>
            <a:r>
              <a:rPr b="1" i="0" lang="en" sz="2000" u="none" cap="none" strike="noStrike">
                <a:solidFill>
                  <a:srgbClr val="C0392B"/>
                </a:solidFill>
                <a:latin typeface="Cambria"/>
                <a:ea typeface="Cambria"/>
                <a:cs typeface="Cambria"/>
                <a:sym typeface="Cambria"/>
              </a:rPr>
              <a:t>2 / 4</a:t>
            </a:r>
            <a:endParaRPr b="0" i="0" sz="2000" u="none" cap="none" strike="noStrike">
              <a:solidFill>
                <a:schemeClr val="dk1"/>
              </a:solidFill>
              <a:latin typeface="Calibri"/>
              <a:ea typeface="Calibri"/>
              <a:cs typeface="Calibri"/>
              <a:sym typeface="Calibri"/>
            </a:endParaRPr>
          </a:p>
        </p:txBody>
      </p:sp>
      <p:sp>
        <p:nvSpPr>
          <p:cNvPr id="188" name="Google Shape;188;p19"/>
          <p:cNvSpPr/>
          <p:nvPr/>
        </p:nvSpPr>
        <p:spPr>
          <a:xfrm>
            <a:off x="2571750" y="4539996"/>
            <a:ext cx="19887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faults warned before onset</a:t>
            </a:r>
            <a:endParaRPr b="0" i="0" sz="900" u="none" cap="none" strike="noStrike">
              <a:solidFill>
                <a:schemeClr val="dk1"/>
              </a:solidFill>
              <a:latin typeface="Calibri"/>
              <a:ea typeface="Calibri"/>
              <a:cs typeface="Calibri"/>
              <a:sym typeface="Calibri"/>
            </a:endParaRPr>
          </a:p>
        </p:txBody>
      </p:sp>
      <p:sp>
        <p:nvSpPr>
          <p:cNvPr id="189" name="Google Shape;189;p19"/>
          <p:cNvSpPr/>
          <p:nvPr/>
        </p:nvSpPr>
        <p:spPr>
          <a:xfrm>
            <a:off x="4663440" y="4169664"/>
            <a:ext cx="19887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2000"/>
              <a:buFont typeface="Cambria"/>
              <a:buNone/>
            </a:pPr>
            <a:r>
              <a:rPr b="1" i="0" lang="en" sz="2000" u="none" cap="none" strike="noStrike">
                <a:solidFill>
                  <a:srgbClr val="E8A33D"/>
                </a:solidFill>
                <a:latin typeface="Cambria"/>
                <a:ea typeface="Cambria"/>
                <a:cs typeface="Cambria"/>
                <a:sym typeface="Cambria"/>
              </a:rPr>
              <a:t>10.5 h</a:t>
            </a:r>
            <a:endParaRPr b="0" i="0" sz="2000" u="none" cap="none" strike="noStrike">
              <a:solidFill>
                <a:schemeClr val="dk1"/>
              </a:solidFill>
              <a:latin typeface="Calibri"/>
              <a:ea typeface="Calibri"/>
              <a:cs typeface="Calibri"/>
              <a:sym typeface="Calibri"/>
            </a:endParaRPr>
          </a:p>
        </p:txBody>
      </p:sp>
      <p:sp>
        <p:nvSpPr>
          <p:cNvPr id="190" name="Google Shape;190;p19"/>
          <p:cNvSpPr/>
          <p:nvPr/>
        </p:nvSpPr>
        <p:spPr>
          <a:xfrm>
            <a:off x="4663440" y="4539996"/>
            <a:ext cx="19887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longest advance warning</a:t>
            </a:r>
            <a:endParaRPr b="0" i="0" sz="900" u="none" cap="none" strike="noStrike">
              <a:solidFill>
                <a:schemeClr val="dk1"/>
              </a:solidFill>
              <a:latin typeface="Calibri"/>
              <a:ea typeface="Calibri"/>
              <a:cs typeface="Calibri"/>
              <a:sym typeface="Calibri"/>
            </a:endParaRPr>
          </a:p>
        </p:txBody>
      </p:sp>
      <p:sp>
        <p:nvSpPr>
          <p:cNvPr id="191" name="Google Shape;191;p19"/>
          <p:cNvSpPr/>
          <p:nvPr/>
        </p:nvSpPr>
        <p:spPr>
          <a:xfrm>
            <a:off x="6755130" y="4169664"/>
            <a:ext cx="19887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2000"/>
              <a:buFont typeface="Cambria"/>
              <a:buNone/>
            </a:pPr>
            <a:r>
              <a:rPr b="1" i="0" lang="en" sz="2000" u="none" cap="none" strike="noStrike">
                <a:solidFill>
                  <a:srgbClr val="12355B"/>
                </a:solidFill>
                <a:latin typeface="Cambria"/>
                <a:ea typeface="Cambria"/>
                <a:cs typeface="Cambria"/>
                <a:sym typeface="Cambria"/>
              </a:rPr>
              <a:t>0.4 / 30d</a:t>
            </a:r>
            <a:endParaRPr b="0" i="0" sz="2000" u="none" cap="none" strike="noStrike">
              <a:solidFill>
                <a:schemeClr val="dk1"/>
              </a:solidFill>
              <a:latin typeface="Calibri"/>
              <a:ea typeface="Calibri"/>
              <a:cs typeface="Calibri"/>
              <a:sym typeface="Calibri"/>
            </a:endParaRPr>
          </a:p>
        </p:txBody>
      </p:sp>
      <p:sp>
        <p:nvSpPr>
          <p:cNvPr id="192" name="Google Shape;192;p19"/>
          <p:cNvSpPr/>
          <p:nvPr/>
        </p:nvSpPr>
        <p:spPr>
          <a:xfrm>
            <a:off x="6755130" y="4539996"/>
            <a:ext cx="1988700" cy="30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early-warning false alarms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0"/>
          <p:cNvSpPr/>
          <p:nvPr/>
        </p:nvSpPr>
        <p:spPr>
          <a:xfrm>
            <a:off x="7749540" y="288036"/>
            <a:ext cx="912300" cy="260700"/>
          </a:xfrm>
          <a:prstGeom prst="roundRect">
            <a:avLst>
              <a:gd fmla="val 26316" name="adj"/>
            </a:avLst>
          </a:prstGeom>
          <a:solidFill>
            <a:srgbClr val="EAF0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9" name="Google Shape;199;p20"/>
          <p:cNvSpPr/>
          <p:nvPr/>
        </p:nvSpPr>
        <p:spPr>
          <a:xfrm>
            <a:off x="7749540" y="288036"/>
            <a:ext cx="9123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355B"/>
              </a:buClr>
              <a:buSzPts val="800"/>
              <a:buFont typeface="Calibri"/>
              <a:buNone/>
            </a:pPr>
            <a:r>
              <a:rPr b="1" i="0" lang="en" sz="800" u="none" cap="none" strike="noStrike">
                <a:solidFill>
                  <a:srgbClr val="12355B"/>
                </a:solidFill>
                <a:latin typeface="Calibri"/>
                <a:ea typeface="Calibri"/>
                <a:cs typeface="Calibri"/>
                <a:sym typeface="Calibri"/>
              </a:rPr>
              <a:t>EFFICIENCY</a:t>
            </a:r>
            <a:endParaRPr b="0" i="0" sz="800" u="none" cap="none" strike="noStrike">
              <a:solidFill>
                <a:schemeClr val="dk1"/>
              </a:solidFill>
              <a:latin typeface="Calibri"/>
              <a:ea typeface="Calibri"/>
              <a:cs typeface="Calibri"/>
              <a:sym typeface="Calibri"/>
            </a:endParaRPr>
          </a:p>
        </p:txBody>
      </p:sp>
      <p:sp>
        <p:nvSpPr>
          <p:cNvPr id="200" name="Google Shape;200;p20"/>
          <p:cNvSpPr/>
          <p:nvPr/>
        </p:nvSpPr>
        <p:spPr>
          <a:xfrm>
            <a:off x="480060" y="260604"/>
            <a:ext cx="69471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2500"/>
              <a:buFont typeface="Cambria"/>
              <a:buNone/>
            </a:pPr>
            <a:r>
              <a:rPr b="1" i="0" lang="en" sz="2500" u="none" cap="none" strike="noStrike">
                <a:solidFill>
                  <a:srgbClr val="12355B"/>
                </a:solidFill>
                <a:latin typeface="Cambria"/>
                <a:ea typeface="Cambria"/>
                <a:cs typeface="Cambria"/>
                <a:sym typeface="Cambria"/>
              </a:rPr>
              <a:t>Feasible at Scale</a:t>
            </a:r>
            <a:endParaRPr b="0" i="0" sz="2500" u="none" cap="none" strike="noStrike">
              <a:solidFill>
                <a:schemeClr val="dk1"/>
              </a:solidFill>
              <a:latin typeface="Calibri"/>
              <a:ea typeface="Calibri"/>
              <a:cs typeface="Calibri"/>
              <a:sym typeface="Calibri"/>
            </a:endParaRPr>
          </a:p>
        </p:txBody>
      </p:sp>
      <p:sp>
        <p:nvSpPr>
          <p:cNvPr id="201" name="Google Shape;201;p20"/>
          <p:cNvSpPr/>
          <p:nvPr/>
        </p:nvSpPr>
        <p:spPr>
          <a:xfrm>
            <a:off x="480060" y="768096"/>
            <a:ext cx="6947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200"/>
              <a:buFont typeface="Calibri"/>
              <a:buNone/>
            </a:pPr>
            <a:r>
              <a:rPr b="0" i="1" lang="en" sz="1200" u="none" cap="none" strike="noStrike">
                <a:solidFill>
                  <a:srgbClr val="5A6472"/>
                </a:solidFill>
                <a:latin typeface="Calibri"/>
                <a:ea typeface="Calibri"/>
                <a:cs typeface="Calibri"/>
                <a:sym typeface="Calibri"/>
              </a:rPr>
              <a:t>The deployment question is settled, and not narrowly.</a:t>
            </a:r>
            <a:endParaRPr b="0" i="0" sz="1200" u="none" cap="none" strike="noStrike">
              <a:solidFill>
                <a:schemeClr val="dk1"/>
              </a:solidFill>
              <a:latin typeface="Calibri"/>
              <a:ea typeface="Calibri"/>
              <a:cs typeface="Calibri"/>
              <a:sym typeface="Calibri"/>
            </a:endParaRPr>
          </a:p>
        </p:txBody>
      </p:sp>
      <p:pic>
        <p:nvPicPr>
          <p:cNvPr descr="fig/z4_efficiency.png" id="202" name="Google Shape;202;p20"/>
          <p:cNvPicPr preferRelativeResize="0"/>
          <p:nvPr/>
        </p:nvPicPr>
        <p:blipFill rotWithShape="1">
          <a:blip r:embed="rId3">
            <a:alphaModFix/>
          </a:blip>
          <a:srcRect b="0" l="0" r="0" t="0"/>
          <a:stretch/>
        </p:blipFill>
        <p:spPr>
          <a:xfrm>
            <a:off x="480060" y="1165860"/>
            <a:ext cx="4869181" cy="1851660"/>
          </a:xfrm>
          <a:prstGeom prst="rect">
            <a:avLst/>
          </a:prstGeom>
          <a:noFill/>
          <a:ln>
            <a:noFill/>
          </a:ln>
        </p:spPr>
      </p:pic>
      <p:sp>
        <p:nvSpPr>
          <p:cNvPr id="203" name="Google Shape;203;p20"/>
          <p:cNvSpPr/>
          <p:nvPr/>
        </p:nvSpPr>
        <p:spPr>
          <a:xfrm>
            <a:off x="5657850" y="1165860"/>
            <a:ext cx="2983200" cy="1851900"/>
          </a:xfrm>
          <a:prstGeom prst="roundRect">
            <a:avLst>
              <a:gd fmla="val 2222" name="adj"/>
            </a:avLst>
          </a:prstGeom>
          <a:solidFill>
            <a:srgbClr val="12355B"/>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4" name="Google Shape;204;p20"/>
          <p:cNvSpPr/>
          <p:nvPr/>
        </p:nvSpPr>
        <p:spPr>
          <a:xfrm>
            <a:off x="5897880" y="1316736"/>
            <a:ext cx="2537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300"/>
              <a:buFont typeface="Calibri"/>
              <a:buNone/>
            </a:pPr>
            <a:r>
              <a:rPr b="1" i="0" lang="en" sz="1300" u="none" cap="none" strike="noStrike">
                <a:solidFill>
                  <a:srgbClr val="E8A33D"/>
                </a:solidFill>
                <a:latin typeface="Calibri"/>
                <a:ea typeface="Calibri"/>
                <a:cs typeface="Calibri"/>
                <a:sym typeface="Calibri"/>
              </a:rPr>
              <a:t>Headroom</a:t>
            </a:r>
            <a:endParaRPr b="0" i="0" sz="1300" u="none" cap="none" strike="noStrike">
              <a:solidFill>
                <a:schemeClr val="dk1"/>
              </a:solidFill>
              <a:latin typeface="Calibri"/>
              <a:ea typeface="Calibri"/>
              <a:cs typeface="Calibri"/>
              <a:sym typeface="Calibri"/>
            </a:endParaRPr>
          </a:p>
        </p:txBody>
      </p:sp>
      <p:sp>
        <p:nvSpPr>
          <p:cNvPr id="205" name="Google Shape;205;p20"/>
          <p:cNvSpPr/>
          <p:nvPr/>
        </p:nvSpPr>
        <p:spPr>
          <a:xfrm>
            <a:off x="5897880" y="1645920"/>
            <a:ext cx="2537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i="0" lang="en" sz="2600" u="none" cap="none" strike="noStrike">
                <a:solidFill>
                  <a:srgbClr val="FFFFFF"/>
                </a:solidFill>
                <a:latin typeface="Cambria"/>
                <a:ea typeface="Cambria"/>
                <a:cs typeface="Cambria"/>
                <a:sym typeface="Cambria"/>
              </a:rPr>
              <a:t>0.97 ms</a:t>
            </a:r>
            <a:endParaRPr b="0" i="0" sz="2600" u="none" cap="none" strike="noStrike">
              <a:solidFill>
                <a:schemeClr val="dk1"/>
              </a:solidFill>
              <a:latin typeface="Calibri"/>
              <a:ea typeface="Calibri"/>
              <a:cs typeface="Calibri"/>
              <a:sym typeface="Calibri"/>
            </a:endParaRPr>
          </a:p>
        </p:txBody>
      </p:sp>
      <p:sp>
        <p:nvSpPr>
          <p:cNvPr id="206" name="Google Shape;206;p20"/>
          <p:cNvSpPr/>
          <p:nvPr/>
        </p:nvSpPr>
        <p:spPr>
          <a:xfrm>
            <a:off x="5897880" y="2091690"/>
            <a:ext cx="25377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6E3"/>
              </a:buClr>
              <a:buSzPts val="900"/>
              <a:buFont typeface="Calibri"/>
              <a:buNone/>
            </a:pPr>
            <a:r>
              <a:rPr b="0" i="0" lang="en" sz="900" u="none" cap="none" strike="noStrike">
                <a:solidFill>
                  <a:srgbClr val="C9D6E3"/>
                </a:solidFill>
                <a:latin typeface="Calibri"/>
                <a:ea typeface="Calibri"/>
                <a:cs typeface="Calibri"/>
                <a:sym typeface="Calibri"/>
              </a:rPr>
              <a:t>END TO END per window, including all pre-processing, against a 15-minute window period.</a:t>
            </a:r>
            <a:endParaRPr b="0" i="0" sz="900" u="none" cap="none" strike="noStrike">
              <a:solidFill>
                <a:schemeClr val="dk1"/>
              </a:solidFill>
              <a:latin typeface="Calibri"/>
              <a:ea typeface="Calibri"/>
              <a:cs typeface="Calibri"/>
              <a:sym typeface="Calibri"/>
            </a:endParaRPr>
          </a:p>
        </p:txBody>
      </p:sp>
      <p:sp>
        <p:nvSpPr>
          <p:cNvPr id="207" name="Google Shape;207;p20"/>
          <p:cNvSpPr/>
          <p:nvPr/>
        </p:nvSpPr>
        <p:spPr>
          <a:xfrm>
            <a:off x="5897880" y="2619756"/>
            <a:ext cx="2537700" cy="51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900"/>
              <a:buFont typeface="Calibri"/>
              <a:buNone/>
            </a:pPr>
            <a:r>
              <a:rPr b="1" i="0" lang="en" sz="900" u="none" cap="none" strike="noStrike">
                <a:solidFill>
                  <a:srgbClr val="E8A33D"/>
                </a:solidFill>
                <a:latin typeface="Calibri"/>
                <a:ea typeface="Calibri"/>
                <a:cs typeface="Calibri"/>
                <a:sym typeface="Calibri"/>
              </a:rPr>
              <a:t>About 10^6 times faster than real time. Scoring alone is 0.008 ms, but that is only the cheapest stage.</a:t>
            </a:r>
            <a:endParaRPr b="0" i="0" sz="900" u="none" cap="none" strike="noStrike">
              <a:solidFill>
                <a:schemeClr val="dk1"/>
              </a:solidFill>
              <a:latin typeface="Calibri"/>
              <a:ea typeface="Calibri"/>
              <a:cs typeface="Calibri"/>
              <a:sym typeface="Calibri"/>
            </a:endParaRPr>
          </a:p>
        </p:txBody>
      </p:sp>
      <p:sp>
        <p:nvSpPr>
          <p:cNvPr id="208" name="Google Shape;208;p20"/>
          <p:cNvSpPr/>
          <p:nvPr/>
        </p:nvSpPr>
        <p:spPr>
          <a:xfrm>
            <a:off x="480060" y="3223260"/>
            <a:ext cx="4011900" cy="617100"/>
          </a:xfrm>
          <a:prstGeom prst="roundRect">
            <a:avLst>
              <a:gd fmla="val 6667"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9" name="Google Shape;209;p20"/>
          <p:cNvSpPr/>
          <p:nvPr/>
        </p:nvSpPr>
        <p:spPr>
          <a:xfrm>
            <a:off x="685800" y="3326130"/>
            <a:ext cx="1371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600"/>
              <a:buFont typeface="Cambria"/>
              <a:buNone/>
            </a:pPr>
            <a:r>
              <a:rPr b="1" i="0" lang="en" sz="1600" u="none" cap="none" strike="noStrike">
                <a:solidFill>
                  <a:srgbClr val="12355B"/>
                </a:solidFill>
                <a:latin typeface="Cambria"/>
                <a:ea typeface="Cambria"/>
                <a:cs typeface="Cambria"/>
                <a:sym typeface="Cambria"/>
              </a:rPr>
              <a:t>97,190</a:t>
            </a:r>
            <a:endParaRPr b="0" i="0" sz="1600" u="none" cap="none" strike="noStrike">
              <a:solidFill>
                <a:schemeClr val="dk1"/>
              </a:solidFill>
              <a:latin typeface="Calibri"/>
              <a:ea typeface="Calibri"/>
              <a:cs typeface="Calibri"/>
              <a:sym typeface="Calibri"/>
            </a:endParaRPr>
          </a:p>
        </p:txBody>
      </p:sp>
      <p:sp>
        <p:nvSpPr>
          <p:cNvPr id="210" name="Google Shape;210;p20"/>
          <p:cNvSpPr/>
          <p:nvPr/>
        </p:nvSpPr>
        <p:spPr>
          <a:xfrm>
            <a:off x="2160270" y="3387852"/>
            <a:ext cx="2194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readings/s cleaning throughput</a:t>
            </a:r>
            <a:endParaRPr b="0" i="0" sz="900" u="none" cap="none" strike="noStrike">
              <a:solidFill>
                <a:schemeClr val="dk1"/>
              </a:solidFill>
              <a:latin typeface="Calibri"/>
              <a:ea typeface="Calibri"/>
              <a:cs typeface="Calibri"/>
              <a:sym typeface="Calibri"/>
            </a:endParaRPr>
          </a:p>
        </p:txBody>
      </p:sp>
      <p:sp>
        <p:nvSpPr>
          <p:cNvPr id="211" name="Google Shape;211;p20"/>
          <p:cNvSpPr/>
          <p:nvPr/>
        </p:nvSpPr>
        <p:spPr>
          <a:xfrm>
            <a:off x="4697730" y="3223260"/>
            <a:ext cx="4011900" cy="617100"/>
          </a:xfrm>
          <a:prstGeom prst="roundRect">
            <a:avLst>
              <a:gd fmla="val 6667"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2" name="Google Shape;212;p20"/>
          <p:cNvSpPr/>
          <p:nvPr/>
        </p:nvSpPr>
        <p:spPr>
          <a:xfrm>
            <a:off x="4903470" y="3326130"/>
            <a:ext cx="1371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600"/>
              <a:buFont typeface="Cambria"/>
              <a:buNone/>
            </a:pPr>
            <a:r>
              <a:rPr b="1" i="0" lang="en" sz="1600" u="none" cap="none" strike="noStrike">
                <a:solidFill>
                  <a:srgbClr val="12355B"/>
                </a:solidFill>
                <a:latin typeface="Cambria"/>
                <a:ea typeface="Cambria"/>
                <a:cs typeface="Cambria"/>
                <a:sym typeface="Cambria"/>
              </a:rPr>
              <a:t>15.6 s</a:t>
            </a:r>
            <a:endParaRPr b="0" i="0" sz="1600" u="none" cap="none" strike="noStrike">
              <a:solidFill>
                <a:schemeClr val="dk1"/>
              </a:solidFill>
              <a:latin typeface="Calibri"/>
              <a:ea typeface="Calibri"/>
              <a:cs typeface="Calibri"/>
              <a:sym typeface="Calibri"/>
            </a:endParaRPr>
          </a:p>
        </p:txBody>
      </p:sp>
      <p:sp>
        <p:nvSpPr>
          <p:cNvPr id="213" name="Google Shape;213;p20"/>
          <p:cNvSpPr/>
          <p:nvPr/>
        </p:nvSpPr>
        <p:spPr>
          <a:xfrm>
            <a:off x="6377940" y="3387852"/>
            <a:ext cx="2194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to clean all 1.5M readings</a:t>
            </a:r>
            <a:endParaRPr b="0" i="0" sz="900" u="none" cap="none" strike="noStrike">
              <a:solidFill>
                <a:schemeClr val="dk1"/>
              </a:solidFill>
              <a:latin typeface="Calibri"/>
              <a:ea typeface="Calibri"/>
              <a:cs typeface="Calibri"/>
              <a:sym typeface="Calibri"/>
            </a:endParaRPr>
          </a:p>
        </p:txBody>
      </p:sp>
      <p:sp>
        <p:nvSpPr>
          <p:cNvPr id="214" name="Google Shape;214;p20"/>
          <p:cNvSpPr/>
          <p:nvPr/>
        </p:nvSpPr>
        <p:spPr>
          <a:xfrm>
            <a:off x="480060" y="3943350"/>
            <a:ext cx="4011900" cy="617100"/>
          </a:xfrm>
          <a:prstGeom prst="roundRect">
            <a:avLst>
              <a:gd fmla="val 6667"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5" name="Google Shape;215;p20"/>
          <p:cNvSpPr/>
          <p:nvPr/>
        </p:nvSpPr>
        <p:spPr>
          <a:xfrm>
            <a:off x="685800" y="4046220"/>
            <a:ext cx="1371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600"/>
              <a:buFont typeface="Cambria"/>
              <a:buNone/>
            </a:pPr>
            <a:r>
              <a:rPr b="1" lang="en" sz="1600">
                <a:solidFill>
                  <a:srgbClr val="12355B"/>
                </a:solidFill>
                <a:latin typeface="Cambria"/>
                <a:ea typeface="Cambria"/>
                <a:cs typeface="Cambria"/>
                <a:sym typeface="Cambria"/>
              </a:rPr>
              <a:t>7.18</a:t>
            </a:r>
            <a:r>
              <a:rPr b="1" i="0" lang="en" sz="1600" u="none" cap="none" strike="noStrike">
                <a:solidFill>
                  <a:srgbClr val="12355B"/>
                </a:solidFill>
                <a:latin typeface="Cambria"/>
                <a:ea typeface="Cambria"/>
                <a:cs typeface="Cambria"/>
                <a:sym typeface="Cambria"/>
              </a:rPr>
              <a:t> s</a:t>
            </a:r>
            <a:endParaRPr b="0" i="0" sz="1600" u="none" cap="none" strike="noStrike">
              <a:solidFill>
                <a:schemeClr val="dk1"/>
              </a:solidFill>
              <a:latin typeface="Calibri"/>
              <a:ea typeface="Calibri"/>
              <a:cs typeface="Calibri"/>
              <a:sym typeface="Calibri"/>
            </a:endParaRPr>
          </a:p>
        </p:txBody>
      </p:sp>
      <p:sp>
        <p:nvSpPr>
          <p:cNvPr id="216" name="Google Shape;216;p20"/>
          <p:cNvSpPr/>
          <p:nvPr/>
        </p:nvSpPr>
        <p:spPr>
          <a:xfrm>
            <a:off x="2160270" y="4107942"/>
            <a:ext cx="2194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lang="en" sz="900">
                <a:solidFill>
                  <a:srgbClr val="5A6472"/>
                </a:solidFill>
                <a:latin typeface="Calibri"/>
                <a:ea typeface="Calibri"/>
                <a:cs typeface="Calibri"/>
                <a:sym typeface="Calibri"/>
              </a:rPr>
              <a:t>resampling and gap flagging, the real bottleneck</a:t>
            </a:r>
            <a:endParaRPr b="0" i="0" sz="900" u="none" cap="none" strike="noStrike">
              <a:solidFill>
                <a:schemeClr val="dk1"/>
              </a:solidFill>
              <a:latin typeface="Calibri"/>
              <a:ea typeface="Calibri"/>
              <a:cs typeface="Calibri"/>
              <a:sym typeface="Calibri"/>
            </a:endParaRPr>
          </a:p>
        </p:txBody>
      </p:sp>
      <p:sp>
        <p:nvSpPr>
          <p:cNvPr id="217" name="Google Shape;217;p20"/>
          <p:cNvSpPr/>
          <p:nvPr/>
        </p:nvSpPr>
        <p:spPr>
          <a:xfrm>
            <a:off x="4697730" y="3943350"/>
            <a:ext cx="4011900" cy="617100"/>
          </a:xfrm>
          <a:prstGeom prst="roundRect">
            <a:avLst>
              <a:gd fmla="val 6667"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8" name="Google Shape;218;p20"/>
          <p:cNvSpPr/>
          <p:nvPr/>
        </p:nvSpPr>
        <p:spPr>
          <a:xfrm>
            <a:off x="4903470" y="4046220"/>
            <a:ext cx="1371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600"/>
              <a:buFont typeface="Cambria"/>
              <a:buNone/>
            </a:pPr>
            <a:r>
              <a:rPr b="1" i="0" lang="en" sz="1600" u="none" cap="none" strike="noStrike">
                <a:solidFill>
                  <a:srgbClr val="12355B"/>
                </a:solidFill>
                <a:latin typeface="Cambria"/>
                <a:ea typeface="Cambria"/>
                <a:cs typeface="Cambria"/>
                <a:sym typeface="Cambria"/>
              </a:rPr>
              <a:t>2.2 s</a:t>
            </a:r>
            <a:endParaRPr b="0" i="0" sz="1600" u="none" cap="none" strike="noStrike">
              <a:solidFill>
                <a:schemeClr val="dk1"/>
              </a:solidFill>
              <a:latin typeface="Calibri"/>
              <a:ea typeface="Calibri"/>
              <a:cs typeface="Calibri"/>
              <a:sym typeface="Calibri"/>
            </a:endParaRPr>
          </a:p>
        </p:txBody>
      </p:sp>
      <p:sp>
        <p:nvSpPr>
          <p:cNvPr id="219" name="Google Shape;219;p20"/>
          <p:cNvSpPr/>
          <p:nvPr/>
        </p:nvSpPr>
        <p:spPr>
          <a:xfrm>
            <a:off x="6377940" y="4107942"/>
            <a:ext cx="21948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18 weekly drift refits, total</a:t>
            </a:r>
            <a:endParaRPr b="0" i="0" sz="900" u="none" cap="none" strike="noStrike">
              <a:solidFill>
                <a:schemeClr val="dk1"/>
              </a:solidFill>
              <a:latin typeface="Calibri"/>
              <a:ea typeface="Calibri"/>
              <a:cs typeface="Calibri"/>
              <a:sym typeface="Calibri"/>
            </a:endParaRPr>
          </a:p>
        </p:txBody>
      </p:sp>
      <p:sp>
        <p:nvSpPr>
          <p:cNvPr id="220" name="Google Shape;220;p20"/>
          <p:cNvSpPr/>
          <p:nvPr/>
        </p:nvSpPr>
        <p:spPr>
          <a:xfrm>
            <a:off x="480060" y="4697730"/>
            <a:ext cx="81816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900"/>
              <a:buFont typeface="Calibri"/>
              <a:buNone/>
            </a:pPr>
            <a:r>
              <a:rPr b="0" i="1" lang="en" sz="900" u="none" cap="none" strike="noStrike">
                <a:solidFill>
                  <a:srgbClr val="12355B"/>
                </a:solidFill>
                <a:latin typeface="Calibri"/>
                <a:ea typeface="Calibri"/>
                <a:cs typeface="Calibri"/>
                <a:sym typeface="Calibri"/>
              </a:rPr>
              <a:t>We quote the end-to-end figure because it describes the deployed system, and 10^6 already settles the question.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1"/>
          <p:cNvSpPr/>
          <p:nvPr/>
        </p:nvSpPr>
        <p:spPr>
          <a:xfrm>
            <a:off x="7749540" y="288036"/>
            <a:ext cx="912300" cy="260700"/>
          </a:xfrm>
          <a:prstGeom prst="roundRect">
            <a:avLst>
              <a:gd fmla="val 26316" name="adj"/>
            </a:avLst>
          </a:prstGeom>
          <a:solidFill>
            <a:srgbClr val="EAF0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7" name="Google Shape;227;p21"/>
          <p:cNvSpPr/>
          <p:nvPr/>
        </p:nvSpPr>
        <p:spPr>
          <a:xfrm>
            <a:off x="7749540" y="288036"/>
            <a:ext cx="9123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355B"/>
              </a:buClr>
              <a:buSzPts val="800"/>
              <a:buFont typeface="Calibri"/>
              <a:buNone/>
            </a:pPr>
            <a:r>
              <a:rPr b="1" i="0" lang="en" sz="800" u="none" cap="none" strike="noStrike">
                <a:solidFill>
                  <a:srgbClr val="12355B"/>
                </a:solidFill>
                <a:latin typeface="Calibri"/>
                <a:ea typeface="Calibri"/>
                <a:cs typeface="Calibri"/>
                <a:sym typeface="Calibri"/>
              </a:rPr>
              <a:t>REFLECTION</a:t>
            </a:r>
            <a:endParaRPr b="0" i="0" sz="800" u="none" cap="none" strike="noStrike">
              <a:solidFill>
                <a:schemeClr val="dk1"/>
              </a:solidFill>
              <a:latin typeface="Calibri"/>
              <a:ea typeface="Calibri"/>
              <a:cs typeface="Calibri"/>
              <a:sym typeface="Calibri"/>
            </a:endParaRPr>
          </a:p>
        </p:txBody>
      </p:sp>
      <p:sp>
        <p:nvSpPr>
          <p:cNvPr id="228" name="Google Shape;228;p21"/>
          <p:cNvSpPr/>
          <p:nvPr/>
        </p:nvSpPr>
        <p:spPr>
          <a:xfrm>
            <a:off x="480060" y="260604"/>
            <a:ext cx="69471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2500"/>
              <a:buFont typeface="Cambria"/>
              <a:buNone/>
            </a:pPr>
            <a:r>
              <a:rPr b="1" i="0" lang="en" sz="2500" u="none" cap="none" strike="noStrike">
                <a:solidFill>
                  <a:srgbClr val="12355B"/>
                </a:solidFill>
                <a:latin typeface="Cambria"/>
                <a:ea typeface="Cambria"/>
                <a:cs typeface="Cambria"/>
                <a:sym typeface="Cambria"/>
              </a:rPr>
              <a:t>What Worked, What Did Not</a:t>
            </a:r>
            <a:endParaRPr b="0" i="0" sz="2500" u="none" cap="none" strike="noStrike">
              <a:solidFill>
                <a:schemeClr val="dk1"/>
              </a:solidFill>
              <a:latin typeface="Calibri"/>
              <a:ea typeface="Calibri"/>
              <a:cs typeface="Calibri"/>
              <a:sym typeface="Calibri"/>
            </a:endParaRPr>
          </a:p>
        </p:txBody>
      </p:sp>
      <p:sp>
        <p:nvSpPr>
          <p:cNvPr id="229" name="Google Shape;229;p21"/>
          <p:cNvSpPr/>
          <p:nvPr/>
        </p:nvSpPr>
        <p:spPr>
          <a:xfrm>
            <a:off x="480060" y="768096"/>
            <a:ext cx="6947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200"/>
              <a:buFont typeface="Calibri"/>
              <a:buNone/>
            </a:pPr>
            <a:r>
              <a:rPr b="0" i="1" lang="en" sz="1200" u="none" cap="none" strike="noStrike">
                <a:solidFill>
                  <a:srgbClr val="5A6472"/>
                </a:solidFill>
                <a:latin typeface="Calibri"/>
                <a:ea typeface="Calibri"/>
                <a:cs typeface="Calibri"/>
                <a:sym typeface="Calibri"/>
              </a:rPr>
              <a:t>Three methods failed. Two of the three taught us something; the third we still cannot fully explain.</a:t>
            </a:r>
            <a:endParaRPr b="0" i="0" sz="1200" u="none" cap="none" strike="noStrike">
              <a:solidFill>
                <a:schemeClr val="dk1"/>
              </a:solidFill>
              <a:latin typeface="Calibri"/>
              <a:ea typeface="Calibri"/>
              <a:cs typeface="Calibri"/>
              <a:sym typeface="Calibri"/>
            </a:endParaRPr>
          </a:p>
        </p:txBody>
      </p:sp>
      <p:sp>
        <p:nvSpPr>
          <p:cNvPr id="230" name="Google Shape;230;p21"/>
          <p:cNvSpPr/>
          <p:nvPr/>
        </p:nvSpPr>
        <p:spPr>
          <a:xfrm>
            <a:off x="480060" y="1179576"/>
            <a:ext cx="4011900" cy="3154800"/>
          </a:xfrm>
          <a:prstGeom prst="roundRect">
            <a:avLst>
              <a:gd fmla="val 1304"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1" name="Google Shape;231;p21"/>
          <p:cNvSpPr/>
          <p:nvPr/>
        </p:nvSpPr>
        <p:spPr>
          <a:xfrm>
            <a:off x="720090" y="1303020"/>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9E77"/>
              </a:buClr>
              <a:buSzPts val="1400"/>
              <a:buFont typeface="Calibri"/>
              <a:buNone/>
            </a:pPr>
            <a:r>
              <a:rPr b="1" i="0" lang="en" sz="1400" u="none" cap="none" strike="noStrike">
                <a:solidFill>
                  <a:srgbClr val="1B9E77"/>
                </a:solidFill>
                <a:latin typeface="Calibri"/>
                <a:ea typeface="Calibri"/>
                <a:cs typeface="Calibri"/>
                <a:sym typeface="Calibri"/>
              </a:rPr>
              <a:t>Worked</a:t>
            </a:r>
            <a:endParaRPr b="0" i="0" sz="1400" u="none" cap="none" strike="noStrike">
              <a:solidFill>
                <a:schemeClr val="dk1"/>
              </a:solidFill>
              <a:latin typeface="Calibri"/>
              <a:ea typeface="Calibri"/>
              <a:cs typeface="Calibri"/>
              <a:sym typeface="Calibri"/>
            </a:endParaRPr>
          </a:p>
        </p:txBody>
      </p:sp>
      <p:sp>
        <p:nvSpPr>
          <p:cNvPr id="232" name="Google Shape;232;p21"/>
          <p:cNvSpPr/>
          <p:nvPr/>
        </p:nvSpPr>
        <p:spPr>
          <a:xfrm>
            <a:off x="720090" y="1645920"/>
            <a:ext cx="35664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100"/>
              <a:buFont typeface="Calibri"/>
              <a:buNone/>
            </a:pPr>
            <a:r>
              <a:rPr b="1" i="0" lang="en" sz="1100" u="none" cap="none" strike="noStrike">
                <a:solidFill>
                  <a:srgbClr val="12355B"/>
                </a:solidFill>
                <a:latin typeface="Calibri"/>
                <a:ea typeface="Calibri"/>
                <a:cs typeface="Calibri"/>
                <a:sym typeface="Calibri"/>
              </a:rPr>
              <a:t>✓  Clustering</a:t>
            </a:r>
            <a:endParaRPr b="0" i="0" sz="1100" u="none" cap="none" strike="noStrike">
              <a:solidFill>
                <a:schemeClr val="dk1"/>
              </a:solidFill>
              <a:latin typeface="Calibri"/>
              <a:ea typeface="Calibri"/>
              <a:cs typeface="Calibri"/>
              <a:sym typeface="Calibri"/>
            </a:endParaRPr>
          </a:p>
        </p:txBody>
      </p:sp>
      <p:sp>
        <p:nvSpPr>
          <p:cNvPr id="233" name="Google Shape;233;p21"/>
          <p:cNvSpPr/>
          <p:nvPr/>
        </p:nvSpPr>
        <p:spPr>
          <a:xfrm>
            <a:off x="973836" y="1892808"/>
            <a:ext cx="33261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0.07 s to fit, recovered the fault regime with no labels. Best value per hour spent in the project.</a:t>
            </a:r>
            <a:endParaRPr b="0" i="0" sz="900" u="none" cap="none" strike="noStrike">
              <a:solidFill>
                <a:schemeClr val="dk1"/>
              </a:solidFill>
              <a:latin typeface="Calibri"/>
              <a:ea typeface="Calibri"/>
              <a:cs typeface="Calibri"/>
              <a:sym typeface="Calibri"/>
            </a:endParaRPr>
          </a:p>
        </p:txBody>
      </p:sp>
      <p:sp>
        <p:nvSpPr>
          <p:cNvPr id="234" name="Google Shape;234;p21"/>
          <p:cNvSpPr/>
          <p:nvPr/>
        </p:nvSpPr>
        <p:spPr>
          <a:xfrm>
            <a:off x="720090" y="2523744"/>
            <a:ext cx="35664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100"/>
              <a:buFont typeface="Calibri"/>
              <a:buNone/>
            </a:pPr>
            <a:r>
              <a:rPr b="1" i="0" lang="en" sz="1100" u="none" cap="none" strike="noStrike">
                <a:solidFill>
                  <a:srgbClr val="12355B"/>
                </a:solidFill>
                <a:latin typeface="Calibri"/>
                <a:ea typeface="Calibri"/>
                <a:cs typeface="Calibri"/>
                <a:sym typeface="Calibri"/>
              </a:rPr>
              <a:t>✓  Physics-scoped features</a:t>
            </a:r>
            <a:endParaRPr b="0" i="0" sz="1100" u="none" cap="none" strike="noStrike">
              <a:solidFill>
                <a:schemeClr val="dk1"/>
              </a:solidFill>
              <a:latin typeface="Calibri"/>
              <a:ea typeface="Calibri"/>
              <a:cs typeface="Calibri"/>
              <a:sym typeface="Calibri"/>
            </a:endParaRPr>
          </a:p>
        </p:txBody>
      </p:sp>
      <p:sp>
        <p:nvSpPr>
          <p:cNvPr id="235" name="Google Shape;235;p21"/>
          <p:cNvSpPr/>
          <p:nvPr/>
        </p:nvSpPr>
        <p:spPr>
          <a:xfrm>
            <a:off x="973836" y="2770632"/>
            <a:ext cx="33261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Cutting 41 features to 14 raised F1 from 0.31 to 0.55. Domain reasoning beat capacity.</a:t>
            </a:r>
            <a:endParaRPr b="0" i="0" sz="900" u="none" cap="none" strike="noStrike">
              <a:solidFill>
                <a:schemeClr val="dk1"/>
              </a:solidFill>
              <a:latin typeface="Calibri"/>
              <a:ea typeface="Calibri"/>
              <a:cs typeface="Calibri"/>
              <a:sym typeface="Calibri"/>
            </a:endParaRPr>
          </a:p>
        </p:txBody>
      </p:sp>
      <p:sp>
        <p:nvSpPr>
          <p:cNvPr id="236" name="Google Shape;236;p21"/>
          <p:cNvSpPr/>
          <p:nvPr/>
        </p:nvSpPr>
        <p:spPr>
          <a:xfrm>
            <a:off x="720090" y="3401568"/>
            <a:ext cx="35664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100"/>
              <a:buFont typeface="Calibri"/>
              <a:buNone/>
            </a:pPr>
            <a:r>
              <a:rPr b="1" i="0" lang="en" sz="1100" u="none" cap="none" strike="noStrike">
                <a:solidFill>
                  <a:srgbClr val="12355B"/>
                </a:solidFill>
                <a:latin typeface="Calibri"/>
                <a:ea typeface="Calibri"/>
                <a:cs typeface="Calibri"/>
                <a:sym typeface="Calibri"/>
              </a:rPr>
              <a:t>✓  Flagging gaps, not filling them</a:t>
            </a:r>
            <a:endParaRPr b="0" i="0" sz="1100" u="none" cap="none" strike="noStrike">
              <a:solidFill>
                <a:schemeClr val="dk1"/>
              </a:solidFill>
              <a:latin typeface="Calibri"/>
              <a:ea typeface="Calibri"/>
              <a:cs typeface="Calibri"/>
              <a:sym typeface="Calibri"/>
            </a:endParaRPr>
          </a:p>
        </p:txBody>
      </p:sp>
      <p:sp>
        <p:nvSpPr>
          <p:cNvPr id="237" name="Google Shape;237;p21"/>
          <p:cNvSpPr/>
          <p:nvPr/>
        </p:nvSpPr>
        <p:spPr>
          <a:xfrm>
            <a:off x="973836" y="3648456"/>
            <a:ext cx="33261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909 hours of missing record never became fabricated training data.</a:t>
            </a:r>
            <a:endParaRPr b="0" i="0" sz="900" u="none" cap="none" strike="noStrike">
              <a:solidFill>
                <a:schemeClr val="dk1"/>
              </a:solidFill>
              <a:latin typeface="Calibri"/>
              <a:ea typeface="Calibri"/>
              <a:cs typeface="Calibri"/>
              <a:sym typeface="Calibri"/>
            </a:endParaRPr>
          </a:p>
        </p:txBody>
      </p:sp>
      <p:sp>
        <p:nvSpPr>
          <p:cNvPr id="238" name="Google Shape;238;p21"/>
          <p:cNvSpPr/>
          <p:nvPr/>
        </p:nvSpPr>
        <p:spPr>
          <a:xfrm>
            <a:off x="4697730" y="1179576"/>
            <a:ext cx="4011900" cy="3154800"/>
          </a:xfrm>
          <a:prstGeom prst="roundRect">
            <a:avLst>
              <a:gd fmla="val 1304" name="adj"/>
            </a:avLst>
          </a:prstGeom>
          <a:solidFill>
            <a:srgbClr val="FDF3E3"/>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9" name="Google Shape;239;p21"/>
          <p:cNvSpPr/>
          <p:nvPr/>
        </p:nvSpPr>
        <p:spPr>
          <a:xfrm>
            <a:off x="4937760" y="1303020"/>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400"/>
              <a:buFont typeface="Calibri"/>
              <a:buNone/>
            </a:pPr>
            <a:r>
              <a:rPr b="1" i="0" lang="en" sz="1400" u="none" cap="none" strike="noStrike">
                <a:solidFill>
                  <a:srgbClr val="C0392B"/>
                </a:solidFill>
                <a:latin typeface="Calibri"/>
                <a:ea typeface="Calibri"/>
                <a:cs typeface="Calibri"/>
                <a:sym typeface="Calibri"/>
              </a:rPr>
              <a:t>Did not work</a:t>
            </a:r>
            <a:endParaRPr b="0" i="0" sz="1400" u="none" cap="none" strike="noStrike">
              <a:solidFill>
                <a:schemeClr val="dk1"/>
              </a:solidFill>
              <a:latin typeface="Calibri"/>
              <a:ea typeface="Calibri"/>
              <a:cs typeface="Calibri"/>
              <a:sym typeface="Calibri"/>
            </a:endParaRPr>
          </a:p>
        </p:txBody>
      </p:sp>
      <p:sp>
        <p:nvSpPr>
          <p:cNvPr id="240" name="Google Shape;240;p21"/>
          <p:cNvSpPr/>
          <p:nvPr/>
        </p:nvSpPr>
        <p:spPr>
          <a:xfrm>
            <a:off x="4937760" y="1645920"/>
            <a:ext cx="35664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5A12"/>
              </a:buClr>
              <a:buSzPts val="1100"/>
              <a:buFont typeface="Calibri"/>
              <a:buNone/>
            </a:pPr>
            <a:r>
              <a:rPr b="1" i="0" lang="en" sz="1100" u="none" cap="none" strike="noStrike">
                <a:solidFill>
                  <a:srgbClr val="8A5A12"/>
                </a:solidFill>
                <a:latin typeface="Calibri"/>
                <a:ea typeface="Calibri"/>
                <a:cs typeface="Calibri"/>
                <a:sym typeface="Calibri"/>
              </a:rPr>
              <a:t>✗  Cycle as the modelling unit</a:t>
            </a:r>
            <a:endParaRPr b="0" i="0" sz="1100" u="none" cap="none" strike="noStrike">
              <a:solidFill>
                <a:schemeClr val="dk1"/>
              </a:solidFill>
              <a:latin typeface="Calibri"/>
              <a:ea typeface="Calibri"/>
              <a:cs typeface="Calibri"/>
              <a:sym typeface="Calibri"/>
            </a:endParaRPr>
          </a:p>
        </p:txBody>
      </p:sp>
      <p:sp>
        <p:nvSpPr>
          <p:cNvPr id="241" name="Google Shape;241;p21"/>
          <p:cNvSpPr/>
          <p:nvPr/>
        </p:nvSpPr>
        <p:spPr>
          <a:xfrm>
            <a:off x="5191506" y="1892808"/>
            <a:ext cx="33261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A14"/>
              </a:buClr>
              <a:buSzPts val="900"/>
              <a:buFont typeface="Calibri"/>
              <a:buNone/>
            </a:pPr>
            <a:r>
              <a:rPr b="0" i="0" lang="en" sz="900" u="none" cap="none" strike="noStrike">
                <a:solidFill>
                  <a:srgbClr val="6B4A14"/>
                </a:solidFill>
                <a:latin typeface="Calibri"/>
                <a:ea typeface="Calibri"/>
                <a:cs typeface="Calibri"/>
                <a:sym typeface="Calibri"/>
              </a:rPr>
              <a:t>Only 3 of 10,974 cycles fall inside a fault, because failure stops the cycling. Demoted to a feature source.</a:t>
            </a:r>
            <a:endParaRPr b="0" i="0" sz="900" u="none" cap="none" strike="noStrike">
              <a:solidFill>
                <a:schemeClr val="dk1"/>
              </a:solidFill>
              <a:latin typeface="Calibri"/>
              <a:ea typeface="Calibri"/>
              <a:cs typeface="Calibri"/>
              <a:sym typeface="Calibri"/>
            </a:endParaRPr>
          </a:p>
        </p:txBody>
      </p:sp>
      <p:sp>
        <p:nvSpPr>
          <p:cNvPr id="242" name="Google Shape;242;p21"/>
          <p:cNvSpPr/>
          <p:nvPr/>
        </p:nvSpPr>
        <p:spPr>
          <a:xfrm>
            <a:off x="4937760" y="2523744"/>
            <a:ext cx="35664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5A12"/>
              </a:buClr>
              <a:buSzPts val="1100"/>
              <a:buFont typeface="Calibri"/>
              <a:buNone/>
            </a:pPr>
            <a:r>
              <a:rPr b="1" i="0" lang="en" sz="1100" u="none" cap="none" strike="noStrike">
                <a:solidFill>
                  <a:srgbClr val="8A5A12"/>
                </a:solidFill>
                <a:latin typeface="Calibri"/>
                <a:ea typeface="Calibri"/>
                <a:cs typeface="Calibri"/>
                <a:sym typeface="Calibri"/>
              </a:rPr>
              <a:t>✗  Isolation Forest on all features</a:t>
            </a:r>
            <a:endParaRPr b="0" i="0" sz="1100" u="none" cap="none" strike="noStrike">
              <a:solidFill>
                <a:schemeClr val="dk1"/>
              </a:solidFill>
              <a:latin typeface="Calibri"/>
              <a:ea typeface="Calibri"/>
              <a:cs typeface="Calibri"/>
              <a:sym typeface="Calibri"/>
            </a:endParaRPr>
          </a:p>
        </p:txBody>
      </p:sp>
      <p:sp>
        <p:nvSpPr>
          <p:cNvPr id="243" name="Google Shape;243;p21"/>
          <p:cNvSpPr/>
          <p:nvPr/>
        </p:nvSpPr>
        <p:spPr>
          <a:xfrm>
            <a:off x="5191506" y="2770632"/>
            <a:ext cx="33261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A14"/>
              </a:buClr>
              <a:buSzPts val="900"/>
              <a:buFont typeface="Calibri"/>
              <a:buNone/>
            </a:pPr>
            <a:r>
              <a:rPr b="0" i="0" lang="en" sz="900" u="none" cap="none" strike="noStrike">
                <a:solidFill>
                  <a:srgbClr val="6B4A14"/>
                </a:solidFill>
                <a:latin typeface="Calibri"/>
                <a:ea typeface="Calibri"/>
                <a:cs typeface="Calibri"/>
                <a:sym typeface="Calibri"/>
              </a:rPr>
              <a:t>F1 0.31, worse than a one-line threshold. Cause: seasonal drift plus feature dilution.</a:t>
            </a:r>
            <a:endParaRPr b="0" i="0" sz="900" u="none" cap="none" strike="noStrike">
              <a:solidFill>
                <a:schemeClr val="dk1"/>
              </a:solidFill>
              <a:latin typeface="Calibri"/>
              <a:ea typeface="Calibri"/>
              <a:cs typeface="Calibri"/>
              <a:sym typeface="Calibri"/>
            </a:endParaRPr>
          </a:p>
        </p:txBody>
      </p:sp>
      <p:sp>
        <p:nvSpPr>
          <p:cNvPr id="244" name="Google Shape;244;p21"/>
          <p:cNvSpPr/>
          <p:nvPr/>
        </p:nvSpPr>
        <p:spPr>
          <a:xfrm>
            <a:off x="4937760" y="3401568"/>
            <a:ext cx="3566400" cy="21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5A12"/>
              </a:buClr>
              <a:buSzPts val="1100"/>
              <a:buFont typeface="Calibri"/>
              <a:buNone/>
            </a:pPr>
            <a:r>
              <a:rPr b="1" i="0" lang="en" sz="1100" u="none" cap="none" strike="noStrike">
                <a:solidFill>
                  <a:srgbClr val="8A5A12"/>
                </a:solidFill>
                <a:latin typeface="Calibri"/>
                <a:ea typeface="Calibri"/>
                <a:cs typeface="Calibri"/>
                <a:sym typeface="Calibri"/>
              </a:rPr>
              <a:t>✗  Engineered precursor features</a:t>
            </a:r>
            <a:endParaRPr b="0" i="0" sz="1100" u="none" cap="none" strike="noStrike">
              <a:solidFill>
                <a:schemeClr val="dk1"/>
              </a:solidFill>
              <a:latin typeface="Calibri"/>
              <a:ea typeface="Calibri"/>
              <a:cs typeface="Calibri"/>
              <a:sym typeface="Calibri"/>
            </a:endParaRPr>
          </a:p>
        </p:txBody>
      </p:sp>
      <p:sp>
        <p:nvSpPr>
          <p:cNvPr id="245" name="Google Shape;245;p21"/>
          <p:cNvSpPr/>
          <p:nvPr/>
        </p:nvSpPr>
        <p:spPr>
          <a:xfrm>
            <a:off x="5191506" y="3648456"/>
            <a:ext cx="3326100" cy="58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4A14"/>
              </a:buClr>
              <a:buSzPts val="900"/>
              <a:buFont typeface="Calibri"/>
              <a:buNone/>
            </a:pPr>
            <a:r>
              <a:rPr b="0" i="0" lang="en" sz="900" u="none" cap="none" strike="noStrike">
                <a:solidFill>
                  <a:srgbClr val="6B4A14"/>
                </a:solidFill>
                <a:latin typeface="Calibri"/>
                <a:ea typeface="Calibri"/>
                <a:cs typeface="Calibri"/>
                <a:sym typeface="Calibri"/>
              </a:rPr>
              <a:t>Ten drift-robust features made lead-time prediction slightly worse. At four events we cannot say why.</a:t>
            </a:r>
            <a:endParaRPr b="0" i="0" sz="900" u="none" cap="none" strike="noStrike">
              <a:solidFill>
                <a:schemeClr val="dk1"/>
              </a:solidFill>
              <a:latin typeface="Calibri"/>
              <a:ea typeface="Calibri"/>
              <a:cs typeface="Calibri"/>
              <a:sym typeface="Calibri"/>
            </a:endParaRPr>
          </a:p>
        </p:txBody>
      </p:sp>
      <p:sp>
        <p:nvSpPr>
          <p:cNvPr id="246" name="Google Shape;246;p21"/>
          <p:cNvSpPr/>
          <p:nvPr/>
        </p:nvSpPr>
        <p:spPr>
          <a:xfrm>
            <a:off x="480060" y="4423410"/>
            <a:ext cx="8181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900"/>
              <a:buFont typeface="Calibri"/>
              <a:buNone/>
            </a:pPr>
            <a:r>
              <a:rPr b="1" i="1" lang="en" sz="900" u="none" cap="none" strike="noStrike">
                <a:solidFill>
                  <a:srgbClr val="12355B"/>
                </a:solidFill>
                <a:latin typeface="Calibri"/>
                <a:ea typeface="Calibri"/>
                <a:cs typeface="Calibri"/>
                <a:sym typeface="Calibri"/>
              </a:rPr>
              <a:t>The switch rule fired at the bar, not below it: </a:t>
            </a:r>
            <a:r>
              <a:rPr b="0" i="1" lang="en" sz="900" u="none" cap="none" strike="noStrike">
                <a:solidFill>
                  <a:srgbClr val="5A6472"/>
                </a:solidFill>
                <a:latin typeface="Calibri"/>
                <a:ea typeface="Calibri"/>
                <a:cs typeface="Calibri"/>
                <a:sym typeface="Calibri"/>
              </a:rPr>
              <a:t>3.0x vs 2.7x is inside one fold SD, so we resolved the tie conservatively and shipped the fallback. Six planned analyses were also cut, SHAP attribution first; report section 7.4 lists all of them.</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2"/>
          <p:cNvSpPr/>
          <p:nvPr/>
        </p:nvSpPr>
        <p:spPr>
          <a:xfrm>
            <a:off x="7749540" y="288036"/>
            <a:ext cx="912300" cy="260700"/>
          </a:xfrm>
          <a:prstGeom prst="roundRect">
            <a:avLst>
              <a:gd fmla="val 26316" name="adj"/>
            </a:avLst>
          </a:prstGeom>
          <a:solidFill>
            <a:srgbClr val="EAF0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3" name="Google Shape;253;p22"/>
          <p:cNvSpPr/>
          <p:nvPr/>
        </p:nvSpPr>
        <p:spPr>
          <a:xfrm>
            <a:off x="7749540" y="288036"/>
            <a:ext cx="9123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355B"/>
              </a:buClr>
              <a:buSzPts val="800"/>
              <a:buFont typeface="Calibri"/>
              <a:buNone/>
            </a:pPr>
            <a:r>
              <a:rPr b="1" i="0" lang="en" sz="800" u="none" cap="none" strike="noStrike">
                <a:solidFill>
                  <a:srgbClr val="12355B"/>
                </a:solidFill>
                <a:latin typeface="Calibri"/>
                <a:ea typeface="Calibri"/>
                <a:cs typeface="Calibri"/>
                <a:sym typeface="Calibri"/>
              </a:rPr>
              <a:t>NEXT</a:t>
            </a:r>
            <a:endParaRPr b="0" i="0" sz="800" u="none" cap="none" strike="noStrike">
              <a:solidFill>
                <a:schemeClr val="dk1"/>
              </a:solidFill>
              <a:latin typeface="Calibri"/>
              <a:ea typeface="Calibri"/>
              <a:cs typeface="Calibri"/>
              <a:sym typeface="Calibri"/>
            </a:endParaRPr>
          </a:p>
        </p:txBody>
      </p:sp>
      <p:sp>
        <p:nvSpPr>
          <p:cNvPr id="254" name="Google Shape;254;p22"/>
          <p:cNvSpPr/>
          <p:nvPr/>
        </p:nvSpPr>
        <p:spPr>
          <a:xfrm>
            <a:off x="480060" y="260604"/>
            <a:ext cx="6947100" cy="49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2500"/>
              <a:buFont typeface="Cambria"/>
              <a:buNone/>
            </a:pPr>
            <a:r>
              <a:rPr b="1" i="0" lang="en" sz="2500" u="none" cap="none" strike="noStrike">
                <a:solidFill>
                  <a:srgbClr val="12355B"/>
                </a:solidFill>
                <a:latin typeface="Cambria"/>
                <a:ea typeface="Cambria"/>
                <a:cs typeface="Cambria"/>
                <a:sym typeface="Cambria"/>
              </a:rPr>
              <a:t>Where This Goes Next</a:t>
            </a:r>
            <a:endParaRPr b="0" i="0" sz="2500" u="none" cap="none" strike="noStrike">
              <a:solidFill>
                <a:schemeClr val="dk1"/>
              </a:solidFill>
              <a:latin typeface="Calibri"/>
              <a:ea typeface="Calibri"/>
              <a:cs typeface="Calibri"/>
              <a:sym typeface="Calibri"/>
            </a:endParaRPr>
          </a:p>
        </p:txBody>
      </p:sp>
      <p:sp>
        <p:nvSpPr>
          <p:cNvPr id="255" name="Google Shape;255;p22"/>
          <p:cNvSpPr/>
          <p:nvPr/>
        </p:nvSpPr>
        <p:spPr>
          <a:xfrm>
            <a:off x="480060" y="768096"/>
            <a:ext cx="6947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1200"/>
              <a:buFont typeface="Calibri"/>
              <a:buNone/>
            </a:pPr>
            <a:r>
              <a:rPr b="0" i="1" lang="en" sz="1200" u="none" cap="none" strike="noStrike">
                <a:solidFill>
                  <a:srgbClr val="5A6472"/>
                </a:solidFill>
                <a:latin typeface="Calibri"/>
                <a:ea typeface="Calibri"/>
                <a:cs typeface="Calibri"/>
                <a:sym typeface="Calibri"/>
              </a:rPr>
              <a:t>Four directions, ordered by how much they would change the answer.</a:t>
            </a:r>
            <a:endParaRPr b="0" i="0" sz="1200" u="none" cap="none" strike="noStrike">
              <a:solidFill>
                <a:schemeClr val="dk1"/>
              </a:solidFill>
              <a:latin typeface="Calibri"/>
              <a:ea typeface="Calibri"/>
              <a:cs typeface="Calibri"/>
              <a:sym typeface="Calibri"/>
            </a:endParaRPr>
          </a:p>
        </p:txBody>
      </p:sp>
      <p:sp>
        <p:nvSpPr>
          <p:cNvPr id="256" name="Google Shape;256;p22"/>
          <p:cNvSpPr/>
          <p:nvPr/>
        </p:nvSpPr>
        <p:spPr>
          <a:xfrm>
            <a:off x="480060" y="1200150"/>
            <a:ext cx="4011900" cy="1474500"/>
          </a:xfrm>
          <a:prstGeom prst="roundRect">
            <a:avLst>
              <a:gd fmla="val 2791"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7" name="Google Shape;257;p22"/>
          <p:cNvSpPr/>
          <p:nvPr/>
        </p:nvSpPr>
        <p:spPr>
          <a:xfrm>
            <a:off x="685800" y="1392174"/>
            <a:ext cx="315600" cy="315600"/>
          </a:xfrm>
          <a:prstGeom prst="ellipse">
            <a:avLst/>
          </a:prstGeom>
          <a:solidFill>
            <a:srgbClr val="1B9E7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8" name="Google Shape;258;p22"/>
          <p:cNvSpPr/>
          <p:nvPr/>
        </p:nvSpPr>
        <p:spPr>
          <a:xfrm>
            <a:off x="685800" y="1392174"/>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259" name="Google Shape;259;p22"/>
          <p:cNvSpPr/>
          <p:nvPr/>
        </p:nvSpPr>
        <p:spPr>
          <a:xfrm>
            <a:off x="1110996" y="1378458"/>
            <a:ext cx="3223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200"/>
              <a:buFont typeface="Calibri"/>
              <a:buNone/>
            </a:pPr>
            <a:r>
              <a:rPr b="1" i="0" lang="en" sz="1200" u="none" cap="none" strike="noStrike">
                <a:solidFill>
                  <a:srgbClr val="12355B"/>
                </a:solidFill>
                <a:latin typeface="Calibri"/>
                <a:ea typeface="Calibri"/>
                <a:cs typeface="Calibri"/>
                <a:sym typeface="Calibri"/>
              </a:rPr>
              <a:t>Instrument cycle timing directly</a:t>
            </a:r>
            <a:endParaRPr b="0" i="0" sz="1200" u="none" cap="none" strike="noStrike">
              <a:solidFill>
                <a:schemeClr val="dk1"/>
              </a:solidFill>
              <a:latin typeface="Calibri"/>
              <a:ea typeface="Calibri"/>
              <a:cs typeface="Calibri"/>
              <a:sym typeface="Calibri"/>
            </a:endParaRPr>
          </a:p>
        </p:txBody>
      </p:sp>
      <p:sp>
        <p:nvSpPr>
          <p:cNvPr id="260" name="Google Shape;260;p22"/>
          <p:cNvSpPr/>
          <p:nvPr/>
        </p:nvSpPr>
        <p:spPr>
          <a:xfrm>
            <a:off x="1110996" y="1693926"/>
            <a:ext cx="3223500" cy="89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The strongest early signal is cycle frequency, which we recovered indirectly from a 10 s digital flag. A dedicated cycle-event log at source would sharpen it substantially, and costs almost nothing to add.</a:t>
            </a:r>
            <a:endParaRPr b="0" i="0" sz="900" u="none" cap="none" strike="noStrike">
              <a:solidFill>
                <a:schemeClr val="dk1"/>
              </a:solidFill>
              <a:latin typeface="Calibri"/>
              <a:ea typeface="Calibri"/>
              <a:cs typeface="Calibri"/>
              <a:sym typeface="Calibri"/>
            </a:endParaRPr>
          </a:p>
        </p:txBody>
      </p:sp>
      <p:sp>
        <p:nvSpPr>
          <p:cNvPr id="261" name="Google Shape;261;p22"/>
          <p:cNvSpPr/>
          <p:nvPr/>
        </p:nvSpPr>
        <p:spPr>
          <a:xfrm>
            <a:off x="4697730" y="1200150"/>
            <a:ext cx="4011900" cy="1474500"/>
          </a:xfrm>
          <a:prstGeom prst="roundRect">
            <a:avLst>
              <a:gd fmla="val 2791"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2" name="Google Shape;262;p22"/>
          <p:cNvSpPr/>
          <p:nvPr/>
        </p:nvSpPr>
        <p:spPr>
          <a:xfrm>
            <a:off x="4903470" y="1392174"/>
            <a:ext cx="315600" cy="315600"/>
          </a:xfrm>
          <a:prstGeom prst="ellipse">
            <a:avLst/>
          </a:prstGeom>
          <a:solidFill>
            <a:srgbClr val="E8A33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3" name="Google Shape;263;p22"/>
          <p:cNvSpPr/>
          <p:nvPr/>
        </p:nvSpPr>
        <p:spPr>
          <a:xfrm>
            <a:off x="4903470" y="1392174"/>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264" name="Google Shape;264;p22"/>
          <p:cNvSpPr/>
          <p:nvPr/>
        </p:nvSpPr>
        <p:spPr>
          <a:xfrm>
            <a:off x="5328666" y="1378458"/>
            <a:ext cx="3223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200"/>
              <a:buFont typeface="Calibri"/>
              <a:buNone/>
            </a:pPr>
            <a:r>
              <a:rPr b="1" i="0" lang="en" sz="1200" u="none" cap="none" strike="noStrike">
                <a:solidFill>
                  <a:srgbClr val="12355B"/>
                </a:solidFill>
                <a:latin typeface="Calibri"/>
                <a:ea typeface="Calibri"/>
                <a:cs typeface="Calibri"/>
                <a:sym typeface="Calibri"/>
              </a:rPr>
              <a:t>Get more events</a:t>
            </a:r>
            <a:endParaRPr b="0" i="0" sz="1200" u="none" cap="none" strike="noStrike">
              <a:solidFill>
                <a:schemeClr val="dk1"/>
              </a:solidFill>
              <a:latin typeface="Calibri"/>
              <a:ea typeface="Calibri"/>
              <a:cs typeface="Calibri"/>
              <a:sym typeface="Calibri"/>
            </a:endParaRPr>
          </a:p>
        </p:txBody>
      </p:sp>
      <p:sp>
        <p:nvSpPr>
          <p:cNvPr id="265" name="Google Shape;265;p22"/>
          <p:cNvSpPr/>
          <p:nvPr/>
        </p:nvSpPr>
        <p:spPr>
          <a:xfrm>
            <a:off x="5328666" y="1693926"/>
            <a:ext cx="3223500" cy="89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Every supervised limit here is a four-event limit, not a method limit. Pooling MetroPT-1 and MetroPT-2, which cover other vehicles and oil-leak faults, is the highest-value next step.</a:t>
            </a:r>
            <a:endParaRPr b="0" i="0" sz="900" u="none" cap="none" strike="noStrike">
              <a:solidFill>
                <a:schemeClr val="dk1"/>
              </a:solidFill>
              <a:latin typeface="Calibri"/>
              <a:ea typeface="Calibri"/>
              <a:cs typeface="Calibri"/>
              <a:sym typeface="Calibri"/>
            </a:endParaRPr>
          </a:p>
        </p:txBody>
      </p:sp>
      <p:sp>
        <p:nvSpPr>
          <p:cNvPr id="266" name="Google Shape;266;p22"/>
          <p:cNvSpPr/>
          <p:nvPr/>
        </p:nvSpPr>
        <p:spPr>
          <a:xfrm>
            <a:off x="480060" y="2846070"/>
            <a:ext cx="4011900" cy="1474500"/>
          </a:xfrm>
          <a:prstGeom prst="roundRect">
            <a:avLst>
              <a:gd fmla="val 2791"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7" name="Google Shape;267;p22"/>
          <p:cNvSpPr/>
          <p:nvPr/>
        </p:nvSpPr>
        <p:spPr>
          <a:xfrm>
            <a:off x="685800" y="3038094"/>
            <a:ext cx="315600" cy="315600"/>
          </a:xfrm>
          <a:prstGeom prst="ellipse">
            <a:avLst/>
          </a:prstGeom>
          <a:solidFill>
            <a:srgbClr val="12355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8" name="Google Shape;268;p22"/>
          <p:cNvSpPr/>
          <p:nvPr/>
        </p:nvSpPr>
        <p:spPr>
          <a:xfrm>
            <a:off x="685800" y="3038094"/>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269" name="Google Shape;269;p22"/>
          <p:cNvSpPr/>
          <p:nvPr/>
        </p:nvSpPr>
        <p:spPr>
          <a:xfrm>
            <a:off x="1110996" y="3024378"/>
            <a:ext cx="3223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200"/>
              <a:buFont typeface="Calibri"/>
              <a:buNone/>
            </a:pPr>
            <a:r>
              <a:rPr b="1" i="0" lang="en" sz="1200" u="none" cap="none" strike="noStrike">
                <a:solidFill>
                  <a:srgbClr val="12355B"/>
                </a:solidFill>
                <a:latin typeface="Calibri"/>
                <a:ea typeface="Calibri"/>
                <a:cs typeface="Calibri"/>
                <a:sym typeface="Calibri"/>
              </a:rPr>
              <a:t>Real-time dashboard</a:t>
            </a:r>
            <a:endParaRPr b="0" i="0" sz="1200" u="none" cap="none" strike="noStrike">
              <a:solidFill>
                <a:schemeClr val="dk1"/>
              </a:solidFill>
              <a:latin typeface="Calibri"/>
              <a:ea typeface="Calibri"/>
              <a:cs typeface="Calibri"/>
              <a:sym typeface="Calibri"/>
            </a:endParaRPr>
          </a:p>
        </p:txBody>
      </p:sp>
      <p:sp>
        <p:nvSpPr>
          <p:cNvPr id="270" name="Google Shape;270;p22"/>
          <p:cNvSpPr/>
          <p:nvPr/>
        </p:nvSpPr>
        <p:spPr>
          <a:xfrm>
            <a:off x="1110996" y="3339846"/>
            <a:ext cx="3223500" cy="89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At 0.008 ms per window the scorer is free. A streaming deployment showing regime, anomaly score and cycle-rate CUSUM would close the loop to the maintenance desk.</a:t>
            </a:r>
            <a:endParaRPr b="0" i="0" sz="900" u="none" cap="none" strike="noStrike">
              <a:solidFill>
                <a:schemeClr val="dk1"/>
              </a:solidFill>
              <a:latin typeface="Calibri"/>
              <a:ea typeface="Calibri"/>
              <a:cs typeface="Calibri"/>
              <a:sym typeface="Calibri"/>
            </a:endParaRPr>
          </a:p>
        </p:txBody>
      </p:sp>
      <p:sp>
        <p:nvSpPr>
          <p:cNvPr id="271" name="Google Shape;271;p22"/>
          <p:cNvSpPr/>
          <p:nvPr/>
        </p:nvSpPr>
        <p:spPr>
          <a:xfrm>
            <a:off x="4697730" y="2846070"/>
            <a:ext cx="4011900" cy="1474500"/>
          </a:xfrm>
          <a:prstGeom prst="roundRect">
            <a:avLst>
              <a:gd fmla="val 2791" name="adj"/>
            </a:avLst>
          </a:prstGeom>
          <a:solidFill>
            <a:srgbClr val="EAF0F6"/>
          </a:solidFill>
          <a:ln cap="flat" cmpd="sng" w="7150">
            <a:solidFill>
              <a:srgbClr val="DCE6E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2" name="Google Shape;272;p22"/>
          <p:cNvSpPr/>
          <p:nvPr/>
        </p:nvSpPr>
        <p:spPr>
          <a:xfrm>
            <a:off x="4903470" y="3038094"/>
            <a:ext cx="315600" cy="315600"/>
          </a:xfrm>
          <a:prstGeom prst="ellipse">
            <a:avLst/>
          </a:prstGeom>
          <a:solidFill>
            <a:srgbClr val="5A647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3" name="Google Shape;273;p22"/>
          <p:cNvSpPr/>
          <p:nvPr/>
        </p:nvSpPr>
        <p:spPr>
          <a:xfrm>
            <a:off x="4903470" y="3038094"/>
            <a:ext cx="315600" cy="315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274" name="Google Shape;274;p22"/>
          <p:cNvSpPr/>
          <p:nvPr/>
        </p:nvSpPr>
        <p:spPr>
          <a:xfrm>
            <a:off x="5328666" y="3024378"/>
            <a:ext cx="32235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200"/>
              <a:buFont typeface="Calibri"/>
              <a:buNone/>
            </a:pPr>
            <a:r>
              <a:rPr b="1" i="0" lang="en" sz="1200" u="none" cap="none" strike="noStrike">
                <a:solidFill>
                  <a:srgbClr val="12355B"/>
                </a:solidFill>
                <a:latin typeface="Calibri"/>
                <a:ea typeface="Calibri"/>
                <a:cs typeface="Calibri"/>
                <a:sym typeface="Calibri"/>
              </a:rPr>
              <a:t>Transfer to other fleets</a:t>
            </a:r>
            <a:endParaRPr b="0" i="0" sz="1200" u="none" cap="none" strike="noStrike">
              <a:solidFill>
                <a:schemeClr val="dk1"/>
              </a:solidFill>
              <a:latin typeface="Calibri"/>
              <a:ea typeface="Calibri"/>
              <a:cs typeface="Calibri"/>
              <a:sym typeface="Calibri"/>
            </a:endParaRPr>
          </a:p>
        </p:txBody>
      </p:sp>
      <p:sp>
        <p:nvSpPr>
          <p:cNvPr id="275" name="Google Shape;275;p22"/>
          <p:cNvSpPr/>
          <p:nvPr/>
        </p:nvSpPr>
        <p:spPr>
          <a:xfrm>
            <a:off x="5328666" y="3339846"/>
            <a:ext cx="3223500" cy="89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2"/>
              </a:buClr>
              <a:buSzPts val="900"/>
              <a:buFont typeface="Calibri"/>
              <a:buNone/>
            </a:pPr>
            <a:r>
              <a:rPr b="0" i="0" lang="en" sz="900" u="none" cap="none" strike="noStrike">
                <a:solidFill>
                  <a:srgbClr val="5A6472"/>
                </a:solidFill>
                <a:latin typeface="Calibri"/>
                <a:ea typeface="Calibri"/>
                <a:cs typeface="Calibri"/>
                <a:sym typeface="Calibri"/>
              </a:rPr>
              <a:t>Test whether cycle-frequency features generalise across compressors and transit systems, or whether each unit needs its own baseline.</a:t>
            </a:r>
            <a:endParaRPr b="0" i="0" sz="900" u="none" cap="none" strike="noStrike">
              <a:solidFill>
                <a:schemeClr val="dk1"/>
              </a:solidFill>
              <a:latin typeface="Calibri"/>
              <a:ea typeface="Calibri"/>
              <a:cs typeface="Calibri"/>
              <a:sym typeface="Calibri"/>
            </a:endParaRPr>
          </a:p>
        </p:txBody>
      </p:sp>
      <p:sp>
        <p:nvSpPr>
          <p:cNvPr id="276" name="Google Shape;276;p22"/>
          <p:cNvSpPr/>
          <p:nvPr/>
        </p:nvSpPr>
        <p:spPr>
          <a:xfrm>
            <a:off x="480060" y="4560570"/>
            <a:ext cx="818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355B"/>
              </a:buClr>
              <a:buSzPts val="1000"/>
              <a:buFont typeface="Calibri"/>
              <a:buNone/>
            </a:pPr>
            <a:r>
              <a:rPr b="1" i="1" lang="en" sz="1000" u="none" cap="none" strike="noStrike">
                <a:solidFill>
                  <a:srgbClr val="12355B"/>
                </a:solidFill>
                <a:latin typeface="Calibri"/>
                <a:ea typeface="Calibri"/>
                <a:cs typeface="Calibri"/>
                <a:sym typeface="Calibri"/>
              </a:rPr>
              <a:t>Note the ordering. Two of the top three are about better data. Eight weeks established that the models were not the constraint.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038"/>
        </a:solidFill>
      </p:bgPr>
    </p:bg>
    <p:spTree>
      <p:nvGrpSpPr>
        <p:cNvPr id="281" name="Shape 281"/>
        <p:cNvGrpSpPr/>
        <p:nvPr/>
      </p:nvGrpSpPr>
      <p:grpSpPr>
        <a:xfrm>
          <a:off x="0" y="0"/>
          <a:ext cx="0" cy="0"/>
          <a:chOff x="0" y="0"/>
          <a:chExt cx="0" cy="0"/>
        </a:xfrm>
      </p:grpSpPr>
      <p:sp>
        <p:nvSpPr>
          <p:cNvPr id="282" name="Google Shape;282;p23"/>
          <p:cNvSpPr/>
          <p:nvPr/>
        </p:nvSpPr>
        <p:spPr>
          <a:xfrm>
            <a:off x="-1165860" y="2948940"/>
            <a:ext cx="3291900" cy="3291900"/>
          </a:xfrm>
          <a:prstGeom prst="ellipse">
            <a:avLst/>
          </a:prstGeom>
          <a:solidFill>
            <a:srgbClr val="12355B">
              <a:alpha val="5490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3" name="Google Shape;283;p23"/>
          <p:cNvSpPr/>
          <p:nvPr/>
        </p:nvSpPr>
        <p:spPr>
          <a:xfrm>
            <a:off x="7818120" y="-960120"/>
            <a:ext cx="2880600" cy="2880600"/>
          </a:xfrm>
          <a:prstGeom prst="ellipse">
            <a:avLst/>
          </a:prstGeom>
          <a:solidFill>
            <a:srgbClr val="E8A33D">
              <a:alpha val="1490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4" name="Google Shape;284;p23"/>
          <p:cNvSpPr/>
          <p:nvPr/>
        </p:nvSpPr>
        <p:spPr>
          <a:xfrm>
            <a:off x="480060" y="480060"/>
            <a:ext cx="6858000" cy="48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Cambria"/>
              <a:buNone/>
            </a:pPr>
            <a:r>
              <a:rPr b="1" i="0" lang="en" sz="2700" u="none" cap="none" strike="noStrike">
                <a:solidFill>
                  <a:srgbClr val="FFFFFF"/>
                </a:solidFill>
                <a:latin typeface="Cambria"/>
                <a:ea typeface="Cambria"/>
                <a:cs typeface="Cambria"/>
                <a:sym typeface="Cambria"/>
              </a:rPr>
              <a:t>What We Learned</a:t>
            </a:r>
            <a:endParaRPr b="0" i="0" sz="2700" u="none" cap="none" strike="noStrike">
              <a:solidFill>
                <a:schemeClr val="dk1"/>
              </a:solidFill>
              <a:latin typeface="Calibri"/>
              <a:ea typeface="Calibri"/>
              <a:cs typeface="Calibri"/>
              <a:sym typeface="Calibri"/>
            </a:endParaRPr>
          </a:p>
        </p:txBody>
      </p:sp>
      <p:sp>
        <p:nvSpPr>
          <p:cNvPr id="285" name="Google Shape;285;p23"/>
          <p:cNvSpPr/>
          <p:nvPr/>
        </p:nvSpPr>
        <p:spPr>
          <a:xfrm>
            <a:off x="480060" y="973836"/>
            <a:ext cx="6858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3C8"/>
              </a:buClr>
              <a:buSzPts val="1100"/>
              <a:buFont typeface="Calibri"/>
              <a:buNone/>
            </a:pPr>
            <a:r>
              <a:rPr b="0" i="1" lang="en" sz="1100" u="none" cap="none" strike="noStrike">
                <a:solidFill>
                  <a:srgbClr val="9FB3C8"/>
                </a:solidFill>
                <a:latin typeface="Calibri"/>
                <a:ea typeface="Calibri"/>
                <a:cs typeface="Calibri"/>
                <a:sym typeface="Calibri"/>
              </a:rPr>
              <a:t>About the machine, and about doing this kind of work.</a:t>
            </a:r>
            <a:endParaRPr b="0" i="0" sz="1100" u="none" cap="none" strike="noStrike">
              <a:solidFill>
                <a:schemeClr val="dk1"/>
              </a:solidFill>
              <a:latin typeface="Calibri"/>
              <a:ea typeface="Calibri"/>
              <a:cs typeface="Calibri"/>
              <a:sym typeface="Calibri"/>
            </a:endParaRPr>
          </a:p>
        </p:txBody>
      </p:sp>
      <p:sp>
        <p:nvSpPr>
          <p:cNvPr id="286" name="Google Shape;286;p23"/>
          <p:cNvSpPr/>
          <p:nvPr/>
        </p:nvSpPr>
        <p:spPr>
          <a:xfrm>
            <a:off x="480060" y="1371600"/>
            <a:ext cx="4011900" cy="1131600"/>
          </a:xfrm>
          <a:prstGeom prst="roundRect">
            <a:avLst>
              <a:gd fmla="val 3636" name="adj"/>
            </a:avLst>
          </a:prstGeom>
          <a:solidFill>
            <a:srgbClr val="163E68"/>
          </a:solidFill>
          <a:ln cap="flat" cmpd="sng" w="7150">
            <a:solidFill>
              <a:srgbClr val="27527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7" name="Google Shape;287;p23"/>
          <p:cNvSpPr/>
          <p:nvPr/>
        </p:nvSpPr>
        <p:spPr>
          <a:xfrm>
            <a:off x="720090" y="1508760"/>
            <a:ext cx="34977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 sz="1100" u="none" cap="none" strike="noStrike">
                <a:solidFill>
                  <a:srgbClr val="E8A33D"/>
                </a:solidFill>
                <a:latin typeface="Calibri"/>
                <a:ea typeface="Calibri"/>
                <a:cs typeface="Calibri"/>
                <a:sym typeface="Calibri"/>
              </a:rPr>
              <a:t>About the compressor</a:t>
            </a:r>
            <a:endParaRPr b="0" i="0" sz="1100" u="none" cap="none" strike="noStrike">
              <a:solidFill>
                <a:schemeClr val="dk1"/>
              </a:solidFill>
              <a:latin typeface="Calibri"/>
              <a:ea typeface="Calibri"/>
              <a:cs typeface="Calibri"/>
              <a:sym typeface="Calibri"/>
            </a:endParaRPr>
          </a:p>
        </p:txBody>
      </p:sp>
      <p:sp>
        <p:nvSpPr>
          <p:cNvPr id="288" name="Google Shape;288;p23"/>
          <p:cNvSpPr/>
          <p:nvPr/>
        </p:nvSpPr>
        <p:spPr>
          <a:xfrm>
            <a:off x="720090" y="1783080"/>
            <a:ext cx="3566400" cy="65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C3D6"/>
              </a:buClr>
              <a:buSzPts val="900"/>
              <a:buFont typeface="Calibri"/>
              <a:buNone/>
            </a:pPr>
            <a:r>
              <a:rPr b="0" i="0" lang="en" sz="900" u="none" cap="none" strike="noStrike">
                <a:solidFill>
                  <a:srgbClr val="AFC3D6"/>
                </a:solidFill>
                <a:latin typeface="Calibri"/>
                <a:ea typeface="Calibri"/>
                <a:cs typeface="Calibri"/>
                <a:sym typeface="Calibri"/>
              </a:rPr>
              <a:t>Failure has a three-stage signature. Cycling frequency rises 20% before onset and collapses 95% at onset, while duty cycle stays flat until the fault is already present.</a:t>
            </a:r>
            <a:endParaRPr b="0" i="0" sz="900" u="none" cap="none" strike="noStrike">
              <a:solidFill>
                <a:schemeClr val="dk1"/>
              </a:solidFill>
              <a:latin typeface="Calibri"/>
              <a:ea typeface="Calibri"/>
              <a:cs typeface="Calibri"/>
              <a:sym typeface="Calibri"/>
            </a:endParaRPr>
          </a:p>
        </p:txBody>
      </p:sp>
      <p:sp>
        <p:nvSpPr>
          <p:cNvPr id="289" name="Google Shape;289;p23"/>
          <p:cNvSpPr/>
          <p:nvPr/>
        </p:nvSpPr>
        <p:spPr>
          <a:xfrm>
            <a:off x="4697730" y="1371600"/>
            <a:ext cx="4011900" cy="1131600"/>
          </a:xfrm>
          <a:prstGeom prst="roundRect">
            <a:avLst>
              <a:gd fmla="val 3636" name="adj"/>
            </a:avLst>
          </a:prstGeom>
          <a:solidFill>
            <a:srgbClr val="163E68"/>
          </a:solidFill>
          <a:ln cap="flat" cmpd="sng" w="7150">
            <a:solidFill>
              <a:srgbClr val="27527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0" name="Google Shape;290;p23"/>
          <p:cNvSpPr/>
          <p:nvPr/>
        </p:nvSpPr>
        <p:spPr>
          <a:xfrm>
            <a:off x="4937760" y="1508760"/>
            <a:ext cx="34977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 sz="1100" u="none" cap="none" strike="noStrike">
                <a:solidFill>
                  <a:srgbClr val="E8A33D"/>
                </a:solidFill>
                <a:latin typeface="Calibri"/>
                <a:ea typeface="Calibri"/>
                <a:cs typeface="Calibri"/>
                <a:sym typeface="Calibri"/>
              </a:rPr>
              <a:t>About the modelling</a:t>
            </a:r>
            <a:endParaRPr b="0" i="0" sz="1100" u="none" cap="none" strike="noStrike">
              <a:solidFill>
                <a:schemeClr val="dk1"/>
              </a:solidFill>
              <a:latin typeface="Calibri"/>
              <a:ea typeface="Calibri"/>
              <a:cs typeface="Calibri"/>
              <a:sym typeface="Calibri"/>
            </a:endParaRPr>
          </a:p>
        </p:txBody>
      </p:sp>
      <p:sp>
        <p:nvSpPr>
          <p:cNvPr id="291" name="Google Shape;291;p23"/>
          <p:cNvSpPr/>
          <p:nvPr/>
        </p:nvSpPr>
        <p:spPr>
          <a:xfrm>
            <a:off x="4937760" y="1783080"/>
            <a:ext cx="3566400" cy="65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C3D6"/>
              </a:buClr>
              <a:buSzPts val="900"/>
              <a:buFont typeface="Calibri"/>
              <a:buNone/>
            </a:pPr>
            <a:r>
              <a:rPr b="0" i="0" lang="en" sz="900" u="none" cap="none" strike="noStrike">
                <a:solidFill>
                  <a:srgbClr val="AFC3D6"/>
                </a:solidFill>
                <a:latin typeface="Calibri"/>
                <a:ea typeface="Calibri"/>
                <a:cs typeface="Calibri"/>
                <a:sym typeface="Calibri"/>
              </a:rPr>
              <a:t>A one-line physical threshold beat a 41-feature Isolation Forest. Domain reasoning outperformed model capacity at every stage of this project.</a:t>
            </a:r>
            <a:endParaRPr b="0" i="0" sz="900" u="none" cap="none" strike="noStrike">
              <a:solidFill>
                <a:schemeClr val="dk1"/>
              </a:solidFill>
              <a:latin typeface="Calibri"/>
              <a:ea typeface="Calibri"/>
              <a:cs typeface="Calibri"/>
              <a:sym typeface="Calibri"/>
            </a:endParaRPr>
          </a:p>
        </p:txBody>
      </p:sp>
      <p:sp>
        <p:nvSpPr>
          <p:cNvPr id="292" name="Google Shape;292;p23"/>
          <p:cNvSpPr/>
          <p:nvPr/>
        </p:nvSpPr>
        <p:spPr>
          <a:xfrm>
            <a:off x="480060" y="2640330"/>
            <a:ext cx="4011900" cy="1131600"/>
          </a:xfrm>
          <a:prstGeom prst="roundRect">
            <a:avLst>
              <a:gd fmla="val 3636" name="adj"/>
            </a:avLst>
          </a:prstGeom>
          <a:solidFill>
            <a:srgbClr val="163E68"/>
          </a:solidFill>
          <a:ln cap="flat" cmpd="sng" w="7150">
            <a:solidFill>
              <a:srgbClr val="27527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3" name="Google Shape;293;p23"/>
          <p:cNvSpPr/>
          <p:nvPr/>
        </p:nvSpPr>
        <p:spPr>
          <a:xfrm>
            <a:off x="720090" y="2777490"/>
            <a:ext cx="34977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 sz="1100" u="none" cap="none" strike="noStrike">
                <a:solidFill>
                  <a:srgbClr val="E8A33D"/>
                </a:solidFill>
                <a:latin typeface="Calibri"/>
                <a:ea typeface="Calibri"/>
                <a:cs typeface="Calibri"/>
                <a:sym typeface="Calibri"/>
              </a:rPr>
              <a:t>About the data</a:t>
            </a:r>
            <a:endParaRPr b="0" i="0" sz="1100" u="none" cap="none" strike="noStrike">
              <a:solidFill>
                <a:schemeClr val="dk1"/>
              </a:solidFill>
              <a:latin typeface="Calibri"/>
              <a:ea typeface="Calibri"/>
              <a:cs typeface="Calibri"/>
              <a:sym typeface="Calibri"/>
            </a:endParaRPr>
          </a:p>
        </p:txBody>
      </p:sp>
      <p:sp>
        <p:nvSpPr>
          <p:cNvPr id="294" name="Google Shape;294;p23"/>
          <p:cNvSpPr/>
          <p:nvPr/>
        </p:nvSpPr>
        <p:spPr>
          <a:xfrm>
            <a:off x="720090" y="3051810"/>
            <a:ext cx="3566400" cy="65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C3D6"/>
              </a:buClr>
              <a:buSzPts val="900"/>
              <a:buFont typeface="Calibri"/>
              <a:buNone/>
            </a:pPr>
            <a:r>
              <a:rPr b="0" i="0" lang="en" sz="900" u="none" cap="none" strike="noStrike">
                <a:solidFill>
                  <a:srgbClr val="AFC3D6"/>
                </a:solidFill>
                <a:latin typeface="Calibri"/>
                <a:ea typeface="Calibri"/>
                <a:cs typeface="Calibri"/>
                <a:sym typeface="Calibri"/>
              </a:rPr>
              <a:t>Two thirds of the continuous-run regime carries no maintenance report. Precision here is bounded by record-keeping, not by algorithms.</a:t>
            </a:r>
            <a:endParaRPr b="0" i="0" sz="900" u="none" cap="none" strike="noStrike">
              <a:solidFill>
                <a:schemeClr val="dk1"/>
              </a:solidFill>
              <a:latin typeface="Calibri"/>
              <a:ea typeface="Calibri"/>
              <a:cs typeface="Calibri"/>
              <a:sym typeface="Calibri"/>
            </a:endParaRPr>
          </a:p>
        </p:txBody>
      </p:sp>
      <p:sp>
        <p:nvSpPr>
          <p:cNvPr id="295" name="Google Shape;295;p23"/>
          <p:cNvSpPr/>
          <p:nvPr/>
        </p:nvSpPr>
        <p:spPr>
          <a:xfrm>
            <a:off x="4697730" y="2640330"/>
            <a:ext cx="4011900" cy="1131600"/>
          </a:xfrm>
          <a:prstGeom prst="roundRect">
            <a:avLst>
              <a:gd fmla="val 3636" name="adj"/>
            </a:avLst>
          </a:prstGeom>
          <a:solidFill>
            <a:srgbClr val="163E68"/>
          </a:solidFill>
          <a:ln cap="flat" cmpd="sng" w="7150">
            <a:solidFill>
              <a:srgbClr val="27527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6" name="Google Shape;296;p23"/>
          <p:cNvSpPr/>
          <p:nvPr/>
        </p:nvSpPr>
        <p:spPr>
          <a:xfrm>
            <a:off x="4937760" y="2777490"/>
            <a:ext cx="3497700" cy="24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33D"/>
              </a:buClr>
              <a:buSzPts val="1100"/>
              <a:buFont typeface="Calibri"/>
              <a:buNone/>
            </a:pPr>
            <a:r>
              <a:rPr b="1" i="0" lang="en" sz="1100" u="none" cap="none" strike="noStrike">
                <a:solidFill>
                  <a:srgbClr val="E8A33D"/>
                </a:solidFill>
                <a:latin typeface="Calibri"/>
                <a:ea typeface="Calibri"/>
                <a:cs typeface="Calibri"/>
                <a:sym typeface="Calibri"/>
              </a:rPr>
              <a:t>About the process</a:t>
            </a:r>
            <a:endParaRPr b="0" i="0" sz="1100" u="none" cap="none" strike="noStrike">
              <a:solidFill>
                <a:schemeClr val="dk1"/>
              </a:solidFill>
              <a:latin typeface="Calibri"/>
              <a:ea typeface="Calibri"/>
              <a:cs typeface="Calibri"/>
              <a:sym typeface="Calibri"/>
            </a:endParaRPr>
          </a:p>
        </p:txBody>
      </p:sp>
      <p:sp>
        <p:nvSpPr>
          <p:cNvPr id="297" name="Google Shape;297;p23"/>
          <p:cNvSpPr/>
          <p:nvPr/>
        </p:nvSpPr>
        <p:spPr>
          <a:xfrm>
            <a:off x="4937760" y="3051810"/>
            <a:ext cx="3566400" cy="65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FC3D6"/>
              </a:buClr>
              <a:buSzPts val="900"/>
              <a:buFont typeface="Calibri"/>
              <a:buNone/>
            </a:pPr>
            <a:r>
              <a:rPr b="0" i="0" lang="en" sz="900" u="none" cap="none" strike="noStrike">
                <a:solidFill>
                  <a:srgbClr val="AFC3D6"/>
                </a:solidFill>
                <a:latin typeface="Calibri"/>
                <a:ea typeface="Calibri"/>
                <a:cs typeface="Calibri"/>
                <a:sym typeface="Calibri"/>
              </a:rPr>
              <a:t>Two planned methods failed and were replaced. Writing the switch rule down before we knew the answer is what kept week 6 from becoming open-ended.</a:t>
            </a:r>
            <a:endParaRPr b="0" i="0" sz="900" u="none" cap="none" strike="noStrike">
              <a:solidFill>
                <a:schemeClr val="dk1"/>
              </a:solidFill>
              <a:latin typeface="Calibri"/>
              <a:ea typeface="Calibri"/>
              <a:cs typeface="Calibri"/>
              <a:sym typeface="Calibri"/>
            </a:endParaRPr>
          </a:p>
        </p:txBody>
      </p:sp>
      <p:sp>
        <p:nvSpPr>
          <p:cNvPr id="298" name="Google Shape;298;p23"/>
          <p:cNvSpPr/>
          <p:nvPr/>
        </p:nvSpPr>
        <p:spPr>
          <a:xfrm>
            <a:off x="480060" y="4011930"/>
            <a:ext cx="8160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Where this leaves a maintenance planner: a detector that essentially never misses a fault in progress, and an advisory warning that fires hours ahead on half of them. Half the problem, solved.</a:t>
            </a:r>
            <a:endParaRPr b="0" i="0" sz="1100" u="none" cap="none" strike="noStrike">
              <a:solidFill>
                <a:schemeClr val="dk1"/>
              </a:solidFill>
              <a:latin typeface="Calibri"/>
              <a:ea typeface="Calibri"/>
              <a:cs typeface="Calibri"/>
              <a:sym typeface="Calibri"/>
            </a:endParaRPr>
          </a:p>
        </p:txBody>
      </p:sp>
      <p:sp>
        <p:nvSpPr>
          <p:cNvPr id="299" name="Google Shape;299;p23"/>
          <p:cNvSpPr/>
          <p:nvPr/>
        </p:nvSpPr>
        <p:spPr>
          <a:xfrm>
            <a:off x="480060" y="4629150"/>
            <a:ext cx="61722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93A8"/>
              </a:buClr>
              <a:buSzPts val="800"/>
              <a:buFont typeface="Calibri"/>
              <a:buNone/>
            </a:pPr>
            <a:r>
              <a:rPr b="0" i="0" lang="en" sz="800" u="none" cap="none" strike="noStrike">
                <a:solidFill>
                  <a:srgbClr val="7E93A8"/>
                </a:solidFill>
                <a:latin typeface="Calibri"/>
                <a:ea typeface="Calibri"/>
                <a:cs typeface="Calibri"/>
                <a:sym typeface="Calibri"/>
              </a:rPr>
              <a:t>Joseph (Neil) Truskolaski  ·  MetroPT-3 Final Report</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