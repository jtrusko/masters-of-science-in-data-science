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6fa1d10da_0_7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6fa1d10da_0_7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f6fa1d10da_0_7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fa1d10da_0_7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6fa1d10da_0_7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6fa1d10da_0_7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fa1d10da_0_7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6fa1d10da_0_7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6fa1d10da_0_7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fa1d10da_0_81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6fa1d10da_0_81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6fa1d10da_0_81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fa1d10da_0_8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6fa1d10da_0_8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6fa1d10da_0_8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fa1d10da_0_8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6fa1d10da_0_8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6fa1d10da_0_8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fa1d10da_0_9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6fa1d10da_0_90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6fa1d10da_0_9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fa1d10da_0_9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6fa1d10da_0_9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6fa1d10da_0_9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6fa1d10da_0_9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6fa1d10da_0_94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6fa1d10da_0_9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fa1d10da_0_99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6fa1d10da_0_99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6fa1d10da_0_99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38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7132320" y="-1165860"/>
            <a:ext cx="3566400" cy="3566400"/>
          </a:xfrm>
          <a:prstGeom prst="ellipse">
            <a:avLst/>
          </a:prstGeom>
          <a:solidFill>
            <a:srgbClr val="12355B">
              <a:alpha val="549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8023860" y="3154680"/>
            <a:ext cx="2331600" cy="2331600"/>
          </a:xfrm>
          <a:prstGeom prst="ellipse">
            <a:avLst/>
          </a:prstGeom>
          <a:solidFill>
            <a:srgbClr val="E8A33D">
              <a:alpha val="180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6"/>
          <p:cNvSpPr/>
          <p:nvPr/>
        </p:nvSpPr>
        <p:spPr>
          <a:xfrm>
            <a:off x="480060" y="994410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PROJECT PROPOSAL  ·  DATA MINING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480060" y="1303020"/>
            <a:ext cx="6583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Predictive Maintenance for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Metro Climate &amp; Air Systems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480060" y="2482596"/>
            <a:ext cx="644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Contextual anomaly detection on 1.5M sensor readings from a metro Air Production Unit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480060" y="3236976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Joseph (Neil) Truskolaski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80060" y="34838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Department of Data Science  ·  University of Colorado Boulder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80060" y="3717036"/>
            <a:ext cx="589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A8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7E93A8"/>
                </a:solidFill>
                <a:latin typeface="Calibri"/>
                <a:ea typeface="Calibri"/>
                <a:cs typeface="Calibri"/>
                <a:sym typeface="Calibri"/>
              </a:rPr>
              <a:t>Dataset: MetroPT-3 (UCI ML Repository) · Porto Metro APU · Feb–Sep 2020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80060" y="4217670"/>
            <a:ext cx="150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1,516,948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80060" y="4512564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readings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2091690" y="4217670"/>
            <a:ext cx="150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091690" y="4512564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703320" y="4217670"/>
            <a:ext cx="150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213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703320" y="4512564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days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314950" y="4217670"/>
            <a:ext cx="150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314950" y="4512564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logged failures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Why This Matters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compressor fault reaches passengers long before it reaches a workshop.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80060" y="1110996"/>
            <a:ext cx="8181600" cy="726900"/>
          </a:xfrm>
          <a:prstGeom prst="roundRect">
            <a:avLst>
              <a:gd fmla="val 5660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72084" y="1316736"/>
            <a:ext cx="315600" cy="315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672084" y="1316736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131570" y="1357884"/>
            <a:ext cx="2263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Service reliability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429000" y="1248156"/>
            <a:ext cx="502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An unplanned APU failure strands a train mid-line. Recovery is measured in hours, not minutes, and cascades across the timetable.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80060" y="1961388"/>
            <a:ext cx="8181600" cy="726900"/>
          </a:xfrm>
          <a:prstGeom prst="roundRect">
            <a:avLst>
              <a:gd fmla="val 5660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672084" y="2167128"/>
            <a:ext cx="315600" cy="3156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72084" y="2167128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131570" y="2208276"/>
            <a:ext cx="2263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Passenger comfort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429000" y="2098548"/>
            <a:ext cx="502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APU supplies the pneumatic circuit behind climate control, doors and suspension. Air loss degrades cabin conditions before anyone reports a fault.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80060" y="2811780"/>
            <a:ext cx="8181600" cy="726900"/>
          </a:xfrm>
          <a:prstGeom prst="roundRect">
            <a:avLst>
              <a:gd fmla="val 5660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672084" y="3017520"/>
            <a:ext cx="315600" cy="3156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672084" y="3017520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131570" y="3058668"/>
            <a:ext cx="2263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Energy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429000" y="2948940"/>
            <a:ext cx="502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 the four logged failures the compressor ran under load 99.6% of the time versus 14.6% normally, </a:t>
            </a:r>
            <a:r>
              <a:rPr lang="en" sz="90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~6.8x increase in duty cycle, and a correspondingly large increase in energy drawn.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80060" y="3662172"/>
            <a:ext cx="8181600" cy="726900"/>
          </a:xfrm>
          <a:prstGeom prst="roundRect">
            <a:avLst>
              <a:gd fmla="val 5660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72084" y="3867912"/>
            <a:ext cx="315600" cy="315600"/>
          </a:xfrm>
          <a:prstGeom prst="ellipse">
            <a:avLst/>
          </a:prstGeom>
          <a:solidFill>
            <a:srgbClr val="1B9E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72084" y="3867912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131570" y="3909060"/>
            <a:ext cx="2263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Maintenance economics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429000" y="3799332"/>
            <a:ext cx="502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Calendar-based servicing either replaces healthy parts or arrives late. Condition-based scheduling targets the intervention window instead.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80060" y="4608576"/>
            <a:ext cx="8181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Problem statement: given only unlabelled multivariate sensor streams, detect degradation of the air production unit early enough and precisely enough to act 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Related Work and the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Research on this dataset converges from several directions. None of them closes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80060" y="1097280"/>
            <a:ext cx="2571900" cy="2126100"/>
          </a:xfrm>
          <a:prstGeom prst="roundRect">
            <a:avLst>
              <a:gd fmla="val 1935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685800" y="1289304"/>
            <a:ext cx="216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Physics &amp; rule-based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HVAC diagnostics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85800" y="1824228"/>
            <a:ext cx="216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ASHRAE RP-1043 style residual checks and expert rules.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85800" y="2414016"/>
            <a:ext cx="2160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Strong interpretability, but thresholds are tuned per unit and do not transfer across duty cycles.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57550" y="1097280"/>
            <a:ext cx="2571900" cy="2126100"/>
          </a:xfrm>
          <a:prstGeom prst="roundRect">
            <a:avLst>
              <a:gd fmla="val 1935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463290" y="1289304"/>
            <a:ext cx="216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Deep anomaly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on APU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463290" y="1824228"/>
            <a:ext cx="216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Davari et al. (2021) apply sparse autoencoders and LSTM-AE to this exact unit.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463290" y="2414016"/>
            <a:ext cx="2160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Reconstruction error flags the event, but offers little on why, and evaluation is largely per-sample.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035040" y="1097280"/>
            <a:ext cx="2571900" cy="2126100"/>
          </a:xfrm>
          <a:prstGeom prst="roundRect">
            <a:avLst>
              <a:gd fmla="val 1935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6240780" y="1289304"/>
            <a:ext cx="216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Streaming &amp; explainable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PdM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240780" y="1824228"/>
            <a:ext cx="216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Barros et al. (2020) and Gama et al. (2022) on drift-aware online detection.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240780" y="2414016"/>
            <a:ext cx="2160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Method-focused. Cycle-level structure of the compressor is left on the table.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80060" y="3394710"/>
            <a:ext cx="8181600" cy="1268700"/>
          </a:xfrm>
          <a:prstGeom prst="roundRect">
            <a:avLst>
              <a:gd fmla="val 3243" name="adj"/>
            </a:avLst>
          </a:prstGeom>
          <a:solidFill>
            <a:srgbClr val="12355B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754380" y="3511296"/>
            <a:ext cx="34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The gap this project fills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54380" y="3771900"/>
            <a:ext cx="7632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CE6EF"/>
                </a:solidFill>
                <a:latin typeface="Calibri"/>
                <a:ea typeface="Calibri"/>
                <a:cs typeface="Calibri"/>
                <a:sym typeface="Calibri"/>
              </a:rPr>
              <a:t>Prior work treats each reading as the unit of analysis. This project treats the compression cycle as the unit of analysis, </a:t>
            </a:r>
            <a:r>
              <a:rPr b="1" i="0" lang="en" sz="900" u="none" cap="none" strike="noStrike">
                <a:solidFill>
                  <a:srgbClr val="DCE6EF"/>
                </a:solidFill>
                <a:latin typeface="Calibri"/>
                <a:ea typeface="Calibri"/>
                <a:cs typeface="Calibri"/>
                <a:sym typeface="Calibri"/>
              </a:rPr>
              <a:t>then evaluates on an event basis with an explicit lead-time budget.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CE6EF"/>
                </a:solidFill>
                <a:latin typeface="Calibri"/>
                <a:ea typeface="Calibri"/>
                <a:cs typeface="Calibri"/>
                <a:sym typeface="Calibri"/>
              </a:rPr>
              <a:t>The contribution is a reproducible, cycle-aware baseline that reports precision at a fixed alert budget, not per-sample accuracy on an imbalanced stream.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The Data: Four V's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Profiled directly from the source file, not from the dataset card.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80060" y="1097280"/>
            <a:ext cx="4011900" cy="960000"/>
          </a:xfrm>
          <a:prstGeom prst="roundRect">
            <a:avLst>
              <a:gd fmla="val 4286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685800" y="1200150"/>
            <a:ext cx="1645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85800" y="1385316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1,516,948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503170" y="1248156"/>
            <a:ext cx="18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readings x 15 sensors = 22.8M values, 208 MB raw CSV covering 213 consecutive days.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697730" y="1097280"/>
            <a:ext cx="4011900" cy="960000"/>
          </a:xfrm>
          <a:prstGeom prst="roundRect">
            <a:avLst>
              <a:gd fmla="val 4286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903470" y="1200150"/>
            <a:ext cx="1645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VARIETY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903470" y="1385316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7 + 8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720840" y="1248156"/>
            <a:ext cx="18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Seven analogue channels (bar, °C, A) and eight digital state flags. Mixed types, one clock.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80060" y="2194560"/>
            <a:ext cx="4011900" cy="960000"/>
          </a:xfrm>
          <a:prstGeom prst="roundRect">
            <a:avLst>
              <a:gd fmla="val 4286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685800" y="2297430"/>
            <a:ext cx="1645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85800" y="2482596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0.1 Hz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503170" y="2345436"/>
            <a:ext cx="18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One reading every 10s, 8,640 per day. Batch now, but sized for a streaming deployment.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697730" y="2194560"/>
            <a:ext cx="4011900" cy="960000"/>
          </a:xfrm>
          <a:prstGeom prst="roundRect">
            <a:avLst>
              <a:gd fmla="val 4286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4903470" y="2297430"/>
            <a:ext cx="1645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VERACITY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903470" y="2482596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3.35%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720840" y="2345436"/>
            <a:ext cx="18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of rows are frozen across all analogue channels; pressures read slightly negative at rest.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80060" y="3326130"/>
            <a:ext cx="8181600" cy="1337400"/>
          </a:xfrm>
          <a:prstGeom prst="roundRect">
            <a:avLst>
              <a:gd fmla="val 3077" name="adj"/>
            </a:avLst>
          </a:prstGeom>
          <a:solidFill>
            <a:srgbClr val="FDF3E3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720090" y="342900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Veracity findings that shape the whole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20090" y="3669030"/>
            <a:ext cx="7701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6B4A14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6B4A14"/>
                </a:solidFill>
                <a:latin typeface="Calibri"/>
                <a:ea typeface="Calibri"/>
                <a:cs typeface="Calibri"/>
                <a:sym typeface="Calibri"/>
              </a:rPr>
              <a:t>TP3 and Reservoirs are perfectly collinear (r = 1.00), so one is redundant.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6B4A14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6B4A14"/>
                </a:solidFill>
                <a:latin typeface="Calibri"/>
                <a:ea typeface="Calibri"/>
                <a:cs typeface="Calibri"/>
                <a:sym typeface="Calibri"/>
              </a:rPr>
              <a:t>Only 1.98% of rows fall inside a reported failure window, which is severe class imbalance.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6B4A14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6B4A14"/>
                </a:solidFill>
                <a:latin typeface="Calibri"/>
                <a:ea typeface="Calibri"/>
                <a:cs typeface="Calibri"/>
                <a:sym typeface="Calibri"/>
              </a:rPr>
              <a:t>331 timing gaps exceed 60s, the largest 48 hours, so the clock is not uniform.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6B4A14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6B4A14"/>
                </a:solidFill>
                <a:latin typeface="Calibri"/>
                <a:ea typeface="Calibri"/>
                <a:cs typeface="Calibri"/>
                <a:sym typeface="Calibri"/>
              </a:rPr>
              <a:t>Labels are event reports, not annotations: unlabelled high-load episodes exist (see next slide).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What Exploration Already Shows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signal is real. So is the hard part.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/f1_dutycycl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028700"/>
            <a:ext cx="5623560" cy="219456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6309360" y="1028700"/>
            <a:ext cx="2331600" cy="2194800"/>
          </a:xfrm>
          <a:prstGeom prst="roundRect">
            <a:avLst>
              <a:gd fmla="val 1875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515100" y="1152144"/>
            <a:ext cx="192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Read this 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515100" y="1405890"/>
            <a:ext cx="1920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Every labelled failure sits on a duty-cycle spike. The physics is visible.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But several equally large spikes carry no failure report at all.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naive threshold detector therefore reaches recall 0.66 at precision 0.21, giving F1 of 0.32.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80060" y="3463290"/>
            <a:ext cx="19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6.8x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80060" y="3854196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duty cycle inside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failure windows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571750" y="3463290"/>
            <a:ext cx="19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0.32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571750" y="3854196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F1 of the naive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threshold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663440" y="3463290"/>
            <a:ext cx="19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75%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663440" y="3854196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of high-load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have no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755130" y="3463290"/>
            <a:ext cx="19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36-62h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755130" y="3854196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precursor lead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 2 of 4 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0060" y="4457700"/>
            <a:ext cx="818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00"/>
              <a:buFont typeface="Calibri"/>
              <a:buNone/>
            </a:pPr>
            <a:r>
              <a:rPr b="1" i="1" lang="en" sz="9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Implication: the modelling problem is not detection, it is discrimination, separating leak-driven load from demand-driven load.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Methodology: The Whole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Five stages, each with a stated decision and a stated reason.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80060" y="1097280"/>
            <a:ext cx="1543200" cy="2482800"/>
          </a:xfrm>
          <a:prstGeom prst="roundRect">
            <a:avLst>
              <a:gd fmla="val 266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17220" y="1248156"/>
            <a:ext cx="342900" cy="3429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617220" y="12481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17220" y="1659636"/>
            <a:ext cx="1302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17220" y="2071116"/>
            <a:ext cx="1302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Distributions, ACF, duty-cycle profiling, correlation and PCA. Establishes the normal operating envelope before any model is fit.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961388" y="2194560"/>
            <a:ext cx="20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139696" y="1097280"/>
            <a:ext cx="1543200" cy="2482800"/>
          </a:xfrm>
          <a:prstGeom prst="roundRect">
            <a:avLst>
              <a:gd fmla="val 266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2276856" y="1248156"/>
            <a:ext cx="342900" cy="3429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2276856" y="12481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276856" y="1659636"/>
            <a:ext cx="1302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Pre-processing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276856" y="2071116"/>
            <a:ext cx="1302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Resample to a uniform 10s grid, gap-flag rather than interpolate, median filter analogue channels, debounce digital flags.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621024" y="2194560"/>
            <a:ext cx="20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799332" y="1097280"/>
            <a:ext cx="1543200" cy="2482800"/>
          </a:xfrm>
          <a:prstGeom prst="roundRect">
            <a:avLst>
              <a:gd fmla="val 266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936492" y="1248156"/>
            <a:ext cx="342900" cy="3429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3936492" y="12481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936492" y="1659636"/>
            <a:ext cx="1302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936492" y="2071116"/>
            <a:ext cx="1302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Reduce 1.5M rows to ~16.9k compression cycles in columnar Parquet, partitioned by month. 90x smaller, physically meaningful.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280660" y="2194560"/>
            <a:ext cx="20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458968" y="1097280"/>
            <a:ext cx="1543200" cy="2482800"/>
          </a:xfrm>
          <a:prstGeom prst="roundRect">
            <a:avLst>
              <a:gd fmla="val 266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596128" y="1248156"/>
            <a:ext cx="342900" cy="3429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596128" y="12481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596128" y="1659636"/>
            <a:ext cx="1302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596128" y="2071116"/>
            <a:ext cx="1302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Three tasks: clustering for normal states, semi-supervised anomaly detection, supervised classification with lead-time labels.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940296" y="2194560"/>
            <a:ext cx="20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118604" y="1097280"/>
            <a:ext cx="1543200" cy="2482800"/>
          </a:xfrm>
          <a:prstGeom prst="roundRect">
            <a:avLst>
              <a:gd fmla="val 266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7255764" y="1248156"/>
            <a:ext cx="342900" cy="3429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7255764" y="12481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255764" y="1659636"/>
            <a:ext cx="1302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255764" y="2071116"/>
            <a:ext cx="1302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Event-level precision and recall at a fixed alert budget, plus throughput on the full 1.5M-row stream.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80060" y="3806190"/>
            <a:ext cx="8181600" cy="720000"/>
          </a:xfrm>
          <a:prstGeom prst="roundRect">
            <a:avLst>
              <a:gd fmla="val 5714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720090" y="3922776"/>
            <a:ext cx="770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Key design decision:  </a:t>
            </a: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compression cycle, not the 10-second reading, is the unit of analysis. A leak does not change any single reading much; it changes how long the compressor must run to refill the reservoir. Cycle-level features make that directly measurable.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Three Modeling Tasks, Three Purposes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Chosen because the label situation demands all three, not because more is better.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80060" y="1110996"/>
            <a:ext cx="8181600" cy="994500"/>
          </a:xfrm>
          <a:prstGeom prst="roundRect">
            <a:avLst>
              <a:gd fmla="val 4138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685800" y="1453896"/>
            <a:ext cx="301800" cy="301800"/>
          </a:xfrm>
          <a:prstGeom prst="ellipse">
            <a:avLst/>
          </a:prstGeom>
          <a:solidFill>
            <a:srgbClr val="1B9E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685800" y="1453896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1110996" y="1330452"/>
            <a:ext cx="178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110996" y="1591056"/>
            <a:ext cx="178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K-means and DBSCAN on cycle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051810" y="1282446"/>
            <a:ext cx="537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Discovers the operating regimes without labels. Answers: how many distinct 'normal' modes does this unit actually have? Silhouette and Davies-Bouldin select 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80060" y="2221992"/>
            <a:ext cx="8181600" cy="994500"/>
          </a:xfrm>
          <a:prstGeom prst="roundRect">
            <a:avLst>
              <a:gd fmla="val 4138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685800" y="2564892"/>
            <a:ext cx="301800" cy="301800"/>
          </a:xfrm>
          <a:prstGeom prst="ellipse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685800" y="2564892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1110996" y="2441448"/>
            <a:ext cx="178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110996" y="2702052"/>
            <a:ext cx="178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Isolation Forest and LSTM autoencoder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051810" y="2393442"/>
            <a:ext cx="537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Trained on February–March only, where no failure is reported. Everything after is scored as deviation. Chosen because labels are scarce and possibly incomplete.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80060" y="3332988"/>
            <a:ext cx="8181600" cy="994500"/>
          </a:xfrm>
          <a:prstGeom prst="roundRect">
            <a:avLst>
              <a:gd fmla="val 4138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85800" y="3675888"/>
            <a:ext cx="301800" cy="3018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685800" y="3675888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110996" y="3552444"/>
            <a:ext cx="178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110996" y="3813048"/>
            <a:ext cx="178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8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6B8A"/>
                </a:solidFill>
                <a:latin typeface="Calibri"/>
                <a:ea typeface="Calibri"/>
                <a:cs typeface="Calibri"/>
                <a:sym typeface="Calibri"/>
              </a:rPr>
              <a:t>Gradient boosting with lead-time labels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051810" y="3504438"/>
            <a:ext cx="537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Labels each cycle by hours-to-failure. Answers the operational question: can we call it 24 hours out? Gives calibrated probabilities and SHAP attribution.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80060" y="4539996"/>
            <a:ext cx="818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Why not go straight to deep learning? Because a tuned Isolation Forest on 40 cycle features that beats F1 = 0.32 is a defensible result. An LSTM that beats it without an interpretable baseline to compare against is not.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Evaluation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Accuracy is the wrong metric here. This slide says what replaces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80060" y="1083564"/>
            <a:ext cx="4011900" cy="1748700"/>
          </a:xfrm>
          <a:prstGeom prst="roundRect">
            <a:avLst>
              <a:gd fmla="val 2353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99516" y="1200150"/>
            <a:ext cx="2057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Effectiveness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99516" y="1453896"/>
            <a:ext cx="36006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Precision, recall, F1, PR-AUC. Not accuracy: 'always normal' scores 98.0%.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Event-level detection: caught if any alarm fires in the window.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False alarms per 30 days at a fixed alert budget.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Mean lead time before failure onset, reported with its variance.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697730" y="1083564"/>
            <a:ext cx="4011900" cy="1748700"/>
          </a:xfrm>
          <a:prstGeom prst="roundRect">
            <a:avLst>
              <a:gd fmla="val 2353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4917186" y="1200150"/>
            <a:ext cx="2057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917186" y="1453896"/>
            <a:ext cx="36006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End-to-end wall clock over all 1,516,948 rows, per stage.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Throughput in readings/second and peak memory, on fixed hardware.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Per-cycle scoring latency, well under the ~1</a:t>
            </a:r>
            <a:r>
              <a:rPr lang="en" sz="90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 min cycle interval.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Training time and model size, for the edge-deployment question.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80060" y="2983230"/>
            <a:ext cx="8181600" cy="1371600"/>
          </a:xfrm>
          <a:prstGeom prst="roundRect">
            <a:avLst>
              <a:gd fmla="val 3000" name="adj"/>
            </a:avLst>
          </a:prstGeom>
          <a:solidFill>
            <a:srgbClr val="12355B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699515" y="3033716"/>
            <a:ext cx="274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20090" y="3327307"/>
            <a:ext cx="7955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Chronological split, never random. </a:t>
            </a:r>
            <a:r>
              <a:rPr lang="en" sz="9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Feb- Mar trains, Apr - Sep tests. Feb- Mar is the longest stretch with no reported failure, which is the whole point: the detector must learn normality from clean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20090" y="3689604"/>
            <a:ext cx="7955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Blocked K-fold (k = 5) with a purge gap. </a:t>
            </a:r>
            <a:r>
              <a:rPr b="0" i="0" lang="en" sz="9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Folds are contiguous time blocks separated by a 24h purge window so no cycle straddles a boundary. Standard K-fold is invalid on time series.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720090" y="4018788"/>
            <a:ext cx="7955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Baselines to beat: </a:t>
            </a:r>
            <a:r>
              <a:rPr b="0" i="0" lang="en" sz="9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the naive duty-cycle threshold (F1 = 0.32) and a seasonal-naive persistence model. Any proposed method must beat both to justify its complexity.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8421624" y="288036"/>
            <a:ext cx="288000" cy="28800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8421624" y="2880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480060" y="288036"/>
            <a:ext cx="818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2355B"/>
                </a:solidFill>
                <a:latin typeface="Cambria"/>
                <a:ea typeface="Cambria"/>
                <a:cs typeface="Cambria"/>
                <a:sym typeface="Cambria"/>
              </a:rPr>
              <a:t>Timeline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480060" y="726948"/>
            <a:ext cx="8181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21 June to 15 August 2027, with the risky work deliberately placed early.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480060" y="1097280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630936" y="1234440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1B9E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630936" y="1234440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  21-27 Jun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30936" y="1543050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Profiling &amp; EDA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630936" y="1988820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Distributions, ACF, regime characterisation, cycle segmentation validated by hand.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571750" y="1097280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2722626" y="1234440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1B9E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2722626" y="1234440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W2  28 Jun-4 Jul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722626" y="1543050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Cleaning &amp; feature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722626" y="1988820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Uniform grid, gap flags, filtering. Parquet cycle table locked and versioned.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663440" y="1097280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4814316" y="1234440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4814316" y="1234440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W3  5-11 Jul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814316" y="1543050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Clustering &amp; regimes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4814316" y="1988820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K-means / DBSCAN, k selected. Deliverable: labelled operating-mode map.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6755130" y="1097280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6906006" y="1234440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6906006" y="1234440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  12-18 Jul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906006" y="1543050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6906006" y="1988820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Isolation Forest baseline on clean-window training. First event-level scores.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80060" y="2756916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630936" y="2894076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1235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630936" y="2894076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W5  19-25 Jul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30936" y="3202686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Supervised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630936" y="3648456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Lead-time labelling, gradient boosting, blocked CV, SHAP attribution.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2571750" y="2756916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2722626" y="2894076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2722626" y="2894076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W6  26 Jul-1 Aug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2722626" y="3202686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Efficiency benchmarking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2722626" y="3648456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Throughput, latency and memory on the full stream. LSTM autoencoder comparison if schedule allows.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4663440" y="2756916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4814316" y="2894076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4814316" y="2894076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W7  2-8 Aug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814316" y="3202686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Ablations &amp; writing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4814316" y="3648456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Ablations, sensitivity to the alert budget, consolidate results, draft report.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755130" y="2756916"/>
            <a:ext cx="1954500" cy="1509000"/>
          </a:xfrm>
          <a:prstGeom prst="roundRect">
            <a:avLst>
              <a:gd fmla="val 2727" name="adj"/>
            </a:avLst>
          </a:prstGeom>
          <a:solidFill>
            <a:srgbClr val="EAF0F6"/>
          </a:solidFill>
          <a:ln cap="flat" cmpd="sng" w="7150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6906006" y="2894076"/>
            <a:ext cx="1440300" cy="233100"/>
          </a:xfrm>
          <a:prstGeom prst="roundRect">
            <a:avLst>
              <a:gd fmla="val 23529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6906006" y="2894076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W8  9-15 Aug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6906006" y="3202686"/>
            <a:ext cx="168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Buffer &amp;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6906006" y="3648456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Reserved for overrun. Final report, deck and reproducible repository.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480060" y="4491990"/>
            <a:ext cx="818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12355B"/>
                </a:solidFill>
                <a:latin typeface="Calibri"/>
                <a:ea typeface="Calibri"/>
                <a:cs typeface="Calibri"/>
                <a:sym typeface="Calibri"/>
              </a:rPr>
              <a:t>Weeks 1 and 2 are load-bearing: if cycle segmentation is wrong, every downstream result is wrong. Week 8, the week of 9 August, is unallocated on purpose.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38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/>
          <p:nvPr/>
        </p:nvSpPr>
        <p:spPr>
          <a:xfrm>
            <a:off x="-1097280" y="3017520"/>
            <a:ext cx="3154800" cy="3154800"/>
          </a:xfrm>
          <a:prstGeom prst="ellipse">
            <a:avLst/>
          </a:prstGeom>
          <a:solidFill>
            <a:srgbClr val="12355B">
              <a:alpha val="549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7886700" y="-891540"/>
            <a:ext cx="2743200" cy="2743200"/>
          </a:xfrm>
          <a:prstGeom prst="ellipse">
            <a:avLst/>
          </a:prstGeom>
          <a:solidFill>
            <a:srgbClr val="E8A33D">
              <a:alpha val="149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480060" y="514350"/>
            <a:ext cx="617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480060" y="946404"/>
            <a:ext cx="6172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What a supervisor will be able to see at the end of week eight.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80060" y="1371600"/>
            <a:ext cx="4011900" cy="1062900"/>
          </a:xfrm>
          <a:prstGeom prst="roundRect">
            <a:avLst>
              <a:gd fmla="val 3871" name="adj"/>
            </a:avLst>
          </a:prstGeom>
          <a:solidFill>
            <a:srgbClr val="163E68"/>
          </a:solidFill>
          <a:ln cap="flat" cmpd="sng" w="7150">
            <a:solidFill>
              <a:srgbClr val="275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685800" y="1563624"/>
            <a:ext cx="246900" cy="2469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685800" y="1563624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3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B203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1028700" y="1543050"/>
            <a:ext cx="329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working detector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1028700" y="1803654"/>
            <a:ext cx="33261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Cycle-level anomaly scores for all 213 days, with event-level precision, recall and lead time reported against the four documented failures.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4697730" y="1371600"/>
            <a:ext cx="4011900" cy="1062900"/>
          </a:xfrm>
          <a:prstGeom prst="roundRect">
            <a:avLst>
              <a:gd fmla="val 3871" name="adj"/>
            </a:avLst>
          </a:prstGeom>
          <a:solidFill>
            <a:srgbClr val="163E68"/>
          </a:solidFill>
          <a:ln cap="flat" cmpd="sng" w="7150">
            <a:solidFill>
              <a:srgbClr val="275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4903470" y="1563624"/>
            <a:ext cx="246900" cy="2469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4903470" y="1563624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3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B203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246370" y="1543050"/>
            <a:ext cx="329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defensible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246370" y="1803654"/>
            <a:ext cx="33261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A published comparison against the naive threshold (F1 = 0.32) so any gain is attributable to method, not to metric choice.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480060" y="2571750"/>
            <a:ext cx="4011900" cy="1062900"/>
          </a:xfrm>
          <a:prstGeom prst="roundRect">
            <a:avLst>
              <a:gd fmla="val 3871" name="adj"/>
            </a:avLst>
          </a:prstGeom>
          <a:solidFill>
            <a:srgbClr val="163E68"/>
          </a:solidFill>
          <a:ln cap="flat" cmpd="sng" w="7150">
            <a:solidFill>
              <a:srgbClr val="275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685800" y="2763774"/>
            <a:ext cx="246900" cy="2469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685800" y="2763774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3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B203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1028700" y="2743200"/>
            <a:ext cx="329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explanation, not just a 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028700" y="3003804"/>
            <a:ext cx="33261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SHAP attribution naming which sensors drive each alarm, which is the difference between an alert and an actionable work order.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4697730" y="2571750"/>
            <a:ext cx="4011900" cy="1062900"/>
          </a:xfrm>
          <a:prstGeom prst="roundRect">
            <a:avLst>
              <a:gd fmla="val 3871" name="adj"/>
            </a:avLst>
          </a:prstGeom>
          <a:solidFill>
            <a:srgbClr val="163E68"/>
          </a:solidFill>
          <a:ln cap="flat" cmpd="sng" w="7150">
            <a:solidFill>
              <a:srgbClr val="275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4903470" y="2763774"/>
            <a:ext cx="246900" cy="2469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4903470" y="2763774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3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B203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246370" y="2743200"/>
            <a:ext cx="329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reproducible artefact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246370" y="3003804"/>
            <a:ext cx="33261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Versioned Parquet feature store, seeded notebooks and benchmark scripts that rerun end to end on the full 1.5M rows.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480060" y="394335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If the primary approach fails, the fallback is a change-point detector on the duty-cycle series alone. It is weaker, but it is guaranteed to produce a result.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480060" y="4539996"/>
            <a:ext cx="6172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E93A8"/>
                </a:solidFill>
                <a:latin typeface="Calibri"/>
                <a:ea typeface="Calibri"/>
                <a:cs typeface="Calibri"/>
                <a:sym typeface="Calibri"/>
              </a:rPr>
              <a:t>Joseph (Neil) Truskolaski  ·  MetroPT-3 Predictive Maintenance Proposal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