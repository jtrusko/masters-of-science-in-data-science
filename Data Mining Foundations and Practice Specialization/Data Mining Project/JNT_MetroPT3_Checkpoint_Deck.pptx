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f708f52a73_0_24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3f708f52a73_0_24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g3f708f52a73_0_24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708f52a73_0_26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g3f708f52a73_0_26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g3f708f52a73_0_26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708f52a73_0_29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g3f708f52a73_0_29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g3f708f52a73_0_29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708f52a73_0_32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f708f52a73_0_32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3f708f52a73_0_32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708f52a73_0_34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g3f708f52a73_0_34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f708f52a73_0_34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708f52a73_0_36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f708f52a73_0_36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f708f52a73_0_36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708f52a73_0_39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f708f52a73_0_39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f708f52a73_0_39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708f52a73_0_40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3f708f52a73_0_40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f708f52a73_0_40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708f52a73_0_42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3f708f52a73_0_42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g3f708f52a73_0_42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f708f52a73_0_45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g3f708f52a73_0_45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g3f708f52a73_0_45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38"/>
        </a:solidFill>
      </p:bgPr>
    </p:bg>
    <p:spTree>
      <p:nvGrpSpPr>
        <p:cNvPr id="57" name="Shape 57"/>
        <p:cNvGrpSpPr/>
        <p:nvPr/>
      </p:nvGrpSpPr>
      <p:grpSpPr>
        <a:xfrm>
          <a:off x="0" y="0"/>
          <a:ext cx="0" cy="0"/>
          <a:chOff x="0" y="0"/>
          <a:chExt cx="0" cy="0"/>
        </a:xfrm>
      </p:grpSpPr>
      <p:sp>
        <p:nvSpPr>
          <p:cNvPr id="58" name="Google Shape;58;p16"/>
          <p:cNvSpPr/>
          <p:nvPr/>
        </p:nvSpPr>
        <p:spPr>
          <a:xfrm>
            <a:off x="6995160" y="-1234440"/>
            <a:ext cx="3703200" cy="3703200"/>
          </a:xfrm>
          <a:prstGeom prst="ellipse">
            <a:avLst/>
          </a:prstGeom>
          <a:solidFill>
            <a:srgbClr val="12355B">
              <a:alpha val="5490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 name="Google Shape;59;p16"/>
          <p:cNvSpPr/>
          <p:nvPr/>
        </p:nvSpPr>
        <p:spPr>
          <a:xfrm>
            <a:off x="8161020" y="3291840"/>
            <a:ext cx="2194800" cy="2194800"/>
          </a:xfrm>
          <a:prstGeom prst="ellipse">
            <a:avLst/>
          </a:prstGeom>
          <a:solidFill>
            <a:srgbClr val="E8A33D">
              <a:alpha val="1608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 name="Google Shape;60;p16"/>
          <p:cNvSpPr/>
          <p:nvPr/>
        </p:nvSpPr>
        <p:spPr>
          <a:xfrm>
            <a:off x="480060" y="1062990"/>
            <a:ext cx="61722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 sz="1100" u="none" cap="none" strike="noStrike">
                <a:solidFill>
                  <a:srgbClr val="E8A33D"/>
                </a:solidFill>
                <a:latin typeface="Calibri"/>
                <a:ea typeface="Calibri"/>
                <a:cs typeface="Calibri"/>
                <a:sym typeface="Calibri"/>
              </a:rPr>
              <a:t>CHECKPOINT REPORT</a:t>
            </a:r>
            <a:endParaRPr b="0" i="0" sz="1100" u="none" cap="none" strike="noStrike">
              <a:solidFill>
                <a:schemeClr val="dk1"/>
              </a:solidFill>
              <a:latin typeface="Calibri"/>
              <a:ea typeface="Calibri"/>
              <a:cs typeface="Calibri"/>
              <a:sym typeface="Calibri"/>
            </a:endParaRPr>
          </a:p>
        </p:txBody>
      </p:sp>
      <p:sp>
        <p:nvSpPr>
          <p:cNvPr id="61" name="Google Shape;61;p16"/>
          <p:cNvSpPr/>
          <p:nvPr/>
        </p:nvSpPr>
        <p:spPr>
          <a:xfrm>
            <a:off x="480060" y="1405890"/>
            <a:ext cx="6583800" cy="1234500"/>
          </a:xfrm>
          <a:prstGeom prst="rect">
            <a:avLst/>
          </a:prstGeom>
          <a:noFill/>
          <a:ln>
            <a:noFill/>
          </a:ln>
        </p:spPr>
        <p:txBody>
          <a:bodyPr anchorCtr="0" anchor="ctr" bIns="0" lIns="0" spcFirstLastPara="1" rIns="0" wrap="square" tIns="0">
            <a:noAutofit/>
          </a:bodyPr>
          <a:lstStyle/>
          <a:p>
            <a:pPr indent="0" lvl="0" marL="0" marR="0" rtl="0" algn="l">
              <a:lnSpc>
                <a:spcPct val="109090"/>
              </a:lnSpc>
              <a:spcBef>
                <a:spcPts val="0"/>
              </a:spcBef>
              <a:spcAft>
                <a:spcPts val="0"/>
              </a:spcAft>
              <a:buClr>
                <a:srgbClr val="FFFFFF"/>
              </a:buClr>
              <a:buSzPts val="3300"/>
              <a:buFont typeface="Cambria"/>
              <a:buNone/>
            </a:pPr>
            <a:r>
              <a:rPr b="1" i="0" lang="en" sz="3300" u="none" cap="none" strike="noStrike">
                <a:solidFill>
                  <a:srgbClr val="FFFFFF"/>
                </a:solidFill>
                <a:latin typeface="Cambria"/>
                <a:ea typeface="Cambria"/>
                <a:cs typeface="Cambria"/>
                <a:sym typeface="Cambria"/>
              </a:rPr>
              <a:t>Predictive Maintenance for</a:t>
            </a:r>
            <a:endParaRPr b="0" i="0" sz="3300" u="none" cap="none" strike="noStrike">
              <a:solidFill>
                <a:schemeClr val="dk1"/>
              </a:solidFill>
              <a:latin typeface="Calibri"/>
              <a:ea typeface="Calibri"/>
              <a:cs typeface="Calibri"/>
              <a:sym typeface="Calibri"/>
            </a:endParaRPr>
          </a:p>
          <a:p>
            <a:pPr indent="0" lvl="0" marL="0" marR="0" rtl="0" algn="l">
              <a:lnSpc>
                <a:spcPct val="109090"/>
              </a:lnSpc>
              <a:spcBef>
                <a:spcPts val="0"/>
              </a:spcBef>
              <a:spcAft>
                <a:spcPts val="0"/>
              </a:spcAft>
              <a:buClr>
                <a:srgbClr val="FFFFFF"/>
              </a:buClr>
              <a:buSzPts val="3300"/>
              <a:buFont typeface="Cambria"/>
              <a:buNone/>
            </a:pPr>
            <a:r>
              <a:rPr b="1" i="0" lang="en" sz="3300" u="none" cap="none" strike="noStrike">
                <a:solidFill>
                  <a:srgbClr val="FFFFFF"/>
                </a:solidFill>
                <a:latin typeface="Cambria"/>
                <a:ea typeface="Cambria"/>
                <a:cs typeface="Cambria"/>
                <a:sym typeface="Cambria"/>
              </a:rPr>
              <a:t>Metro Climate &amp; Air Systems</a:t>
            </a:r>
            <a:endParaRPr b="0" i="0" sz="3300" u="none" cap="none" strike="noStrike">
              <a:solidFill>
                <a:schemeClr val="dk1"/>
              </a:solidFill>
              <a:latin typeface="Calibri"/>
              <a:ea typeface="Calibri"/>
              <a:cs typeface="Calibri"/>
              <a:sym typeface="Calibri"/>
            </a:endParaRPr>
          </a:p>
        </p:txBody>
      </p:sp>
      <p:sp>
        <p:nvSpPr>
          <p:cNvPr id="62" name="Google Shape;62;p16"/>
          <p:cNvSpPr/>
          <p:nvPr/>
        </p:nvSpPr>
        <p:spPr>
          <a:xfrm>
            <a:off x="480060" y="2674620"/>
            <a:ext cx="6446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6E3"/>
              </a:buClr>
              <a:buSzPts val="1200"/>
              <a:buFont typeface="Calibri"/>
              <a:buNone/>
            </a:pPr>
            <a:r>
              <a:rPr b="0" i="0" lang="en" sz="1200" u="none" cap="none" strike="noStrike">
                <a:solidFill>
                  <a:srgbClr val="C9D6E3"/>
                </a:solidFill>
                <a:latin typeface="Calibri"/>
                <a:ea typeface="Calibri"/>
                <a:cs typeface="Calibri"/>
                <a:sym typeface="Calibri"/>
              </a:rPr>
              <a:t>Data understanding and pre-processing complete. Modelling underway.</a:t>
            </a:r>
            <a:endParaRPr b="0" i="0" sz="1200" u="none" cap="none" strike="noStrike">
              <a:solidFill>
                <a:schemeClr val="dk1"/>
              </a:solidFill>
              <a:latin typeface="Calibri"/>
              <a:ea typeface="Calibri"/>
              <a:cs typeface="Calibri"/>
              <a:sym typeface="Calibri"/>
            </a:endParaRPr>
          </a:p>
        </p:txBody>
      </p:sp>
      <p:sp>
        <p:nvSpPr>
          <p:cNvPr id="63" name="Google Shape;63;p16"/>
          <p:cNvSpPr/>
          <p:nvPr/>
        </p:nvSpPr>
        <p:spPr>
          <a:xfrm>
            <a:off x="480060" y="3326130"/>
            <a:ext cx="411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Joseph (Neil) Truskolaski</a:t>
            </a:r>
            <a:endParaRPr b="0" i="0" sz="1400" u="none" cap="none" strike="noStrike">
              <a:solidFill>
                <a:schemeClr val="dk1"/>
              </a:solidFill>
              <a:latin typeface="Calibri"/>
              <a:ea typeface="Calibri"/>
              <a:cs typeface="Calibri"/>
              <a:sym typeface="Calibri"/>
            </a:endParaRPr>
          </a:p>
        </p:txBody>
      </p:sp>
      <p:sp>
        <p:nvSpPr>
          <p:cNvPr id="64" name="Google Shape;64;p16"/>
          <p:cNvSpPr/>
          <p:nvPr/>
        </p:nvSpPr>
        <p:spPr>
          <a:xfrm>
            <a:off x="480060" y="3600450"/>
            <a:ext cx="5486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000"/>
              <a:buFont typeface="Calibri"/>
              <a:buNone/>
            </a:pPr>
            <a:r>
              <a:rPr b="0" i="0" lang="en" sz="1000" u="none" cap="none" strike="noStrike">
                <a:solidFill>
                  <a:srgbClr val="9FB3C8"/>
                </a:solidFill>
                <a:latin typeface="Calibri"/>
                <a:ea typeface="Calibri"/>
                <a:cs typeface="Calibri"/>
                <a:sym typeface="Calibri"/>
              </a:rPr>
              <a:t>MetroPT-3 Air Production Unit  ·  1,516,948 readings</a:t>
            </a:r>
            <a:endParaRPr b="0" i="0" sz="1000" u="none" cap="none" strike="noStrike">
              <a:solidFill>
                <a:schemeClr val="dk1"/>
              </a:solidFill>
              <a:latin typeface="Calibri"/>
              <a:ea typeface="Calibri"/>
              <a:cs typeface="Calibri"/>
              <a:sym typeface="Calibri"/>
            </a:endParaRPr>
          </a:p>
        </p:txBody>
      </p:sp>
      <p:sp>
        <p:nvSpPr>
          <p:cNvPr id="65" name="Google Shape;65;p16"/>
          <p:cNvSpPr/>
          <p:nvPr/>
        </p:nvSpPr>
        <p:spPr>
          <a:xfrm>
            <a:off x="480060" y="4217670"/>
            <a:ext cx="15771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800"/>
              <a:buFont typeface="Cambria"/>
              <a:buNone/>
            </a:pPr>
            <a:r>
              <a:rPr b="1" i="0" lang="en" sz="1800" u="none" cap="none" strike="noStrike">
                <a:solidFill>
                  <a:srgbClr val="E8A33D"/>
                </a:solidFill>
                <a:latin typeface="Cambria"/>
                <a:ea typeface="Cambria"/>
                <a:cs typeface="Cambria"/>
                <a:sym typeface="Cambria"/>
              </a:rPr>
              <a:t>4 of 8</a:t>
            </a:r>
            <a:endParaRPr b="0" i="0" sz="1800" u="none" cap="none" strike="noStrike">
              <a:solidFill>
                <a:schemeClr val="dk1"/>
              </a:solidFill>
              <a:latin typeface="Calibri"/>
              <a:ea typeface="Calibri"/>
              <a:cs typeface="Calibri"/>
              <a:sym typeface="Calibri"/>
            </a:endParaRPr>
          </a:p>
        </p:txBody>
      </p:sp>
      <p:sp>
        <p:nvSpPr>
          <p:cNvPr id="66" name="Google Shape;66;p16"/>
          <p:cNvSpPr/>
          <p:nvPr/>
        </p:nvSpPr>
        <p:spPr>
          <a:xfrm>
            <a:off x="480060" y="4526280"/>
            <a:ext cx="1577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800"/>
              <a:buFont typeface="Calibri"/>
              <a:buNone/>
            </a:pPr>
            <a:r>
              <a:rPr b="0" i="0" lang="en" sz="800" u="none" cap="none" strike="noStrike">
                <a:solidFill>
                  <a:srgbClr val="9FB3C8"/>
                </a:solidFill>
                <a:latin typeface="Calibri"/>
                <a:ea typeface="Calibri"/>
                <a:cs typeface="Calibri"/>
                <a:sym typeface="Calibri"/>
              </a:rPr>
              <a:t>weeks elapsed (to 18 Jul)</a:t>
            </a:r>
            <a:endParaRPr b="0" i="0" sz="800" u="none" cap="none" strike="noStrike">
              <a:solidFill>
                <a:schemeClr val="dk1"/>
              </a:solidFill>
              <a:latin typeface="Calibri"/>
              <a:ea typeface="Calibri"/>
              <a:cs typeface="Calibri"/>
              <a:sym typeface="Calibri"/>
            </a:endParaRPr>
          </a:p>
        </p:txBody>
      </p:sp>
      <p:sp>
        <p:nvSpPr>
          <p:cNvPr id="67" name="Google Shape;67;p16"/>
          <p:cNvSpPr/>
          <p:nvPr/>
        </p:nvSpPr>
        <p:spPr>
          <a:xfrm>
            <a:off x="2125980" y="4217670"/>
            <a:ext cx="15771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800"/>
              <a:buFont typeface="Cambria"/>
              <a:buNone/>
            </a:pPr>
            <a:r>
              <a:rPr b="1" i="0" lang="en" sz="1800" u="none" cap="none" strike="noStrike">
                <a:solidFill>
                  <a:srgbClr val="E8A33D"/>
                </a:solidFill>
                <a:latin typeface="Cambria"/>
                <a:ea typeface="Cambria"/>
                <a:cs typeface="Cambria"/>
                <a:sym typeface="Cambria"/>
              </a:rPr>
              <a:t>16,773</a:t>
            </a:r>
            <a:endParaRPr b="0" i="0" sz="1800" u="none" cap="none" strike="noStrike">
              <a:solidFill>
                <a:schemeClr val="dk1"/>
              </a:solidFill>
              <a:latin typeface="Calibri"/>
              <a:ea typeface="Calibri"/>
              <a:cs typeface="Calibri"/>
              <a:sym typeface="Calibri"/>
            </a:endParaRPr>
          </a:p>
        </p:txBody>
      </p:sp>
      <p:sp>
        <p:nvSpPr>
          <p:cNvPr id="68" name="Google Shape;68;p16"/>
          <p:cNvSpPr/>
          <p:nvPr/>
        </p:nvSpPr>
        <p:spPr>
          <a:xfrm>
            <a:off x="2125980" y="4526280"/>
            <a:ext cx="1577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800"/>
              <a:buFont typeface="Calibri"/>
              <a:buNone/>
            </a:pPr>
            <a:r>
              <a:rPr b="0" i="0" lang="en" sz="800" u="none" cap="none" strike="noStrike">
                <a:solidFill>
                  <a:srgbClr val="9FB3C8"/>
                </a:solidFill>
                <a:latin typeface="Calibri"/>
                <a:ea typeface="Calibri"/>
                <a:cs typeface="Calibri"/>
                <a:sym typeface="Calibri"/>
              </a:rPr>
              <a:t>modelling windows</a:t>
            </a:r>
            <a:endParaRPr b="0" i="0" sz="800" u="none" cap="none" strike="noStrike">
              <a:solidFill>
                <a:schemeClr val="dk1"/>
              </a:solidFill>
              <a:latin typeface="Calibri"/>
              <a:ea typeface="Calibri"/>
              <a:cs typeface="Calibri"/>
              <a:sym typeface="Calibri"/>
            </a:endParaRPr>
          </a:p>
        </p:txBody>
      </p:sp>
      <p:sp>
        <p:nvSpPr>
          <p:cNvPr id="69" name="Google Shape;69;p16"/>
          <p:cNvSpPr/>
          <p:nvPr/>
        </p:nvSpPr>
        <p:spPr>
          <a:xfrm>
            <a:off x="3771900" y="4217670"/>
            <a:ext cx="15771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800"/>
              <a:buFont typeface="Cambria"/>
              <a:buNone/>
            </a:pPr>
            <a:r>
              <a:rPr b="1" i="0" lang="en" sz="1800" u="none" cap="none" strike="noStrike">
                <a:solidFill>
                  <a:srgbClr val="E8A33D"/>
                </a:solidFill>
                <a:latin typeface="Cambria"/>
                <a:ea typeface="Cambria"/>
                <a:cs typeface="Cambria"/>
                <a:sym typeface="Cambria"/>
              </a:rPr>
              <a:t>0.58</a:t>
            </a:r>
            <a:endParaRPr b="0" i="0" sz="1800" u="none" cap="none" strike="noStrike">
              <a:solidFill>
                <a:schemeClr val="dk1"/>
              </a:solidFill>
              <a:latin typeface="Calibri"/>
              <a:ea typeface="Calibri"/>
              <a:cs typeface="Calibri"/>
              <a:sym typeface="Calibri"/>
            </a:endParaRPr>
          </a:p>
        </p:txBody>
      </p:sp>
      <p:sp>
        <p:nvSpPr>
          <p:cNvPr id="70" name="Google Shape;70;p16"/>
          <p:cNvSpPr/>
          <p:nvPr/>
        </p:nvSpPr>
        <p:spPr>
          <a:xfrm>
            <a:off x="3771900" y="4526280"/>
            <a:ext cx="1577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800"/>
              <a:buFont typeface="Calibri"/>
              <a:buNone/>
            </a:pPr>
            <a:r>
              <a:rPr b="0" i="0" lang="en" sz="800" u="none" cap="none" strike="noStrike">
                <a:solidFill>
                  <a:srgbClr val="9FB3C8"/>
                </a:solidFill>
                <a:latin typeface="Calibri"/>
                <a:ea typeface="Calibri"/>
                <a:cs typeface="Calibri"/>
                <a:sym typeface="Calibri"/>
              </a:rPr>
              <a:t>best F1 so far</a:t>
            </a:r>
            <a:endParaRPr b="0" i="0" sz="800" u="none" cap="none" strike="noStrike">
              <a:solidFill>
                <a:schemeClr val="dk1"/>
              </a:solidFill>
              <a:latin typeface="Calibri"/>
              <a:ea typeface="Calibri"/>
              <a:cs typeface="Calibri"/>
              <a:sym typeface="Calibri"/>
            </a:endParaRPr>
          </a:p>
        </p:txBody>
      </p:sp>
      <p:sp>
        <p:nvSpPr>
          <p:cNvPr id="71" name="Google Shape;71;p16"/>
          <p:cNvSpPr/>
          <p:nvPr/>
        </p:nvSpPr>
        <p:spPr>
          <a:xfrm>
            <a:off x="5417820" y="4217670"/>
            <a:ext cx="15771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800"/>
              <a:buFont typeface="Cambria"/>
              <a:buNone/>
            </a:pPr>
            <a:r>
              <a:rPr b="1" i="0" lang="en" sz="1800" u="none" cap="none" strike="noStrike">
                <a:solidFill>
                  <a:srgbClr val="E8A33D"/>
                </a:solidFill>
                <a:latin typeface="Cambria"/>
                <a:ea typeface="Cambria"/>
                <a:cs typeface="Cambria"/>
                <a:sym typeface="Cambria"/>
              </a:rPr>
              <a:t>4 / 4</a:t>
            </a:r>
            <a:endParaRPr b="0" i="0" sz="1800" u="none" cap="none" strike="noStrike">
              <a:solidFill>
                <a:schemeClr val="dk1"/>
              </a:solidFill>
              <a:latin typeface="Calibri"/>
              <a:ea typeface="Calibri"/>
              <a:cs typeface="Calibri"/>
              <a:sym typeface="Calibri"/>
            </a:endParaRPr>
          </a:p>
        </p:txBody>
      </p:sp>
      <p:sp>
        <p:nvSpPr>
          <p:cNvPr id="72" name="Google Shape;72;p16"/>
          <p:cNvSpPr/>
          <p:nvPr/>
        </p:nvSpPr>
        <p:spPr>
          <a:xfrm>
            <a:off x="5417820" y="4526280"/>
            <a:ext cx="1577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800"/>
              <a:buFont typeface="Calibri"/>
              <a:buNone/>
            </a:pPr>
            <a:r>
              <a:rPr b="0" i="0" lang="en" sz="800" u="none" cap="none" strike="noStrike">
                <a:solidFill>
                  <a:srgbClr val="9FB3C8"/>
                </a:solidFill>
                <a:latin typeface="Calibri"/>
                <a:ea typeface="Calibri"/>
                <a:cs typeface="Calibri"/>
                <a:sym typeface="Calibri"/>
              </a:rPr>
              <a:t>events detected</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p:nvPr/>
        </p:nvSpPr>
        <p:spPr>
          <a:xfrm>
            <a:off x="7783830" y="288036"/>
            <a:ext cx="8778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p17"/>
          <p:cNvSpPr/>
          <p:nvPr/>
        </p:nvSpPr>
        <p:spPr>
          <a:xfrm>
            <a:off x="7783830" y="288036"/>
            <a:ext cx="8778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PROGRESS</a:t>
            </a:r>
            <a:endParaRPr b="0" i="0" sz="800" u="none" cap="none" strike="noStrike">
              <a:solidFill>
                <a:schemeClr val="dk1"/>
              </a:solidFill>
              <a:latin typeface="Calibri"/>
              <a:ea typeface="Calibri"/>
              <a:cs typeface="Calibri"/>
              <a:sym typeface="Calibri"/>
            </a:endParaRPr>
          </a:p>
        </p:txBody>
      </p:sp>
      <p:sp>
        <p:nvSpPr>
          <p:cNvPr id="80" name="Google Shape;80;p17"/>
          <p:cNvSpPr/>
          <p:nvPr/>
        </p:nvSpPr>
        <p:spPr>
          <a:xfrm>
            <a:off x="480060" y="260604"/>
            <a:ext cx="69816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Where the Pipeline Stands</a:t>
            </a:r>
            <a:endParaRPr b="0" i="0" sz="2500" u="none" cap="none" strike="noStrike">
              <a:solidFill>
                <a:schemeClr val="dk1"/>
              </a:solidFill>
              <a:latin typeface="Calibri"/>
              <a:ea typeface="Calibri"/>
              <a:cs typeface="Calibri"/>
              <a:sym typeface="Calibri"/>
            </a:endParaRPr>
          </a:p>
        </p:txBody>
      </p:sp>
      <p:sp>
        <p:nvSpPr>
          <p:cNvPr id="81" name="Google Shape;81;p17"/>
          <p:cNvSpPr/>
          <p:nvPr/>
        </p:nvSpPr>
        <p:spPr>
          <a:xfrm>
            <a:off x="480060" y="754380"/>
            <a:ext cx="69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Four stages complete. The data reduction is the headline.</a:t>
            </a:r>
            <a:endParaRPr b="0" i="0" sz="1200" u="none" cap="none" strike="noStrike">
              <a:solidFill>
                <a:schemeClr val="dk1"/>
              </a:solidFill>
              <a:latin typeface="Calibri"/>
              <a:ea typeface="Calibri"/>
              <a:cs typeface="Calibri"/>
              <a:sym typeface="Calibri"/>
            </a:endParaRPr>
          </a:p>
        </p:txBody>
      </p:sp>
      <p:pic>
        <p:nvPicPr>
          <p:cNvPr descr="fig/c5_funnel.png" id="82" name="Google Shape;82;p17"/>
          <p:cNvPicPr preferRelativeResize="0"/>
          <p:nvPr/>
        </p:nvPicPr>
        <p:blipFill rotWithShape="1">
          <a:blip r:embed="rId3">
            <a:alphaModFix/>
          </a:blip>
          <a:srcRect b="0" l="0" r="0" t="0"/>
          <a:stretch/>
        </p:blipFill>
        <p:spPr>
          <a:xfrm>
            <a:off x="480060" y="1200150"/>
            <a:ext cx="8161020" cy="2194560"/>
          </a:xfrm>
          <a:prstGeom prst="rect">
            <a:avLst/>
          </a:prstGeom>
          <a:noFill/>
          <a:ln>
            <a:noFill/>
          </a:ln>
        </p:spPr>
      </p:pic>
      <p:sp>
        <p:nvSpPr>
          <p:cNvPr id="83" name="Google Shape;83;p17"/>
          <p:cNvSpPr/>
          <p:nvPr/>
        </p:nvSpPr>
        <p:spPr>
          <a:xfrm>
            <a:off x="480060" y="3463290"/>
            <a:ext cx="1248000" cy="925800"/>
          </a:xfrm>
          <a:prstGeom prst="roundRect">
            <a:avLst>
              <a:gd fmla="val 444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17"/>
          <p:cNvSpPr/>
          <p:nvPr/>
        </p:nvSpPr>
        <p:spPr>
          <a:xfrm>
            <a:off x="576072" y="3579876"/>
            <a:ext cx="205800" cy="205800"/>
          </a:xfrm>
          <a:prstGeom prst="ellipse">
            <a:avLst/>
          </a:prstGeom>
          <a:solidFill>
            <a:srgbClr val="1B9E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7"/>
          <p:cNvSpPr/>
          <p:nvPr/>
        </p:nvSpPr>
        <p:spPr>
          <a:xfrm>
            <a:off x="576072" y="3840480"/>
            <a:ext cx="10629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900"/>
              <a:buFont typeface="Calibri"/>
              <a:buNone/>
            </a:pPr>
            <a:r>
              <a:rPr b="1" i="0" lang="en" sz="900" u="none" cap="none" strike="noStrike">
                <a:solidFill>
                  <a:srgbClr val="12355B"/>
                </a:solidFill>
                <a:latin typeface="Calibri"/>
                <a:ea typeface="Calibri"/>
                <a:cs typeface="Calibri"/>
                <a:sym typeface="Calibri"/>
              </a:rPr>
              <a:t>Data understanding</a:t>
            </a:r>
            <a:endParaRPr b="0" i="0" sz="900" u="none" cap="none" strike="noStrike">
              <a:solidFill>
                <a:schemeClr val="dk1"/>
              </a:solidFill>
              <a:latin typeface="Calibri"/>
              <a:ea typeface="Calibri"/>
              <a:cs typeface="Calibri"/>
              <a:sym typeface="Calibri"/>
            </a:endParaRPr>
          </a:p>
        </p:txBody>
      </p:sp>
      <p:sp>
        <p:nvSpPr>
          <p:cNvPr id="86" name="Google Shape;86;p17"/>
          <p:cNvSpPr/>
          <p:nvPr/>
        </p:nvSpPr>
        <p:spPr>
          <a:xfrm>
            <a:off x="576072" y="4155948"/>
            <a:ext cx="1062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700"/>
              <a:buFont typeface="Calibri"/>
              <a:buNone/>
            </a:pPr>
            <a:r>
              <a:rPr b="1" i="0" lang="en" sz="700" u="none" cap="none" strike="noStrike">
                <a:solidFill>
                  <a:srgbClr val="1B9E77"/>
                </a:solidFill>
                <a:latin typeface="Calibri"/>
                <a:ea typeface="Calibri"/>
                <a:cs typeface="Calibri"/>
                <a:sym typeface="Calibri"/>
              </a:rPr>
              <a:t>DONE</a:t>
            </a:r>
            <a:endParaRPr b="0" i="0" sz="700" u="none" cap="none" strike="noStrike">
              <a:solidFill>
                <a:schemeClr val="dk1"/>
              </a:solidFill>
              <a:latin typeface="Calibri"/>
              <a:ea typeface="Calibri"/>
              <a:cs typeface="Calibri"/>
              <a:sym typeface="Calibri"/>
            </a:endParaRPr>
          </a:p>
        </p:txBody>
      </p:sp>
      <p:sp>
        <p:nvSpPr>
          <p:cNvPr id="87" name="Google Shape;87;p17"/>
          <p:cNvSpPr/>
          <p:nvPr/>
        </p:nvSpPr>
        <p:spPr>
          <a:xfrm>
            <a:off x="1844802" y="3463290"/>
            <a:ext cx="1248000" cy="925800"/>
          </a:xfrm>
          <a:prstGeom prst="roundRect">
            <a:avLst>
              <a:gd fmla="val 444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 name="Google Shape;88;p17"/>
          <p:cNvSpPr/>
          <p:nvPr/>
        </p:nvSpPr>
        <p:spPr>
          <a:xfrm>
            <a:off x="1940814" y="3579876"/>
            <a:ext cx="205800" cy="205800"/>
          </a:xfrm>
          <a:prstGeom prst="ellipse">
            <a:avLst/>
          </a:prstGeom>
          <a:solidFill>
            <a:srgbClr val="1B9E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7"/>
          <p:cNvSpPr/>
          <p:nvPr/>
        </p:nvSpPr>
        <p:spPr>
          <a:xfrm>
            <a:off x="1940814" y="3840480"/>
            <a:ext cx="10629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900"/>
              <a:buFont typeface="Calibri"/>
              <a:buNone/>
            </a:pPr>
            <a:r>
              <a:rPr b="1" i="0" lang="en" sz="900" u="none" cap="none" strike="noStrike">
                <a:solidFill>
                  <a:srgbClr val="12355B"/>
                </a:solidFill>
                <a:latin typeface="Calibri"/>
                <a:ea typeface="Calibri"/>
                <a:cs typeface="Calibri"/>
                <a:sym typeface="Calibri"/>
              </a:rPr>
              <a:t>Pre-processing</a:t>
            </a:r>
            <a:endParaRPr b="0" i="0" sz="900" u="none" cap="none" strike="noStrike">
              <a:solidFill>
                <a:schemeClr val="dk1"/>
              </a:solidFill>
              <a:latin typeface="Calibri"/>
              <a:ea typeface="Calibri"/>
              <a:cs typeface="Calibri"/>
              <a:sym typeface="Calibri"/>
            </a:endParaRPr>
          </a:p>
        </p:txBody>
      </p:sp>
      <p:sp>
        <p:nvSpPr>
          <p:cNvPr id="90" name="Google Shape;90;p17"/>
          <p:cNvSpPr/>
          <p:nvPr/>
        </p:nvSpPr>
        <p:spPr>
          <a:xfrm>
            <a:off x="1940814" y="4155948"/>
            <a:ext cx="1062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700"/>
              <a:buFont typeface="Calibri"/>
              <a:buNone/>
            </a:pPr>
            <a:r>
              <a:rPr b="1" i="0" lang="en" sz="700" u="none" cap="none" strike="noStrike">
                <a:solidFill>
                  <a:srgbClr val="1B9E77"/>
                </a:solidFill>
                <a:latin typeface="Calibri"/>
                <a:ea typeface="Calibri"/>
                <a:cs typeface="Calibri"/>
                <a:sym typeface="Calibri"/>
              </a:rPr>
              <a:t>DONE</a:t>
            </a:r>
            <a:endParaRPr b="0" i="0" sz="700" u="none" cap="none" strike="noStrike">
              <a:solidFill>
                <a:schemeClr val="dk1"/>
              </a:solidFill>
              <a:latin typeface="Calibri"/>
              <a:ea typeface="Calibri"/>
              <a:cs typeface="Calibri"/>
              <a:sym typeface="Calibri"/>
            </a:endParaRPr>
          </a:p>
        </p:txBody>
      </p:sp>
      <p:sp>
        <p:nvSpPr>
          <p:cNvPr id="91" name="Google Shape;91;p17"/>
          <p:cNvSpPr/>
          <p:nvPr/>
        </p:nvSpPr>
        <p:spPr>
          <a:xfrm>
            <a:off x="3209544" y="3463290"/>
            <a:ext cx="1248000" cy="925800"/>
          </a:xfrm>
          <a:prstGeom prst="roundRect">
            <a:avLst>
              <a:gd fmla="val 444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 name="Google Shape;92;p17"/>
          <p:cNvSpPr/>
          <p:nvPr/>
        </p:nvSpPr>
        <p:spPr>
          <a:xfrm>
            <a:off x="3305556" y="3579876"/>
            <a:ext cx="205800" cy="205800"/>
          </a:xfrm>
          <a:prstGeom prst="ellipse">
            <a:avLst/>
          </a:prstGeom>
          <a:solidFill>
            <a:srgbClr val="1B9E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 name="Google Shape;93;p17"/>
          <p:cNvSpPr/>
          <p:nvPr/>
        </p:nvSpPr>
        <p:spPr>
          <a:xfrm>
            <a:off x="3305556" y="3840480"/>
            <a:ext cx="10629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900"/>
              <a:buFont typeface="Calibri"/>
              <a:buNone/>
            </a:pPr>
            <a:r>
              <a:rPr b="1" i="0" lang="en" sz="900" u="none" cap="none" strike="noStrike">
                <a:solidFill>
                  <a:srgbClr val="12355B"/>
                </a:solidFill>
                <a:latin typeface="Calibri"/>
                <a:ea typeface="Calibri"/>
                <a:cs typeface="Calibri"/>
                <a:sym typeface="Calibri"/>
              </a:rPr>
              <a:t>Cycle store / windows</a:t>
            </a:r>
            <a:endParaRPr b="0" i="0" sz="900" u="none" cap="none" strike="noStrike">
              <a:solidFill>
                <a:schemeClr val="dk1"/>
              </a:solidFill>
              <a:latin typeface="Calibri"/>
              <a:ea typeface="Calibri"/>
              <a:cs typeface="Calibri"/>
              <a:sym typeface="Calibri"/>
            </a:endParaRPr>
          </a:p>
        </p:txBody>
      </p:sp>
      <p:sp>
        <p:nvSpPr>
          <p:cNvPr id="94" name="Google Shape;94;p17"/>
          <p:cNvSpPr/>
          <p:nvPr/>
        </p:nvSpPr>
        <p:spPr>
          <a:xfrm>
            <a:off x="3305556" y="4155948"/>
            <a:ext cx="1062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700"/>
              <a:buFont typeface="Calibri"/>
              <a:buNone/>
            </a:pPr>
            <a:r>
              <a:rPr b="1" i="0" lang="en" sz="700" u="none" cap="none" strike="noStrike">
                <a:solidFill>
                  <a:srgbClr val="1B9E77"/>
                </a:solidFill>
                <a:latin typeface="Calibri"/>
                <a:ea typeface="Calibri"/>
                <a:cs typeface="Calibri"/>
                <a:sym typeface="Calibri"/>
              </a:rPr>
              <a:t>DONE</a:t>
            </a:r>
            <a:endParaRPr b="0" i="0" sz="700" u="none" cap="none" strike="noStrike">
              <a:solidFill>
                <a:schemeClr val="dk1"/>
              </a:solidFill>
              <a:latin typeface="Calibri"/>
              <a:ea typeface="Calibri"/>
              <a:cs typeface="Calibri"/>
              <a:sym typeface="Calibri"/>
            </a:endParaRPr>
          </a:p>
        </p:txBody>
      </p:sp>
      <p:sp>
        <p:nvSpPr>
          <p:cNvPr id="95" name="Google Shape;95;p17"/>
          <p:cNvSpPr/>
          <p:nvPr/>
        </p:nvSpPr>
        <p:spPr>
          <a:xfrm>
            <a:off x="4574286" y="3463290"/>
            <a:ext cx="1248000" cy="925800"/>
          </a:xfrm>
          <a:prstGeom prst="roundRect">
            <a:avLst>
              <a:gd fmla="val 444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p17"/>
          <p:cNvSpPr/>
          <p:nvPr/>
        </p:nvSpPr>
        <p:spPr>
          <a:xfrm>
            <a:off x="4670298" y="3579876"/>
            <a:ext cx="205800" cy="205800"/>
          </a:xfrm>
          <a:prstGeom prst="ellipse">
            <a:avLst/>
          </a:prstGeom>
          <a:solidFill>
            <a:srgbClr val="1B9E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7" name="Google Shape;97;p17"/>
          <p:cNvSpPr/>
          <p:nvPr/>
        </p:nvSpPr>
        <p:spPr>
          <a:xfrm>
            <a:off x="4670298" y="3840480"/>
            <a:ext cx="10629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900"/>
              <a:buFont typeface="Calibri"/>
              <a:buNone/>
            </a:pPr>
            <a:r>
              <a:rPr b="1" i="0" lang="en" sz="900" u="none" cap="none" strike="noStrike">
                <a:solidFill>
                  <a:srgbClr val="12355B"/>
                </a:solidFill>
                <a:latin typeface="Calibri"/>
                <a:ea typeface="Calibri"/>
                <a:cs typeface="Calibri"/>
                <a:sym typeface="Calibri"/>
              </a:rPr>
              <a:t>Clustering</a:t>
            </a:r>
            <a:endParaRPr b="0" i="0" sz="900" u="none" cap="none" strike="noStrike">
              <a:solidFill>
                <a:schemeClr val="dk1"/>
              </a:solidFill>
              <a:latin typeface="Calibri"/>
              <a:ea typeface="Calibri"/>
              <a:cs typeface="Calibri"/>
              <a:sym typeface="Calibri"/>
            </a:endParaRPr>
          </a:p>
        </p:txBody>
      </p:sp>
      <p:sp>
        <p:nvSpPr>
          <p:cNvPr id="98" name="Google Shape;98;p17"/>
          <p:cNvSpPr/>
          <p:nvPr/>
        </p:nvSpPr>
        <p:spPr>
          <a:xfrm>
            <a:off x="4670298" y="4155948"/>
            <a:ext cx="1062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700"/>
              <a:buFont typeface="Calibri"/>
              <a:buNone/>
            </a:pPr>
            <a:r>
              <a:rPr b="1" i="0" lang="en" sz="700" u="none" cap="none" strike="noStrike">
                <a:solidFill>
                  <a:srgbClr val="1B9E77"/>
                </a:solidFill>
                <a:latin typeface="Calibri"/>
                <a:ea typeface="Calibri"/>
                <a:cs typeface="Calibri"/>
                <a:sym typeface="Calibri"/>
              </a:rPr>
              <a:t>DONE</a:t>
            </a:r>
            <a:endParaRPr b="0" i="0" sz="700" u="none" cap="none" strike="noStrike">
              <a:solidFill>
                <a:schemeClr val="dk1"/>
              </a:solidFill>
              <a:latin typeface="Calibri"/>
              <a:ea typeface="Calibri"/>
              <a:cs typeface="Calibri"/>
              <a:sym typeface="Calibri"/>
            </a:endParaRPr>
          </a:p>
        </p:txBody>
      </p:sp>
      <p:sp>
        <p:nvSpPr>
          <p:cNvPr id="99" name="Google Shape;99;p17"/>
          <p:cNvSpPr/>
          <p:nvPr/>
        </p:nvSpPr>
        <p:spPr>
          <a:xfrm>
            <a:off x="5939028" y="3463290"/>
            <a:ext cx="1248000" cy="925800"/>
          </a:xfrm>
          <a:prstGeom prst="roundRect">
            <a:avLst>
              <a:gd fmla="val 444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 name="Google Shape;100;p17"/>
          <p:cNvSpPr/>
          <p:nvPr/>
        </p:nvSpPr>
        <p:spPr>
          <a:xfrm>
            <a:off x="6035040" y="3579876"/>
            <a:ext cx="205800" cy="205800"/>
          </a:xfrm>
          <a:prstGeom prst="ellipse">
            <a:avLst/>
          </a:prstGeom>
          <a:solidFill>
            <a:srgbClr val="E8A33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1" name="Google Shape;101;p17"/>
          <p:cNvSpPr/>
          <p:nvPr/>
        </p:nvSpPr>
        <p:spPr>
          <a:xfrm>
            <a:off x="6035040" y="3840480"/>
            <a:ext cx="10629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900"/>
              <a:buFont typeface="Calibri"/>
              <a:buNone/>
            </a:pPr>
            <a:r>
              <a:rPr b="1" i="0" lang="en" sz="900" u="none" cap="none" strike="noStrike">
                <a:solidFill>
                  <a:srgbClr val="12355B"/>
                </a:solidFill>
                <a:latin typeface="Calibri"/>
                <a:ea typeface="Calibri"/>
                <a:cs typeface="Calibri"/>
                <a:sym typeface="Calibri"/>
              </a:rPr>
              <a:t>Anomaly detection</a:t>
            </a:r>
            <a:endParaRPr b="0" i="0" sz="900" u="none" cap="none" strike="noStrike">
              <a:solidFill>
                <a:schemeClr val="dk1"/>
              </a:solidFill>
              <a:latin typeface="Calibri"/>
              <a:ea typeface="Calibri"/>
              <a:cs typeface="Calibri"/>
              <a:sym typeface="Calibri"/>
            </a:endParaRPr>
          </a:p>
        </p:txBody>
      </p:sp>
      <p:sp>
        <p:nvSpPr>
          <p:cNvPr id="102" name="Google Shape;102;p17"/>
          <p:cNvSpPr/>
          <p:nvPr/>
        </p:nvSpPr>
        <p:spPr>
          <a:xfrm>
            <a:off x="6035040" y="4155948"/>
            <a:ext cx="1062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700"/>
              <a:buFont typeface="Calibri"/>
              <a:buNone/>
            </a:pPr>
            <a:r>
              <a:rPr b="1" i="0" lang="en" sz="700" u="none" cap="none" strike="noStrike">
                <a:solidFill>
                  <a:srgbClr val="E8A33D"/>
                </a:solidFill>
                <a:latin typeface="Calibri"/>
                <a:ea typeface="Calibri"/>
                <a:cs typeface="Calibri"/>
                <a:sym typeface="Calibri"/>
              </a:rPr>
              <a:t>IN PROGRESS</a:t>
            </a:r>
            <a:endParaRPr b="0" i="0" sz="700" u="none" cap="none" strike="noStrike">
              <a:solidFill>
                <a:schemeClr val="dk1"/>
              </a:solidFill>
              <a:latin typeface="Calibri"/>
              <a:ea typeface="Calibri"/>
              <a:cs typeface="Calibri"/>
              <a:sym typeface="Calibri"/>
            </a:endParaRPr>
          </a:p>
        </p:txBody>
      </p:sp>
      <p:sp>
        <p:nvSpPr>
          <p:cNvPr id="103" name="Google Shape;103;p17"/>
          <p:cNvSpPr/>
          <p:nvPr/>
        </p:nvSpPr>
        <p:spPr>
          <a:xfrm>
            <a:off x="7303770" y="3463290"/>
            <a:ext cx="1248000" cy="925800"/>
          </a:xfrm>
          <a:prstGeom prst="roundRect">
            <a:avLst>
              <a:gd fmla="val 444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17"/>
          <p:cNvSpPr/>
          <p:nvPr/>
        </p:nvSpPr>
        <p:spPr>
          <a:xfrm>
            <a:off x="7399782" y="3579876"/>
            <a:ext cx="205800" cy="205800"/>
          </a:xfrm>
          <a:prstGeom prst="ellipse">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5" name="Google Shape;105;p17"/>
          <p:cNvSpPr/>
          <p:nvPr/>
        </p:nvSpPr>
        <p:spPr>
          <a:xfrm>
            <a:off x="7399782" y="3840480"/>
            <a:ext cx="10629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900"/>
              <a:buFont typeface="Calibri"/>
              <a:buNone/>
            </a:pPr>
            <a:r>
              <a:rPr b="1" i="0" lang="en" sz="900" u="none" cap="none" strike="noStrike">
                <a:solidFill>
                  <a:srgbClr val="12355B"/>
                </a:solidFill>
                <a:latin typeface="Calibri"/>
                <a:ea typeface="Calibri"/>
                <a:cs typeface="Calibri"/>
                <a:sym typeface="Calibri"/>
              </a:rPr>
              <a:t>Early warning</a:t>
            </a:r>
            <a:endParaRPr b="0" i="0" sz="900" u="none" cap="none" strike="noStrike">
              <a:solidFill>
                <a:schemeClr val="dk1"/>
              </a:solidFill>
              <a:latin typeface="Calibri"/>
              <a:ea typeface="Calibri"/>
              <a:cs typeface="Calibri"/>
              <a:sym typeface="Calibri"/>
            </a:endParaRPr>
          </a:p>
        </p:txBody>
      </p:sp>
      <p:sp>
        <p:nvSpPr>
          <p:cNvPr id="106" name="Google Shape;106;p17"/>
          <p:cNvSpPr/>
          <p:nvPr/>
        </p:nvSpPr>
        <p:spPr>
          <a:xfrm>
            <a:off x="7399782" y="4155948"/>
            <a:ext cx="1062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700"/>
              <a:buFont typeface="Calibri"/>
              <a:buNone/>
            </a:pPr>
            <a:r>
              <a:rPr b="1" i="0" lang="en" sz="700" u="none" cap="none" strike="noStrike">
                <a:solidFill>
                  <a:srgbClr val="C0392B"/>
                </a:solidFill>
                <a:latin typeface="Calibri"/>
                <a:ea typeface="Calibri"/>
                <a:cs typeface="Calibri"/>
                <a:sym typeface="Calibri"/>
              </a:rPr>
              <a:t>OPEN</a:t>
            </a:r>
            <a:endParaRPr b="0" i="0" sz="700" u="none" cap="none" strike="noStrike">
              <a:solidFill>
                <a:schemeClr val="dk1"/>
              </a:solidFill>
              <a:latin typeface="Calibri"/>
              <a:ea typeface="Calibri"/>
              <a:cs typeface="Calibri"/>
              <a:sym typeface="Calibri"/>
            </a:endParaRPr>
          </a:p>
        </p:txBody>
      </p:sp>
      <p:sp>
        <p:nvSpPr>
          <p:cNvPr id="107" name="Google Shape;107;p17"/>
          <p:cNvSpPr/>
          <p:nvPr/>
        </p:nvSpPr>
        <p:spPr>
          <a:xfrm>
            <a:off x="480060" y="4539996"/>
            <a:ext cx="81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000"/>
              <a:buFont typeface="Calibri"/>
              <a:buNone/>
            </a:pPr>
            <a:r>
              <a:rPr i="1" lang="en" sz="1000">
                <a:solidFill>
                  <a:srgbClr val="12355B"/>
                </a:solidFill>
                <a:latin typeface="Calibri"/>
                <a:ea typeface="Calibri"/>
                <a:cs typeface="Calibri"/>
                <a:sym typeface="Calibri"/>
              </a:rPr>
              <a:t>1.5M raw readings reduce to 16,773 analysable windows:  a 90x reduction that preserves the cycle and duty statistics a leak acts 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p:nvPr/>
        </p:nvSpPr>
        <p:spPr>
          <a:xfrm>
            <a:off x="7783830" y="288036"/>
            <a:ext cx="8778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 name="Google Shape;114;p18"/>
          <p:cNvSpPr/>
          <p:nvPr/>
        </p:nvSpPr>
        <p:spPr>
          <a:xfrm>
            <a:off x="7783830" y="288036"/>
            <a:ext cx="8778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CLEANING</a:t>
            </a:r>
            <a:endParaRPr b="0" i="0" sz="800" u="none" cap="none" strike="noStrike">
              <a:solidFill>
                <a:schemeClr val="dk1"/>
              </a:solidFill>
              <a:latin typeface="Calibri"/>
              <a:ea typeface="Calibri"/>
              <a:cs typeface="Calibri"/>
              <a:sym typeface="Calibri"/>
            </a:endParaRPr>
          </a:p>
        </p:txBody>
      </p:sp>
      <p:sp>
        <p:nvSpPr>
          <p:cNvPr id="115" name="Google Shape;115;p18"/>
          <p:cNvSpPr/>
          <p:nvPr/>
        </p:nvSpPr>
        <p:spPr>
          <a:xfrm>
            <a:off x="480060" y="260604"/>
            <a:ext cx="69816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Three Cleaning Decisions, Three Reasons</a:t>
            </a:r>
            <a:endParaRPr b="0" i="0" sz="2500" u="none" cap="none" strike="noStrike">
              <a:solidFill>
                <a:schemeClr val="dk1"/>
              </a:solidFill>
              <a:latin typeface="Calibri"/>
              <a:ea typeface="Calibri"/>
              <a:cs typeface="Calibri"/>
              <a:sym typeface="Calibri"/>
            </a:endParaRPr>
          </a:p>
        </p:txBody>
      </p:sp>
      <p:sp>
        <p:nvSpPr>
          <p:cNvPr id="116" name="Google Shape;116;p18"/>
          <p:cNvSpPr/>
          <p:nvPr/>
        </p:nvSpPr>
        <p:spPr>
          <a:xfrm>
            <a:off x="480060" y="754380"/>
            <a:ext cx="69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Each choice was made against a specific property of this sensor stream.</a:t>
            </a:r>
            <a:endParaRPr b="0" i="0" sz="1200" u="none" cap="none" strike="noStrike">
              <a:solidFill>
                <a:schemeClr val="dk1"/>
              </a:solidFill>
              <a:latin typeface="Calibri"/>
              <a:ea typeface="Calibri"/>
              <a:cs typeface="Calibri"/>
              <a:sym typeface="Calibri"/>
            </a:endParaRPr>
          </a:p>
        </p:txBody>
      </p:sp>
      <p:sp>
        <p:nvSpPr>
          <p:cNvPr id="117" name="Google Shape;117;p18"/>
          <p:cNvSpPr/>
          <p:nvPr/>
        </p:nvSpPr>
        <p:spPr>
          <a:xfrm>
            <a:off x="480060" y="1200150"/>
            <a:ext cx="2571900" cy="2400300"/>
          </a:xfrm>
          <a:prstGeom prst="roundRect">
            <a:avLst>
              <a:gd fmla="val 171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8"/>
          <p:cNvSpPr/>
          <p:nvPr/>
        </p:nvSpPr>
        <p:spPr>
          <a:xfrm>
            <a:off x="685800" y="1371600"/>
            <a:ext cx="356700" cy="356700"/>
          </a:xfrm>
          <a:prstGeom prst="ellipse">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9" name="Google Shape;119;p18"/>
          <p:cNvSpPr/>
          <p:nvPr/>
        </p:nvSpPr>
        <p:spPr>
          <a:xfrm>
            <a:off x="685800" y="1371600"/>
            <a:ext cx="356700" cy="35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120" name="Google Shape;120;p18"/>
          <p:cNvSpPr/>
          <p:nvPr/>
        </p:nvSpPr>
        <p:spPr>
          <a:xfrm>
            <a:off x="685800" y="1837944"/>
            <a:ext cx="21603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200"/>
              <a:buFont typeface="Calibri"/>
              <a:buNone/>
            </a:pPr>
            <a:r>
              <a:rPr b="1" i="0" lang="en" sz="1200" u="none" cap="none" strike="noStrike">
                <a:solidFill>
                  <a:srgbClr val="12355B"/>
                </a:solidFill>
                <a:latin typeface="Calibri"/>
                <a:ea typeface="Calibri"/>
                <a:cs typeface="Calibri"/>
                <a:sym typeface="Calibri"/>
              </a:rPr>
              <a:t>Flag gaps, never interpolate</a:t>
            </a:r>
            <a:endParaRPr b="0" i="0" sz="1200" u="none" cap="none" strike="noStrike">
              <a:solidFill>
                <a:schemeClr val="dk1"/>
              </a:solidFill>
              <a:latin typeface="Calibri"/>
              <a:ea typeface="Calibri"/>
              <a:cs typeface="Calibri"/>
              <a:sym typeface="Calibri"/>
            </a:endParaRPr>
          </a:p>
        </p:txBody>
      </p:sp>
      <p:sp>
        <p:nvSpPr>
          <p:cNvPr id="121" name="Google Shape;121;p18"/>
          <p:cNvSpPr/>
          <p:nvPr/>
        </p:nvSpPr>
        <p:spPr>
          <a:xfrm>
            <a:off x="685800" y="2400300"/>
            <a:ext cx="21603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909 hours of the 213-day record are missing across 331 gaps. Interpolating would invent smooth, well-behaved data exactly where the machine was out of service, teaching the model that the smoothest data is the most normal.</a:t>
            </a:r>
            <a:endParaRPr b="0" i="0" sz="900" u="none" cap="none" strike="noStrike">
              <a:solidFill>
                <a:schemeClr val="dk1"/>
              </a:solidFill>
              <a:latin typeface="Calibri"/>
              <a:ea typeface="Calibri"/>
              <a:cs typeface="Calibri"/>
              <a:sym typeface="Calibri"/>
            </a:endParaRPr>
          </a:p>
        </p:txBody>
      </p:sp>
      <p:sp>
        <p:nvSpPr>
          <p:cNvPr id="122" name="Google Shape;122;p18"/>
          <p:cNvSpPr/>
          <p:nvPr/>
        </p:nvSpPr>
        <p:spPr>
          <a:xfrm>
            <a:off x="3257550" y="1200150"/>
            <a:ext cx="2571900" cy="2400300"/>
          </a:xfrm>
          <a:prstGeom prst="roundRect">
            <a:avLst>
              <a:gd fmla="val 171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18"/>
          <p:cNvSpPr/>
          <p:nvPr/>
        </p:nvSpPr>
        <p:spPr>
          <a:xfrm>
            <a:off x="3463290" y="1371600"/>
            <a:ext cx="356700" cy="356700"/>
          </a:xfrm>
          <a:prstGeom prst="ellipse">
            <a:avLst/>
          </a:prstGeom>
          <a:solidFill>
            <a:srgbClr val="1235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4" name="Google Shape;124;p18"/>
          <p:cNvSpPr/>
          <p:nvPr/>
        </p:nvSpPr>
        <p:spPr>
          <a:xfrm>
            <a:off x="3463290" y="1371600"/>
            <a:ext cx="356700" cy="35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25" name="Google Shape;125;p18"/>
          <p:cNvSpPr/>
          <p:nvPr/>
        </p:nvSpPr>
        <p:spPr>
          <a:xfrm>
            <a:off x="3463290" y="1837944"/>
            <a:ext cx="21603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200"/>
              <a:buFont typeface="Calibri"/>
              <a:buNone/>
            </a:pPr>
            <a:r>
              <a:rPr b="1" i="0" lang="en" sz="1200" u="none" cap="none" strike="noStrike">
                <a:solidFill>
                  <a:srgbClr val="12355B"/>
                </a:solidFill>
                <a:latin typeface="Calibri"/>
                <a:ea typeface="Calibri"/>
                <a:cs typeface="Calibri"/>
                <a:sym typeface="Calibri"/>
              </a:rPr>
              <a:t>Correct offsets only where zero is expected</a:t>
            </a:r>
            <a:endParaRPr b="0" i="0" sz="1200" u="none" cap="none" strike="noStrike">
              <a:solidFill>
                <a:schemeClr val="dk1"/>
              </a:solidFill>
              <a:latin typeface="Calibri"/>
              <a:ea typeface="Calibri"/>
              <a:cs typeface="Calibri"/>
              <a:sym typeface="Calibri"/>
            </a:endParaRPr>
          </a:p>
        </p:txBody>
      </p:sp>
      <p:sp>
        <p:nvSpPr>
          <p:cNvPr id="126" name="Google Shape;126;p18"/>
          <p:cNvSpPr/>
          <p:nvPr/>
        </p:nvSpPr>
        <p:spPr>
          <a:xfrm>
            <a:off x="3463290" y="2400300"/>
            <a:ext cx="21603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TP2 and DV_pressure rest at -0.012 and -0.020 bar: transducer bias. H1 rests at 8.64 bar because that is a real pressure. A blanket idle-median correction would have destroyed H1 entirely.</a:t>
            </a:r>
            <a:endParaRPr b="0" i="0" sz="900" u="none" cap="none" strike="noStrike">
              <a:solidFill>
                <a:schemeClr val="dk1"/>
              </a:solidFill>
              <a:latin typeface="Calibri"/>
              <a:ea typeface="Calibri"/>
              <a:cs typeface="Calibri"/>
              <a:sym typeface="Calibri"/>
            </a:endParaRPr>
          </a:p>
        </p:txBody>
      </p:sp>
      <p:sp>
        <p:nvSpPr>
          <p:cNvPr id="127" name="Google Shape;127;p18"/>
          <p:cNvSpPr/>
          <p:nvPr/>
        </p:nvSpPr>
        <p:spPr>
          <a:xfrm>
            <a:off x="6035040" y="1200150"/>
            <a:ext cx="2571900" cy="2400300"/>
          </a:xfrm>
          <a:prstGeom prst="roundRect">
            <a:avLst>
              <a:gd fmla="val 171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8"/>
          <p:cNvSpPr/>
          <p:nvPr/>
        </p:nvSpPr>
        <p:spPr>
          <a:xfrm>
            <a:off x="6240780" y="1371600"/>
            <a:ext cx="356700" cy="356700"/>
          </a:xfrm>
          <a:prstGeom prst="ellipse">
            <a:avLst/>
          </a:prstGeom>
          <a:solidFill>
            <a:srgbClr val="1B9E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9" name="Google Shape;129;p18"/>
          <p:cNvSpPr/>
          <p:nvPr/>
        </p:nvSpPr>
        <p:spPr>
          <a:xfrm>
            <a:off x="6240780" y="1371600"/>
            <a:ext cx="356700" cy="35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130" name="Google Shape;130;p18"/>
          <p:cNvSpPr/>
          <p:nvPr/>
        </p:nvSpPr>
        <p:spPr>
          <a:xfrm>
            <a:off x="6240780" y="1837944"/>
            <a:ext cx="21603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200"/>
              <a:buFont typeface="Calibri"/>
              <a:buNone/>
            </a:pPr>
            <a:r>
              <a:rPr b="1" i="0" lang="en" sz="1200" u="none" cap="none" strike="noStrike">
                <a:solidFill>
                  <a:srgbClr val="12355B"/>
                </a:solidFill>
                <a:latin typeface="Calibri"/>
                <a:ea typeface="Calibri"/>
                <a:cs typeface="Calibri"/>
                <a:sym typeface="Calibri"/>
              </a:rPr>
              <a:t>Median filter, not mean</a:t>
            </a:r>
            <a:endParaRPr b="0" i="0" sz="1200" u="none" cap="none" strike="noStrike">
              <a:solidFill>
                <a:schemeClr val="dk1"/>
              </a:solidFill>
              <a:latin typeface="Calibri"/>
              <a:ea typeface="Calibri"/>
              <a:cs typeface="Calibri"/>
              <a:sym typeface="Calibri"/>
            </a:endParaRPr>
          </a:p>
        </p:txBody>
      </p:sp>
      <p:sp>
        <p:nvSpPr>
          <p:cNvPr id="131" name="Google Shape;131;p18"/>
          <p:cNvSpPr/>
          <p:nvPr/>
        </p:nvSpPr>
        <p:spPr>
          <a:xfrm>
            <a:off x="6240780" y="2400300"/>
            <a:ext cx="21603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A 5-sample median removes transient spikes while preserving the sharp edges of state transitions. A mean filter smears those edges, and the edges are what define a compression cycle.</a:t>
            </a:r>
            <a:endParaRPr b="0" i="0" sz="900" u="none" cap="none" strike="noStrike">
              <a:solidFill>
                <a:schemeClr val="dk1"/>
              </a:solidFill>
              <a:latin typeface="Calibri"/>
              <a:ea typeface="Calibri"/>
              <a:cs typeface="Calibri"/>
              <a:sym typeface="Calibri"/>
            </a:endParaRPr>
          </a:p>
        </p:txBody>
      </p:sp>
      <p:sp>
        <p:nvSpPr>
          <p:cNvPr id="132" name="Google Shape;132;p18"/>
          <p:cNvSpPr/>
          <p:nvPr/>
        </p:nvSpPr>
        <p:spPr>
          <a:xfrm>
            <a:off x="480060" y="3771900"/>
            <a:ext cx="18858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3000"/>
              <a:buFont typeface="Cambria"/>
              <a:buNone/>
            </a:pPr>
            <a:r>
              <a:rPr b="1" i="0" lang="en" sz="3000" u="none" cap="none" strike="noStrike">
                <a:solidFill>
                  <a:srgbClr val="C0392B"/>
                </a:solidFill>
                <a:latin typeface="Cambria"/>
                <a:ea typeface="Cambria"/>
                <a:cs typeface="Cambria"/>
                <a:sym typeface="Cambria"/>
              </a:rPr>
              <a:t>909 h</a:t>
            </a:r>
            <a:endParaRPr b="0" i="0" sz="3000" u="none" cap="none" strike="noStrike">
              <a:solidFill>
                <a:schemeClr val="dk1"/>
              </a:solidFill>
              <a:latin typeface="Calibri"/>
              <a:ea typeface="Calibri"/>
              <a:cs typeface="Calibri"/>
              <a:sym typeface="Calibri"/>
            </a:endParaRPr>
          </a:p>
        </p:txBody>
      </p:sp>
      <p:sp>
        <p:nvSpPr>
          <p:cNvPr id="133" name="Google Shape;133;p18"/>
          <p:cNvSpPr/>
          <p:nvPr/>
        </p:nvSpPr>
        <p:spPr>
          <a:xfrm>
            <a:off x="480060" y="4279392"/>
            <a:ext cx="18858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of record missing, now flagged</a:t>
            </a:r>
            <a:endParaRPr b="0" i="0" sz="1000" u="none" cap="none" strike="noStrike">
              <a:solidFill>
                <a:schemeClr val="dk1"/>
              </a:solidFill>
              <a:latin typeface="Calibri"/>
              <a:ea typeface="Calibri"/>
              <a:cs typeface="Calibri"/>
              <a:sym typeface="Calibri"/>
            </a:endParaRPr>
          </a:p>
        </p:txBody>
      </p:sp>
      <p:sp>
        <p:nvSpPr>
          <p:cNvPr id="134" name="Google Shape;134;p18"/>
          <p:cNvSpPr/>
          <p:nvPr/>
        </p:nvSpPr>
        <p:spPr>
          <a:xfrm>
            <a:off x="3257550" y="3771900"/>
            <a:ext cx="18858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3000"/>
              <a:buFont typeface="Cambria"/>
              <a:buNone/>
            </a:pPr>
            <a:r>
              <a:rPr b="1" i="0" lang="en" sz="3000" u="none" cap="none" strike="noStrike">
                <a:solidFill>
                  <a:srgbClr val="12355B"/>
                </a:solidFill>
                <a:latin typeface="Cambria"/>
                <a:ea typeface="Cambria"/>
                <a:cs typeface="Cambria"/>
                <a:sym typeface="Cambria"/>
              </a:rPr>
              <a:t>0.11%</a:t>
            </a:r>
            <a:endParaRPr b="0" i="0" sz="3000" u="none" cap="none" strike="noStrike">
              <a:solidFill>
                <a:schemeClr val="dk1"/>
              </a:solidFill>
              <a:latin typeface="Calibri"/>
              <a:ea typeface="Calibri"/>
              <a:cs typeface="Calibri"/>
              <a:sym typeface="Calibri"/>
            </a:endParaRPr>
          </a:p>
        </p:txBody>
      </p:sp>
      <p:sp>
        <p:nvSpPr>
          <p:cNvPr id="135" name="Google Shape;135;p18"/>
          <p:cNvSpPr/>
          <p:nvPr/>
        </p:nvSpPr>
        <p:spPr>
          <a:xfrm>
            <a:off x="3257550" y="4279392"/>
            <a:ext cx="18858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sustained frozen sensor holds</a:t>
            </a:r>
            <a:endParaRPr b="0" i="0" sz="1000" u="none" cap="none" strike="noStrike">
              <a:solidFill>
                <a:schemeClr val="dk1"/>
              </a:solidFill>
              <a:latin typeface="Calibri"/>
              <a:ea typeface="Calibri"/>
              <a:cs typeface="Calibri"/>
              <a:sym typeface="Calibri"/>
            </a:endParaRPr>
          </a:p>
        </p:txBody>
      </p:sp>
      <p:sp>
        <p:nvSpPr>
          <p:cNvPr id="136" name="Google Shape;136;p18"/>
          <p:cNvSpPr/>
          <p:nvPr/>
        </p:nvSpPr>
        <p:spPr>
          <a:xfrm>
            <a:off x="6035040" y="3771900"/>
            <a:ext cx="18858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3000"/>
              <a:buFont typeface="Cambria"/>
              <a:buNone/>
            </a:pPr>
            <a:r>
              <a:rPr b="1" i="0" lang="en" sz="3000" u="none" cap="none" strike="noStrike">
                <a:solidFill>
                  <a:srgbClr val="1B9E77"/>
                </a:solidFill>
                <a:latin typeface="Cambria"/>
                <a:ea typeface="Cambria"/>
                <a:cs typeface="Cambria"/>
                <a:sym typeface="Cambria"/>
              </a:rPr>
              <a:t>97k/s</a:t>
            </a:r>
            <a:endParaRPr b="0" i="0" sz="3000" u="none" cap="none" strike="noStrike">
              <a:solidFill>
                <a:schemeClr val="dk1"/>
              </a:solidFill>
              <a:latin typeface="Calibri"/>
              <a:ea typeface="Calibri"/>
              <a:cs typeface="Calibri"/>
              <a:sym typeface="Calibri"/>
            </a:endParaRPr>
          </a:p>
        </p:txBody>
      </p:sp>
      <p:sp>
        <p:nvSpPr>
          <p:cNvPr id="137" name="Google Shape;137;p18"/>
          <p:cNvSpPr/>
          <p:nvPr/>
        </p:nvSpPr>
        <p:spPr>
          <a:xfrm>
            <a:off x="6035040" y="4279392"/>
            <a:ext cx="18858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cleaning throughput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9"/>
          <p:cNvSpPr/>
          <p:nvPr/>
        </p:nvSpPr>
        <p:spPr>
          <a:xfrm>
            <a:off x="7783830" y="288036"/>
            <a:ext cx="8778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4" name="Google Shape;144;p19"/>
          <p:cNvSpPr/>
          <p:nvPr/>
        </p:nvSpPr>
        <p:spPr>
          <a:xfrm>
            <a:off x="7783830" y="288036"/>
            <a:ext cx="8778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FINDING 1</a:t>
            </a:r>
            <a:endParaRPr b="0" i="0" sz="800" u="none" cap="none" strike="noStrike">
              <a:solidFill>
                <a:schemeClr val="dk1"/>
              </a:solidFill>
              <a:latin typeface="Calibri"/>
              <a:ea typeface="Calibri"/>
              <a:cs typeface="Calibri"/>
              <a:sym typeface="Calibri"/>
            </a:endParaRPr>
          </a:p>
        </p:txBody>
      </p:sp>
      <p:sp>
        <p:nvSpPr>
          <p:cNvPr id="145" name="Google Shape;145;p19"/>
          <p:cNvSpPr/>
          <p:nvPr/>
        </p:nvSpPr>
        <p:spPr>
          <a:xfrm>
            <a:off x="480060" y="260604"/>
            <a:ext cx="69816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The Compression Cycle Broke as a Unit of Analysis</a:t>
            </a:r>
            <a:endParaRPr b="0" i="0" sz="2500" u="none" cap="none" strike="noStrike">
              <a:solidFill>
                <a:schemeClr val="dk1"/>
              </a:solidFill>
              <a:latin typeface="Calibri"/>
              <a:ea typeface="Calibri"/>
              <a:cs typeface="Calibri"/>
              <a:sym typeface="Calibri"/>
            </a:endParaRPr>
          </a:p>
        </p:txBody>
      </p:sp>
      <p:sp>
        <p:nvSpPr>
          <p:cNvPr id="146" name="Google Shape;146;p19"/>
          <p:cNvSpPr/>
          <p:nvPr/>
        </p:nvSpPr>
        <p:spPr>
          <a:xfrm>
            <a:off x="480060" y="919155"/>
            <a:ext cx="69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The proposal was wrong about this, and the reason is physically interesting.</a:t>
            </a:r>
            <a:endParaRPr b="0" i="0" sz="1200" u="none" cap="none" strike="noStrike">
              <a:solidFill>
                <a:schemeClr val="dk1"/>
              </a:solidFill>
              <a:latin typeface="Calibri"/>
              <a:ea typeface="Calibri"/>
              <a:cs typeface="Calibri"/>
              <a:sym typeface="Calibri"/>
            </a:endParaRPr>
          </a:p>
        </p:txBody>
      </p:sp>
      <p:sp>
        <p:nvSpPr>
          <p:cNvPr id="147" name="Google Shape;147;p19"/>
          <p:cNvSpPr/>
          <p:nvPr/>
        </p:nvSpPr>
        <p:spPr>
          <a:xfrm>
            <a:off x="480060" y="1234440"/>
            <a:ext cx="3840600" cy="2400300"/>
          </a:xfrm>
          <a:prstGeom prst="roundRect">
            <a:avLst>
              <a:gd fmla="val 171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19"/>
          <p:cNvSpPr/>
          <p:nvPr/>
        </p:nvSpPr>
        <p:spPr>
          <a:xfrm>
            <a:off x="720090" y="1371600"/>
            <a:ext cx="3291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300"/>
              <a:buFont typeface="Calibri"/>
              <a:buNone/>
            </a:pPr>
            <a:r>
              <a:rPr b="1" i="0" lang="en" sz="1300" u="none" cap="none" strike="noStrike">
                <a:solidFill>
                  <a:srgbClr val="12355B"/>
                </a:solidFill>
                <a:latin typeface="Calibri"/>
                <a:ea typeface="Calibri"/>
                <a:cs typeface="Calibri"/>
                <a:sym typeface="Calibri"/>
              </a:rPr>
              <a:t>What we expected</a:t>
            </a:r>
            <a:endParaRPr b="0" i="0" sz="1300" u="none" cap="none" strike="noStrike">
              <a:solidFill>
                <a:schemeClr val="dk1"/>
              </a:solidFill>
              <a:latin typeface="Calibri"/>
              <a:ea typeface="Calibri"/>
              <a:cs typeface="Calibri"/>
              <a:sym typeface="Calibri"/>
            </a:endParaRPr>
          </a:p>
        </p:txBody>
      </p:sp>
      <p:sp>
        <p:nvSpPr>
          <p:cNvPr id="149" name="Google Shape;149;p19"/>
          <p:cNvSpPr/>
          <p:nvPr/>
        </p:nvSpPr>
        <p:spPr>
          <a:xfrm>
            <a:off x="720090" y="1714500"/>
            <a:ext cx="33603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Aggregate 1.5M readings into ~16,900 compression cycles and model each cycle. A leak shows up as longer refills and shorter intervals.</a:t>
            </a:r>
            <a:endParaRPr b="0" i="0" sz="1100" u="none" cap="none" strike="noStrike">
              <a:solidFill>
                <a:schemeClr val="dk1"/>
              </a:solidFill>
              <a:latin typeface="Calibri"/>
              <a:ea typeface="Calibri"/>
              <a:cs typeface="Calibri"/>
              <a:sym typeface="Calibri"/>
            </a:endParaRPr>
          </a:p>
        </p:txBody>
      </p:sp>
      <p:sp>
        <p:nvSpPr>
          <p:cNvPr id="150" name="Google Shape;150;p19"/>
          <p:cNvSpPr/>
          <p:nvPr/>
        </p:nvSpPr>
        <p:spPr>
          <a:xfrm>
            <a:off x="720090" y="2640330"/>
            <a:ext cx="33603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3000"/>
              <a:buFont typeface="Cambria"/>
              <a:buNone/>
            </a:pPr>
            <a:r>
              <a:rPr b="1" i="0" lang="en" sz="3000" u="none" cap="none" strike="noStrike">
                <a:solidFill>
                  <a:srgbClr val="12355B"/>
                </a:solidFill>
                <a:latin typeface="Cambria"/>
                <a:ea typeface="Cambria"/>
                <a:cs typeface="Cambria"/>
                <a:sym typeface="Cambria"/>
              </a:rPr>
              <a:t>10,974</a:t>
            </a:r>
            <a:endParaRPr b="0" i="0" sz="3000" u="none" cap="none" strike="noStrike">
              <a:solidFill>
                <a:schemeClr val="dk1"/>
              </a:solidFill>
              <a:latin typeface="Calibri"/>
              <a:ea typeface="Calibri"/>
              <a:cs typeface="Calibri"/>
              <a:sym typeface="Calibri"/>
            </a:endParaRPr>
          </a:p>
        </p:txBody>
      </p:sp>
      <p:sp>
        <p:nvSpPr>
          <p:cNvPr id="151" name="Google Shape;151;p19"/>
          <p:cNvSpPr/>
          <p:nvPr/>
        </p:nvSpPr>
        <p:spPr>
          <a:xfrm>
            <a:off x="720090" y="3154680"/>
            <a:ext cx="33603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cycles found in the cleaned record</a:t>
            </a:r>
            <a:endParaRPr b="0" i="0" sz="900" u="none" cap="none" strike="noStrike">
              <a:solidFill>
                <a:schemeClr val="dk1"/>
              </a:solidFill>
              <a:latin typeface="Calibri"/>
              <a:ea typeface="Calibri"/>
              <a:cs typeface="Calibri"/>
              <a:sym typeface="Calibri"/>
            </a:endParaRPr>
          </a:p>
        </p:txBody>
      </p:sp>
      <p:sp>
        <p:nvSpPr>
          <p:cNvPr id="152" name="Google Shape;152;p19"/>
          <p:cNvSpPr/>
          <p:nvPr/>
        </p:nvSpPr>
        <p:spPr>
          <a:xfrm>
            <a:off x="4800600" y="1234440"/>
            <a:ext cx="3840600" cy="2400300"/>
          </a:xfrm>
          <a:prstGeom prst="roundRect">
            <a:avLst>
              <a:gd fmla="val 1714" name="adj"/>
            </a:avLst>
          </a:prstGeom>
          <a:solidFill>
            <a:srgbClr val="FDF3E3"/>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 name="Google Shape;153;p19"/>
          <p:cNvSpPr/>
          <p:nvPr/>
        </p:nvSpPr>
        <p:spPr>
          <a:xfrm>
            <a:off x="5040630" y="1371600"/>
            <a:ext cx="3291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A12"/>
              </a:buClr>
              <a:buSzPts val="1300"/>
              <a:buFont typeface="Calibri"/>
              <a:buNone/>
            </a:pPr>
            <a:r>
              <a:rPr b="1" i="0" lang="en" sz="1300" u="none" cap="none" strike="noStrike">
                <a:solidFill>
                  <a:srgbClr val="8A5A12"/>
                </a:solidFill>
                <a:latin typeface="Calibri"/>
                <a:ea typeface="Calibri"/>
                <a:cs typeface="Calibri"/>
                <a:sym typeface="Calibri"/>
              </a:rPr>
              <a:t>What actually happened</a:t>
            </a:r>
            <a:endParaRPr b="0" i="0" sz="1300" u="none" cap="none" strike="noStrike">
              <a:solidFill>
                <a:schemeClr val="dk1"/>
              </a:solidFill>
              <a:latin typeface="Calibri"/>
              <a:ea typeface="Calibri"/>
              <a:cs typeface="Calibri"/>
              <a:sym typeface="Calibri"/>
            </a:endParaRPr>
          </a:p>
        </p:txBody>
      </p:sp>
      <p:sp>
        <p:nvSpPr>
          <p:cNvPr id="154" name="Google Shape;154;p19"/>
          <p:cNvSpPr/>
          <p:nvPr/>
        </p:nvSpPr>
        <p:spPr>
          <a:xfrm>
            <a:off x="5040630" y="1714500"/>
            <a:ext cx="33603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A14"/>
              </a:buClr>
              <a:buSzPts val="1100"/>
              <a:buFont typeface="Calibri"/>
              <a:buNone/>
            </a:pPr>
            <a:r>
              <a:rPr b="0" i="0" lang="en" sz="1100" u="none" cap="none" strike="noStrike">
                <a:solidFill>
                  <a:srgbClr val="6B4A14"/>
                </a:solidFill>
                <a:latin typeface="Calibri"/>
                <a:ea typeface="Calibri"/>
                <a:cs typeface="Calibri"/>
                <a:sym typeface="Calibri"/>
              </a:rPr>
              <a:t>During a failure the compressor stops cycling and runs continuously. There are almost no cycle boundaries inside the events we most need to model.</a:t>
            </a:r>
            <a:endParaRPr b="0" i="0" sz="1100" u="none" cap="none" strike="noStrike">
              <a:solidFill>
                <a:schemeClr val="dk1"/>
              </a:solidFill>
              <a:latin typeface="Calibri"/>
              <a:ea typeface="Calibri"/>
              <a:cs typeface="Calibri"/>
              <a:sym typeface="Calibri"/>
            </a:endParaRPr>
          </a:p>
        </p:txBody>
      </p:sp>
      <p:sp>
        <p:nvSpPr>
          <p:cNvPr id="155" name="Google Shape;155;p19"/>
          <p:cNvSpPr/>
          <p:nvPr/>
        </p:nvSpPr>
        <p:spPr>
          <a:xfrm>
            <a:off x="5040630" y="2640330"/>
            <a:ext cx="33603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3000"/>
              <a:buFont typeface="Cambria"/>
              <a:buNone/>
            </a:pPr>
            <a:r>
              <a:rPr b="1" i="0" lang="en" sz="3000" u="none" cap="none" strike="noStrike">
                <a:solidFill>
                  <a:srgbClr val="C0392B"/>
                </a:solidFill>
                <a:latin typeface="Cambria"/>
                <a:ea typeface="Cambria"/>
                <a:cs typeface="Cambria"/>
                <a:sym typeface="Cambria"/>
              </a:rPr>
              <a:t>3</a:t>
            </a:r>
            <a:endParaRPr b="0" i="0" sz="3000" u="none" cap="none" strike="noStrike">
              <a:solidFill>
                <a:schemeClr val="dk1"/>
              </a:solidFill>
              <a:latin typeface="Calibri"/>
              <a:ea typeface="Calibri"/>
              <a:cs typeface="Calibri"/>
              <a:sym typeface="Calibri"/>
            </a:endParaRPr>
          </a:p>
        </p:txBody>
      </p:sp>
      <p:sp>
        <p:nvSpPr>
          <p:cNvPr id="156" name="Google Shape;156;p19"/>
          <p:cNvSpPr/>
          <p:nvPr/>
        </p:nvSpPr>
        <p:spPr>
          <a:xfrm>
            <a:off x="5040630" y="3154680"/>
            <a:ext cx="33603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A14"/>
              </a:buClr>
              <a:buSzPts val="900"/>
              <a:buFont typeface="Calibri"/>
              <a:buNone/>
            </a:pPr>
            <a:r>
              <a:rPr b="0" i="0" lang="en" sz="900" u="none" cap="none" strike="noStrike">
                <a:solidFill>
                  <a:srgbClr val="6B4A14"/>
                </a:solidFill>
                <a:latin typeface="Calibri"/>
                <a:ea typeface="Calibri"/>
                <a:cs typeface="Calibri"/>
                <a:sym typeface="Calibri"/>
              </a:rPr>
              <a:t>of those cycles begin inside a failure window</a:t>
            </a:r>
            <a:endParaRPr b="0" i="0" sz="900" u="none" cap="none" strike="noStrike">
              <a:solidFill>
                <a:schemeClr val="dk1"/>
              </a:solidFill>
              <a:latin typeface="Calibri"/>
              <a:ea typeface="Calibri"/>
              <a:cs typeface="Calibri"/>
              <a:sym typeface="Calibri"/>
            </a:endParaRPr>
          </a:p>
        </p:txBody>
      </p:sp>
      <p:sp>
        <p:nvSpPr>
          <p:cNvPr id="157" name="Google Shape;157;p19"/>
          <p:cNvSpPr/>
          <p:nvPr/>
        </p:nvSpPr>
        <p:spPr>
          <a:xfrm>
            <a:off x="480060" y="3806190"/>
            <a:ext cx="8181600" cy="925800"/>
          </a:xfrm>
          <a:prstGeom prst="roundRect">
            <a:avLst>
              <a:gd fmla="val 4444" name="adj"/>
            </a:avLst>
          </a:prstGeom>
          <a:solidFill>
            <a:srgbClr val="12355B"/>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19"/>
          <p:cNvSpPr/>
          <p:nvPr/>
        </p:nvSpPr>
        <p:spPr>
          <a:xfrm>
            <a:off x="754380" y="3943350"/>
            <a:ext cx="76329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 sz="1100" u="none" cap="none" strike="noStrike">
                <a:solidFill>
                  <a:srgbClr val="E8A33D"/>
                </a:solidFill>
                <a:latin typeface="Calibri"/>
                <a:ea typeface="Calibri"/>
                <a:cs typeface="Calibri"/>
                <a:sym typeface="Calibri"/>
              </a:rPr>
              <a:t>The fix, and why it is better: </a:t>
            </a:r>
            <a:r>
              <a:rPr b="0" i="0" lang="en" sz="1100" u="none" cap="none" strike="noStrike">
                <a:solidFill>
                  <a:srgbClr val="DCE6EF"/>
                </a:solidFill>
                <a:latin typeface="Calibri"/>
                <a:ea typeface="Calibri"/>
                <a:cs typeface="Calibri"/>
                <a:sym typeface="Calibri"/>
              </a:rPr>
              <a:t>the modelling unit is now a fixed 15-minute window, with cycle statistics carried in as features. Cycles still describe the physics, but the window never disappears when the machine changes behaviour. The absence of cycling is now itself a measurable feature rather than a hole in the data.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0"/>
          <p:cNvSpPr/>
          <p:nvPr/>
        </p:nvSpPr>
        <p:spPr>
          <a:xfrm>
            <a:off x="7783830" y="288036"/>
            <a:ext cx="8778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 name="Google Shape;165;p20"/>
          <p:cNvSpPr/>
          <p:nvPr/>
        </p:nvSpPr>
        <p:spPr>
          <a:xfrm>
            <a:off x="7783830" y="288036"/>
            <a:ext cx="8778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FINDING 2</a:t>
            </a:r>
            <a:endParaRPr b="0" i="0" sz="800" u="none" cap="none" strike="noStrike">
              <a:solidFill>
                <a:schemeClr val="dk1"/>
              </a:solidFill>
              <a:latin typeface="Calibri"/>
              <a:ea typeface="Calibri"/>
              <a:cs typeface="Calibri"/>
              <a:sym typeface="Calibri"/>
            </a:endParaRPr>
          </a:p>
        </p:txBody>
      </p:sp>
      <p:sp>
        <p:nvSpPr>
          <p:cNvPr id="166" name="Google Shape;166;p20"/>
          <p:cNvSpPr/>
          <p:nvPr/>
        </p:nvSpPr>
        <p:spPr>
          <a:xfrm>
            <a:off x="480060" y="260604"/>
            <a:ext cx="69816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A Three-Stage Degradation Signature</a:t>
            </a:r>
            <a:endParaRPr b="0" i="0" sz="2500" u="none" cap="none" strike="noStrike">
              <a:solidFill>
                <a:schemeClr val="dk1"/>
              </a:solidFill>
              <a:latin typeface="Calibri"/>
              <a:ea typeface="Calibri"/>
              <a:cs typeface="Calibri"/>
              <a:sym typeface="Calibri"/>
            </a:endParaRPr>
          </a:p>
        </p:txBody>
      </p:sp>
      <p:sp>
        <p:nvSpPr>
          <p:cNvPr id="167" name="Google Shape;167;p20"/>
          <p:cNvSpPr/>
          <p:nvPr/>
        </p:nvSpPr>
        <p:spPr>
          <a:xfrm>
            <a:off x="480060" y="754380"/>
            <a:ext cx="69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Cycling frequency moves first. Duty cycle moves only at onset.</a:t>
            </a:r>
            <a:endParaRPr b="0" i="0" sz="1200" u="none" cap="none" strike="noStrike">
              <a:solidFill>
                <a:schemeClr val="dk1"/>
              </a:solidFill>
              <a:latin typeface="Calibri"/>
              <a:ea typeface="Calibri"/>
              <a:cs typeface="Calibri"/>
              <a:sym typeface="Calibri"/>
            </a:endParaRPr>
          </a:p>
        </p:txBody>
      </p:sp>
      <p:pic>
        <p:nvPicPr>
          <p:cNvPr descr="fig/c1_signature.png" id="168" name="Google Shape;168;p20"/>
          <p:cNvPicPr preferRelativeResize="0"/>
          <p:nvPr/>
        </p:nvPicPr>
        <p:blipFill rotWithShape="1">
          <a:blip r:embed="rId3">
            <a:alphaModFix/>
          </a:blip>
          <a:srcRect b="0" l="0" r="0" t="0"/>
          <a:stretch/>
        </p:blipFill>
        <p:spPr>
          <a:xfrm>
            <a:off x="480060" y="1165860"/>
            <a:ext cx="8161021" cy="2606040"/>
          </a:xfrm>
          <a:prstGeom prst="rect">
            <a:avLst/>
          </a:prstGeom>
          <a:noFill/>
          <a:ln>
            <a:noFill/>
          </a:ln>
        </p:spPr>
      </p:pic>
      <p:sp>
        <p:nvSpPr>
          <p:cNvPr id="169" name="Google Shape;169;p20"/>
          <p:cNvSpPr/>
          <p:nvPr/>
        </p:nvSpPr>
        <p:spPr>
          <a:xfrm>
            <a:off x="480060" y="3840480"/>
            <a:ext cx="2571900" cy="651600"/>
          </a:xfrm>
          <a:prstGeom prst="roundRect">
            <a:avLst>
              <a:gd fmla="val 6316"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0" name="Google Shape;170;p20"/>
          <p:cNvSpPr/>
          <p:nvPr/>
        </p:nvSpPr>
        <p:spPr>
          <a:xfrm>
            <a:off x="651510" y="4011930"/>
            <a:ext cx="288000" cy="288000"/>
          </a:xfrm>
          <a:prstGeom prst="ellipse">
            <a:avLst/>
          </a:prstGeom>
          <a:solidFill>
            <a:srgbClr val="1B9E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 name="Google Shape;171;p20"/>
          <p:cNvSpPr/>
          <p:nvPr/>
        </p:nvSpPr>
        <p:spPr>
          <a:xfrm>
            <a:off x="1028700" y="3943350"/>
            <a:ext cx="19545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900"/>
              <a:buFont typeface="Calibri"/>
              <a:buNone/>
            </a:pPr>
            <a:r>
              <a:rPr b="1" i="0" lang="en" sz="900" u="none" cap="none" strike="noStrike">
                <a:solidFill>
                  <a:srgbClr val="1B9E77"/>
                </a:solidFill>
                <a:latin typeface="Calibri"/>
                <a:ea typeface="Calibri"/>
                <a:cs typeface="Calibri"/>
                <a:sym typeface="Calibri"/>
              </a:rPr>
              <a:t>HEALTHY</a:t>
            </a:r>
            <a:endParaRPr b="0" i="0" sz="900" u="none" cap="none" strike="noStrike">
              <a:solidFill>
                <a:schemeClr val="dk1"/>
              </a:solidFill>
              <a:latin typeface="Calibri"/>
              <a:ea typeface="Calibri"/>
              <a:cs typeface="Calibri"/>
              <a:sym typeface="Calibri"/>
            </a:endParaRPr>
          </a:p>
        </p:txBody>
      </p:sp>
      <p:sp>
        <p:nvSpPr>
          <p:cNvPr id="172" name="Google Shape;172;p20"/>
          <p:cNvSpPr/>
          <p:nvPr/>
        </p:nvSpPr>
        <p:spPr>
          <a:xfrm>
            <a:off x="1028700" y="4149090"/>
            <a:ext cx="19545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2.60 cycles/h</a:t>
            </a:r>
            <a:endParaRPr b="0" i="0" sz="1100" u="none" cap="none" strike="noStrike">
              <a:solidFill>
                <a:schemeClr val="dk1"/>
              </a:solidFill>
              <a:latin typeface="Calibri"/>
              <a:ea typeface="Calibri"/>
              <a:cs typeface="Calibri"/>
              <a:sym typeface="Calibri"/>
            </a:endParaRPr>
          </a:p>
        </p:txBody>
      </p:sp>
      <p:sp>
        <p:nvSpPr>
          <p:cNvPr id="173" name="Google Shape;173;p20"/>
          <p:cNvSpPr/>
          <p:nvPr/>
        </p:nvSpPr>
        <p:spPr>
          <a:xfrm>
            <a:off x="3257550" y="3840480"/>
            <a:ext cx="2571900" cy="651600"/>
          </a:xfrm>
          <a:prstGeom prst="roundRect">
            <a:avLst>
              <a:gd fmla="val 6316"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 name="Google Shape;174;p20"/>
          <p:cNvSpPr/>
          <p:nvPr/>
        </p:nvSpPr>
        <p:spPr>
          <a:xfrm>
            <a:off x="3429000" y="4011930"/>
            <a:ext cx="288000" cy="288000"/>
          </a:xfrm>
          <a:prstGeom prst="ellipse">
            <a:avLst/>
          </a:prstGeom>
          <a:solidFill>
            <a:srgbClr val="E8A33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5" name="Google Shape;175;p20"/>
          <p:cNvSpPr/>
          <p:nvPr/>
        </p:nvSpPr>
        <p:spPr>
          <a:xfrm>
            <a:off x="3806190" y="3943350"/>
            <a:ext cx="19545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900"/>
              <a:buFont typeface="Calibri"/>
              <a:buNone/>
            </a:pPr>
            <a:r>
              <a:rPr b="1" i="0" lang="en" sz="900" u="none" cap="none" strike="noStrike">
                <a:solidFill>
                  <a:srgbClr val="E8A33D"/>
                </a:solidFill>
                <a:latin typeface="Calibri"/>
                <a:ea typeface="Calibri"/>
                <a:cs typeface="Calibri"/>
                <a:sym typeface="Calibri"/>
              </a:rPr>
              <a:t>PRE-FAILURE (48 h)</a:t>
            </a:r>
            <a:endParaRPr b="0" i="0" sz="900" u="none" cap="none" strike="noStrike">
              <a:solidFill>
                <a:schemeClr val="dk1"/>
              </a:solidFill>
              <a:latin typeface="Calibri"/>
              <a:ea typeface="Calibri"/>
              <a:cs typeface="Calibri"/>
              <a:sym typeface="Calibri"/>
            </a:endParaRPr>
          </a:p>
        </p:txBody>
      </p:sp>
      <p:sp>
        <p:nvSpPr>
          <p:cNvPr id="176" name="Google Shape;176;p20"/>
          <p:cNvSpPr/>
          <p:nvPr/>
        </p:nvSpPr>
        <p:spPr>
          <a:xfrm>
            <a:off x="3806190" y="4149090"/>
            <a:ext cx="19545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3.11 cycles/h  ( +20% )</a:t>
            </a:r>
            <a:endParaRPr b="0" i="0" sz="1100" u="none" cap="none" strike="noStrike">
              <a:solidFill>
                <a:schemeClr val="dk1"/>
              </a:solidFill>
              <a:latin typeface="Calibri"/>
              <a:ea typeface="Calibri"/>
              <a:cs typeface="Calibri"/>
              <a:sym typeface="Calibri"/>
            </a:endParaRPr>
          </a:p>
        </p:txBody>
      </p:sp>
      <p:sp>
        <p:nvSpPr>
          <p:cNvPr id="177" name="Google Shape;177;p20"/>
          <p:cNvSpPr/>
          <p:nvPr/>
        </p:nvSpPr>
        <p:spPr>
          <a:xfrm>
            <a:off x="6035040" y="3840480"/>
            <a:ext cx="2571900" cy="651600"/>
          </a:xfrm>
          <a:prstGeom prst="roundRect">
            <a:avLst>
              <a:gd fmla="val 6316"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8" name="Google Shape;178;p20"/>
          <p:cNvSpPr/>
          <p:nvPr/>
        </p:nvSpPr>
        <p:spPr>
          <a:xfrm>
            <a:off x="6206490" y="4011930"/>
            <a:ext cx="288000" cy="288000"/>
          </a:xfrm>
          <a:prstGeom prst="ellipse">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9" name="Google Shape;179;p20"/>
          <p:cNvSpPr/>
          <p:nvPr/>
        </p:nvSpPr>
        <p:spPr>
          <a:xfrm>
            <a:off x="6583680" y="3943350"/>
            <a:ext cx="19545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900"/>
              <a:buFont typeface="Calibri"/>
              <a:buNone/>
            </a:pPr>
            <a:r>
              <a:rPr b="1" i="0" lang="en" sz="900" u="none" cap="none" strike="noStrike">
                <a:solidFill>
                  <a:srgbClr val="C0392B"/>
                </a:solidFill>
                <a:latin typeface="Calibri"/>
                <a:ea typeface="Calibri"/>
                <a:cs typeface="Calibri"/>
                <a:sym typeface="Calibri"/>
              </a:rPr>
              <a:t>FAILURE</a:t>
            </a:r>
            <a:endParaRPr b="0" i="0" sz="900" u="none" cap="none" strike="noStrike">
              <a:solidFill>
                <a:schemeClr val="dk1"/>
              </a:solidFill>
              <a:latin typeface="Calibri"/>
              <a:ea typeface="Calibri"/>
              <a:cs typeface="Calibri"/>
              <a:sym typeface="Calibri"/>
            </a:endParaRPr>
          </a:p>
        </p:txBody>
      </p:sp>
      <p:sp>
        <p:nvSpPr>
          <p:cNvPr id="180" name="Google Shape;180;p20"/>
          <p:cNvSpPr/>
          <p:nvPr/>
        </p:nvSpPr>
        <p:spPr>
          <a:xfrm>
            <a:off x="6583680" y="4149090"/>
            <a:ext cx="19545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0.13 cycles/h  ( -95% )</a:t>
            </a:r>
            <a:endParaRPr b="0" i="0" sz="1100" u="none" cap="none" strike="noStrike">
              <a:solidFill>
                <a:schemeClr val="dk1"/>
              </a:solidFill>
              <a:latin typeface="Calibri"/>
              <a:ea typeface="Calibri"/>
              <a:cs typeface="Calibri"/>
              <a:sym typeface="Calibri"/>
            </a:endParaRPr>
          </a:p>
        </p:txBody>
      </p:sp>
      <p:sp>
        <p:nvSpPr>
          <p:cNvPr id="181" name="Google Shape;181;p20"/>
          <p:cNvSpPr/>
          <p:nvPr/>
        </p:nvSpPr>
        <p:spPr>
          <a:xfrm>
            <a:off x="480060" y="4581144"/>
            <a:ext cx="81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000"/>
              <a:buFont typeface="Calibri"/>
              <a:buNone/>
            </a:pPr>
            <a:r>
              <a:rPr b="1" i="1" lang="en" sz="1000" u="none" cap="none" strike="noStrike">
                <a:solidFill>
                  <a:srgbClr val="12355B"/>
                </a:solidFill>
                <a:latin typeface="Calibri"/>
                <a:ea typeface="Calibri"/>
                <a:cs typeface="Calibri"/>
                <a:sym typeface="Calibri"/>
              </a:rPr>
              <a:t>Why this matters: duty cycle is flat at 0.14 right up to onset, so any duty-based alarm has zero lead time. The early signal lives in cycle frequency.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p:nvPr/>
        </p:nvSpPr>
        <p:spPr>
          <a:xfrm>
            <a:off x="7783830" y="288036"/>
            <a:ext cx="8778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p21"/>
          <p:cNvSpPr/>
          <p:nvPr/>
        </p:nvSpPr>
        <p:spPr>
          <a:xfrm>
            <a:off x="7783830" y="288036"/>
            <a:ext cx="8778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CLUSTERING</a:t>
            </a:r>
            <a:endParaRPr b="0" i="0" sz="800" u="none" cap="none" strike="noStrike">
              <a:solidFill>
                <a:schemeClr val="dk1"/>
              </a:solidFill>
              <a:latin typeface="Calibri"/>
              <a:ea typeface="Calibri"/>
              <a:cs typeface="Calibri"/>
              <a:sym typeface="Calibri"/>
            </a:endParaRPr>
          </a:p>
        </p:txBody>
      </p:sp>
      <p:sp>
        <p:nvSpPr>
          <p:cNvPr id="189" name="Google Shape;189;p21"/>
          <p:cNvSpPr/>
          <p:nvPr/>
        </p:nvSpPr>
        <p:spPr>
          <a:xfrm>
            <a:off x="480060" y="260604"/>
            <a:ext cx="69816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Unsupervised Structure Confirms Two Regimes</a:t>
            </a:r>
            <a:endParaRPr b="0" i="0" sz="2500" u="none" cap="none" strike="noStrike">
              <a:solidFill>
                <a:schemeClr val="dk1"/>
              </a:solidFill>
              <a:latin typeface="Calibri"/>
              <a:ea typeface="Calibri"/>
              <a:cs typeface="Calibri"/>
              <a:sym typeface="Calibri"/>
            </a:endParaRPr>
          </a:p>
        </p:txBody>
      </p:sp>
      <p:sp>
        <p:nvSpPr>
          <p:cNvPr id="190" name="Google Shape;190;p21"/>
          <p:cNvSpPr/>
          <p:nvPr/>
        </p:nvSpPr>
        <p:spPr>
          <a:xfrm>
            <a:off x="480060" y="754380"/>
            <a:ext cx="69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k = 2 chosen by silhouette (0.676). No label was used to find this.</a:t>
            </a:r>
            <a:endParaRPr b="0" i="0" sz="1200" u="none" cap="none" strike="noStrike">
              <a:solidFill>
                <a:schemeClr val="dk1"/>
              </a:solidFill>
              <a:latin typeface="Calibri"/>
              <a:ea typeface="Calibri"/>
              <a:cs typeface="Calibri"/>
              <a:sym typeface="Calibri"/>
            </a:endParaRPr>
          </a:p>
        </p:txBody>
      </p:sp>
      <p:pic>
        <p:nvPicPr>
          <p:cNvPr descr="fig/c2_clusters.png" id="191" name="Google Shape;191;p21"/>
          <p:cNvPicPr preferRelativeResize="0"/>
          <p:nvPr/>
        </p:nvPicPr>
        <p:blipFill rotWithShape="1">
          <a:blip r:embed="rId3">
            <a:alphaModFix/>
          </a:blip>
          <a:srcRect b="0" l="0" r="0" t="0"/>
          <a:stretch/>
        </p:blipFill>
        <p:spPr>
          <a:xfrm>
            <a:off x="480060" y="1165860"/>
            <a:ext cx="4526282" cy="3051811"/>
          </a:xfrm>
          <a:prstGeom prst="rect">
            <a:avLst/>
          </a:prstGeom>
          <a:noFill/>
          <a:ln>
            <a:noFill/>
          </a:ln>
        </p:spPr>
      </p:pic>
      <p:sp>
        <p:nvSpPr>
          <p:cNvPr id="192" name="Google Shape;192;p21"/>
          <p:cNvSpPr/>
          <p:nvPr/>
        </p:nvSpPr>
        <p:spPr>
          <a:xfrm>
            <a:off x="5589270" y="1268730"/>
            <a:ext cx="3051900" cy="925800"/>
          </a:xfrm>
          <a:prstGeom prst="roundRect">
            <a:avLst>
              <a:gd fmla="val 444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 name="Google Shape;193;p21"/>
          <p:cNvSpPr/>
          <p:nvPr/>
        </p:nvSpPr>
        <p:spPr>
          <a:xfrm>
            <a:off x="5760720" y="1392174"/>
            <a:ext cx="219300" cy="219300"/>
          </a:xfrm>
          <a:prstGeom prst="ellipse">
            <a:avLst/>
          </a:prstGeom>
          <a:solidFill>
            <a:srgbClr val="1B9E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4" name="Google Shape;194;p21"/>
          <p:cNvSpPr/>
          <p:nvPr/>
        </p:nvSpPr>
        <p:spPr>
          <a:xfrm>
            <a:off x="6048756" y="1364742"/>
            <a:ext cx="24690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Cluster 1: cycling</a:t>
            </a:r>
            <a:endParaRPr b="0" i="0" sz="1100" u="none" cap="none" strike="noStrike">
              <a:solidFill>
                <a:schemeClr val="dk1"/>
              </a:solidFill>
              <a:latin typeface="Calibri"/>
              <a:ea typeface="Calibri"/>
              <a:cs typeface="Calibri"/>
              <a:sym typeface="Calibri"/>
            </a:endParaRPr>
          </a:p>
        </p:txBody>
      </p:sp>
      <p:sp>
        <p:nvSpPr>
          <p:cNvPr id="195" name="Google Shape;195;p21"/>
          <p:cNvSpPr/>
          <p:nvPr/>
        </p:nvSpPr>
        <p:spPr>
          <a:xfrm>
            <a:off x="5760720" y="1666494"/>
            <a:ext cx="27432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94.3% of windows   ·   duty 0.11, 2.6 cycles/h</a:t>
            </a:r>
            <a:endParaRPr b="0" i="0" sz="900" u="none" cap="none" strike="noStrike">
              <a:solidFill>
                <a:schemeClr val="dk1"/>
              </a:solidFill>
              <a:latin typeface="Calibri"/>
              <a:ea typeface="Calibri"/>
              <a:cs typeface="Calibri"/>
              <a:sym typeface="Calibri"/>
            </a:endParaRPr>
          </a:p>
        </p:txBody>
      </p:sp>
      <p:sp>
        <p:nvSpPr>
          <p:cNvPr id="196" name="Google Shape;196;p21"/>
          <p:cNvSpPr/>
          <p:nvPr/>
        </p:nvSpPr>
        <p:spPr>
          <a:xfrm>
            <a:off x="5760720" y="1899666"/>
            <a:ext cx="27432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900"/>
              <a:buFont typeface="Calibri"/>
              <a:buNone/>
            </a:pPr>
            <a:r>
              <a:rPr b="1" i="0" lang="en" sz="900" u="none" cap="none" strike="noStrike">
                <a:solidFill>
                  <a:srgbClr val="1B9E77"/>
                </a:solidFill>
                <a:latin typeface="Calibri"/>
                <a:ea typeface="Calibri"/>
                <a:cs typeface="Calibri"/>
                <a:sym typeface="Calibri"/>
              </a:rPr>
              <a:t>0.03% failure rate</a:t>
            </a:r>
            <a:endParaRPr b="0" i="0" sz="900" u="none" cap="none" strike="noStrike">
              <a:solidFill>
                <a:schemeClr val="dk1"/>
              </a:solidFill>
              <a:latin typeface="Calibri"/>
              <a:ea typeface="Calibri"/>
              <a:cs typeface="Calibri"/>
              <a:sym typeface="Calibri"/>
            </a:endParaRPr>
          </a:p>
        </p:txBody>
      </p:sp>
      <p:sp>
        <p:nvSpPr>
          <p:cNvPr id="197" name="Google Shape;197;p21"/>
          <p:cNvSpPr/>
          <p:nvPr/>
        </p:nvSpPr>
        <p:spPr>
          <a:xfrm>
            <a:off x="5589270" y="2331720"/>
            <a:ext cx="3051900" cy="925800"/>
          </a:xfrm>
          <a:prstGeom prst="roundRect">
            <a:avLst>
              <a:gd fmla="val 444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 name="Google Shape;198;p21"/>
          <p:cNvSpPr/>
          <p:nvPr/>
        </p:nvSpPr>
        <p:spPr>
          <a:xfrm>
            <a:off x="5760720" y="2455164"/>
            <a:ext cx="219300" cy="219300"/>
          </a:xfrm>
          <a:prstGeom prst="ellipse">
            <a:avLst/>
          </a:prstGeom>
          <a:solidFill>
            <a:srgbClr val="1235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 name="Google Shape;199;p21"/>
          <p:cNvSpPr/>
          <p:nvPr/>
        </p:nvSpPr>
        <p:spPr>
          <a:xfrm>
            <a:off x="6048756" y="2427732"/>
            <a:ext cx="24690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Cluster 0: continuous run</a:t>
            </a:r>
            <a:endParaRPr b="0" i="0" sz="1100" u="none" cap="none" strike="noStrike">
              <a:solidFill>
                <a:schemeClr val="dk1"/>
              </a:solidFill>
              <a:latin typeface="Calibri"/>
              <a:ea typeface="Calibri"/>
              <a:cs typeface="Calibri"/>
              <a:sym typeface="Calibri"/>
            </a:endParaRPr>
          </a:p>
        </p:txBody>
      </p:sp>
      <p:sp>
        <p:nvSpPr>
          <p:cNvPr id="200" name="Google Shape;200;p21"/>
          <p:cNvSpPr/>
          <p:nvPr/>
        </p:nvSpPr>
        <p:spPr>
          <a:xfrm>
            <a:off x="5760720" y="2729484"/>
            <a:ext cx="27432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5.7% of windows   ·   duty 1.00, 0.004 cycles/h</a:t>
            </a:r>
            <a:endParaRPr b="0" i="0" sz="900" u="none" cap="none" strike="noStrike">
              <a:solidFill>
                <a:schemeClr val="dk1"/>
              </a:solidFill>
              <a:latin typeface="Calibri"/>
              <a:ea typeface="Calibri"/>
              <a:cs typeface="Calibri"/>
              <a:sym typeface="Calibri"/>
            </a:endParaRPr>
          </a:p>
        </p:txBody>
      </p:sp>
      <p:sp>
        <p:nvSpPr>
          <p:cNvPr id="201" name="Google Shape;201;p21"/>
          <p:cNvSpPr/>
          <p:nvPr/>
        </p:nvSpPr>
        <p:spPr>
          <a:xfrm>
            <a:off x="5760720" y="2962656"/>
            <a:ext cx="27432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900"/>
              <a:buFont typeface="Calibri"/>
              <a:buNone/>
            </a:pPr>
            <a:r>
              <a:rPr b="1" i="0" lang="en" sz="900" u="none" cap="none" strike="noStrike">
                <a:solidFill>
                  <a:srgbClr val="12355B"/>
                </a:solidFill>
                <a:latin typeface="Calibri"/>
                <a:ea typeface="Calibri"/>
                <a:cs typeface="Calibri"/>
                <a:sym typeface="Calibri"/>
              </a:rPr>
              <a:t>34.0% failure rate</a:t>
            </a:r>
            <a:endParaRPr b="0" i="0" sz="900" u="none" cap="none" strike="noStrike">
              <a:solidFill>
                <a:schemeClr val="dk1"/>
              </a:solidFill>
              <a:latin typeface="Calibri"/>
              <a:ea typeface="Calibri"/>
              <a:cs typeface="Calibri"/>
              <a:sym typeface="Calibri"/>
            </a:endParaRPr>
          </a:p>
        </p:txBody>
      </p:sp>
      <p:sp>
        <p:nvSpPr>
          <p:cNvPr id="202" name="Google Shape;202;p21"/>
          <p:cNvSpPr/>
          <p:nvPr/>
        </p:nvSpPr>
        <p:spPr>
          <a:xfrm>
            <a:off x="5589270" y="3394710"/>
            <a:ext cx="3051900" cy="823200"/>
          </a:xfrm>
          <a:prstGeom prst="roundRect">
            <a:avLst>
              <a:gd fmla="val 5000" name="adj"/>
            </a:avLst>
          </a:prstGeom>
          <a:solidFill>
            <a:srgbClr val="FDF3E3"/>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3" name="Google Shape;203;p21"/>
          <p:cNvSpPr/>
          <p:nvPr/>
        </p:nvSpPr>
        <p:spPr>
          <a:xfrm>
            <a:off x="5795010" y="3511296"/>
            <a:ext cx="2674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A12"/>
              </a:buClr>
              <a:buSzPts val="1100"/>
              <a:buFont typeface="Calibri"/>
              <a:buNone/>
            </a:pPr>
            <a:r>
              <a:rPr b="1" i="0" lang="en" sz="1100" u="none" cap="none" strike="noStrike">
                <a:solidFill>
                  <a:srgbClr val="8A5A12"/>
                </a:solidFill>
                <a:latin typeface="Calibri"/>
                <a:ea typeface="Calibri"/>
                <a:cs typeface="Calibri"/>
                <a:sym typeface="Calibri"/>
              </a:rPr>
              <a:t>98.5% of failure windows land in cluster 0</a:t>
            </a:r>
            <a:endParaRPr b="0" i="0" sz="1100" u="none" cap="none" strike="noStrike">
              <a:solidFill>
                <a:schemeClr val="dk1"/>
              </a:solidFill>
              <a:latin typeface="Calibri"/>
              <a:ea typeface="Calibri"/>
              <a:cs typeface="Calibri"/>
              <a:sym typeface="Calibri"/>
            </a:endParaRPr>
          </a:p>
        </p:txBody>
      </p:sp>
      <p:sp>
        <p:nvSpPr>
          <p:cNvPr id="204" name="Google Shape;204;p21"/>
          <p:cNvSpPr/>
          <p:nvPr/>
        </p:nvSpPr>
        <p:spPr>
          <a:xfrm>
            <a:off x="5795010" y="3785616"/>
            <a:ext cx="26745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A14"/>
              </a:buClr>
              <a:buSzPts val="900"/>
              <a:buFont typeface="Calibri"/>
              <a:buNone/>
            </a:pPr>
            <a:r>
              <a:rPr b="0" i="0" lang="en" sz="900" u="none" cap="none" strike="noStrike">
                <a:solidFill>
                  <a:srgbClr val="6B4A14"/>
                </a:solidFill>
                <a:latin typeface="Calibri"/>
                <a:ea typeface="Calibri"/>
                <a:cs typeface="Calibri"/>
                <a:sym typeface="Calibri"/>
              </a:rPr>
              <a:t>But only 34% of cluster 0 is a reported failure. Continuous running is necessary, not sufficient.</a:t>
            </a:r>
            <a:endParaRPr b="0" i="0" sz="900" u="none" cap="none" strike="noStrike">
              <a:solidFill>
                <a:schemeClr val="dk1"/>
              </a:solidFill>
              <a:latin typeface="Calibri"/>
              <a:ea typeface="Calibri"/>
              <a:cs typeface="Calibri"/>
              <a:sym typeface="Calibri"/>
            </a:endParaRPr>
          </a:p>
        </p:txBody>
      </p:sp>
      <p:sp>
        <p:nvSpPr>
          <p:cNvPr id="205" name="Google Shape;205;p21"/>
          <p:cNvSpPr/>
          <p:nvPr/>
        </p:nvSpPr>
        <p:spPr>
          <a:xfrm>
            <a:off x="480060" y="4389120"/>
            <a:ext cx="81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000"/>
              <a:buFont typeface="Calibri"/>
              <a:buNone/>
            </a:pPr>
            <a:r>
              <a:rPr b="0" i="1" lang="en" sz="1000" u="none" cap="none" strike="noStrike">
                <a:solidFill>
                  <a:srgbClr val="12355B"/>
                </a:solidFill>
                <a:latin typeface="Calibri"/>
                <a:ea typeface="Calibri"/>
                <a:cs typeface="Calibri"/>
                <a:sym typeface="Calibri"/>
              </a:rPr>
              <a:t>The clustering found the fault regime without being told it existed. That is the strongest validation we have that the feature set encodes the physics.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p:nvPr/>
        </p:nvSpPr>
        <p:spPr>
          <a:xfrm>
            <a:off x="7783830" y="288036"/>
            <a:ext cx="8778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2" name="Google Shape;212;p22"/>
          <p:cNvSpPr/>
          <p:nvPr/>
        </p:nvSpPr>
        <p:spPr>
          <a:xfrm>
            <a:off x="7783830" y="288036"/>
            <a:ext cx="8778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RESULTS</a:t>
            </a:r>
            <a:endParaRPr b="0" i="0" sz="800" u="none" cap="none" strike="noStrike">
              <a:solidFill>
                <a:schemeClr val="dk1"/>
              </a:solidFill>
              <a:latin typeface="Calibri"/>
              <a:ea typeface="Calibri"/>
              <a:cs typeface="Calibri"/>
              <a:sym typeface="Calibri"/>
            </a:endParaRPr>
          </a:p>
        </p:txBody>
      </p:sp>
      <p:sp>
        <p:nvSpPr>
          <p:cNvPr id="213" name="Google Shape;213;p22"/>
          <p:cNvSpPr/>
          <p:nvPr/>
        </p:nvSpPr>
        <p:spPr>
          <a:xfrm>
            <a:off x="480060" y="260604"/>
            <a:ext cx="69816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The Sophisticated Model Lost to the Simple One</a:t>
            </a:r>
            <a:endParaRPr b="0" i="0" sz="2500" u="none" cap="none" strike="noStrike">
              <a:solidFill>
                <a:schemeClr val="dk1"/>
              </a:solidFill>
              <a:latin typeface="Calibri"/>
              <a:ea typeface="Calibri"/>
              <a:cs typeface="Calibri"/>
              <a:sym typeface="Calibri"/>
            </a:endParaRPr>
          </a:p>
        </p:txBody>
      </p:sp>
      <p:sp>
        <p:nvSpPr>
          <p:cNvPr id="214" name="Google Shape;214;p22"/>
          <p:cNvSpPr/>
          <p:nvPr/>
        </p:nvSpPr>
        <p:spPr>
          <a:xfrm>
            <a:off x="480060" y="754380"/>
            <a:ext cx="69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We could have </a:t>
            </a:r>
            <a:r>
              <a:rPr i="1" lang="en" sz="1200">
                <a:solidFill>
                  <a:srgbClr val="5A6472"/>
                </a:solidFill>
                <a:latin typeface="Calibri"/>
                <a:ea typeface="Calibri"/>
                <a:cs typeface="Calibri"/>
                <a:sym typeface="Calibri"/>
              </a:rPr>
              <a:t>retuned</a:t>
            </a:r>
            <a:r>
              <a:rPr b="0" i="1" lang="en" sz="1200" u="none" cap="none" strike="noStrike">
                <a:solidFill>
                  <a:srgbClr val="5A6472"/>
                </a:solidFill>
                <a:latin typeface="Calibri"/>
                <a:ea typeface="Calibri"/>
                <a:cs typeface="Calibri"/>
                <a:sym typeface="Calibri"/>
              </a:rPr>
              <a:t> until the numbers improved. Diagnosing the failure was worth more.</a:t>
            </a:r>
            <a:endParaRPr b="0" i="0" sz="1200" u="none" cap="none" strike="noStrike">
              <a:solidFill>
                <a:schemeClr val="dk1"/>
              </a:solidFill>
              <a:latin typeface="Calibri"/>
              <a:ea typeface="Calibri"/>
              <a:cs typeface="Calibri"/>
              <a:sym typeface="Calibri"/>
            </a:endParaRPr>
          </a:p>
        </p:txBody>
      </p:sp>
      <p:pic>
        <p:nvPicPr>
          <p:cNvPr descr="fig/c3_models.png" id="215" name="Google Shape;215;p22"/>
          <p:cNvPicPr preferRelativeResize="0"/>
          <p:nvPr/>
        </p:nvPicPr>
        <p:blipFill rotWithShape="1">
          <a:blip r:embed="rId3">
            <a:alphaModFix/>
          </a:blip>
          <a:srcRect b="0" l="0" r="0" t="0"/>
          <a:stretch/>
        </p:blipFill>
        <p:spPr>
          <a:xfrm>
            <a:off x="480060" y="1131570"/>
            <a:ext cx="5486401" cy="2194561"/>
          </a:xfrm>
          <a:prstGeom prst="rect">
            <a:avLst/>
          </a:prstGeom>
          <a:noFill/>
          <a:ln>
            <a:noFill/>
          </a:ln>
        </p:spPr>
      </p:pic>
      <p:sp>
        <p:nvSpPr>
          <p:cNvPr id="216" name="Google Shape;216;p22"/>
          <p:cNvSpPr/>
          <p:nvPr/>
        </p:nvSpPr>
        <p:spPr>
          <a:xfrm>
            <a:off x="6206490" y="1131570"/>
            <a:ext cx="2434500" cy="2194800"/>
          </a:xfrm>
          <a:prstGeom prst="roundRect">
            <a:avLst>
              <a:gd fmla="val 1875" name="adj"/>
            </a:avLst>
          </a:prstGeom>
          <a:solidFill>
            <a:srgbClr val="FDF3E3"/>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7" name="Google Shape;217;p22"/>
          <p:cNvSpPr/>
          <p:nvPr/>
        </p:nvSpPr>
        <p:spPr>
          <a:xfrm>
            <a:off x="6412230" y="1268730"/>
            <a:ext cx="2057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A12"/>
              </a:buClr>
              <a:buSzPts val="1100"/>
              <a:buFont typeface="Calibri"/>
              <a:buNone/>
            </a:pPr>
            <a:r>
              <a:rPr b="1" i="0" lang="en" sz="1100" u="none" cap="none" strike="noStrike">
                <a:solidFill>
                  <a:srgbClr val="8A5A12"/>
                </a:solidFill>
                <a:latin typeface="Calibri"/>
                <a:ea typeface="Calibri"/>
                <a:cs typeface="Calibri"/>
                <a:sym typeface="Calibri"/>
              </a:rPr>
              <a:t>Diagnosis</a:t>
            </a:r>
            <a:endParaRPr b="0" i="0" sz="1100" u="none" cap="none" strike="noStrike">
              <a:solidFill>
                <a:schemeClr val="dk1"/>
              </a:solidFill>
              <a:latin typeface="Calibri"/>
              <a:ea typeface="Calibri"/>
              <a:cs typeface="Calibri"/>
              <a:sym typeface="Calibri"/>
            </a:endParaRPr>
          </a:p>
        </p:txBody>
      </p:sp>
      <p:sp>
        <p:nvSpPr>
          <p:cNvPr id="218" name="Google Shape;218;p22"/>
          <p:cNvSpPr/>
          <p:nvPr/>
        </p:nvSpPr>
        <p:spPr>
          <a:xfrm>
            <a:off x="6412230" y="1508938"/>
            <a:ext cx="2057400" cy="16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A14"/>
              </a:buClr>
              <a:buSzPts val="900"/>
              <a:buFont typeface="Calibri"/>
              <a:buNone/>
            </a:pPr>
            <a:r>
              <a:rPr lang="en" sz="900">
                <a:solidFill>
                  <a:srgbClr val="6B4A14"/>
                </a:solidFill>
                <a:latin typeface="Calibri"/>
                <a:ea typeface="Calibri"/>
                <a:cs typeface="Calibri"/>
                <a:sym typeface="Calibri"/>
              </a:rPr>
              <a:t>Isolation Forest on all 41 features scored worse than a single duty threshold (F1 0.312 vs 0.577)</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4A14"/>
              </a:buClr>
              <a:buSzPts val="900"/>
              <a:buFont typeface="Calibri"/>
              <a:buNone/>
            </a:pPr>
            <a:r>
              <a:rPr b="0" i="0" lang="en" sz="900" u="none" cap="none" strike="noStrike">
                <a:solidFill>
                  <a:srgbClr val="6B4A14"/>
                </a:solidFill>
                <a:latin typeface="Calibri"/>
                <a:ea typeface="Calibri"/>
                <a:cs typeface="Calibri"/>
                <a:sym typeface="Calibri"/>
              </a:rPr>
              <a:t>Cause: mean duty rises 50% from the Feb-Mar training window to the test period. The detector spends its alarm budget on seasonal drift, not on faults.</a:t>
            </a:r>
            <a:endParaRPr b="0" i="0" sz="900" u="none" cap="none" strike="noStrike">
              <a:solidFill>
                <a:schemeClr val="dk1"/>
              </a:solidFill>
              <a:latin typeface="Calibri"/>
              <a:ea typeface="Calibri"/>
              <a:cs typeface="Calibri"/>
              <a:sym typeface="Calibri"/>
            </a:endParaRPr>
          </a:p>
        </p:txBody>
      </p:sp>
      <p:sp>
        <p:nvSpPr>
          <p:cNvPr id="219" name="Google Shape;219;p22"/>
          <p:cNvSpPr/>
          <p:nvPr/>
        </p:nvSpPr>
        <p:spPr>
          <a:xfrm>
            <a:off x="480060" y="3497580"/>
            <a:ext cx="26061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2300"/>
              <a:buFont typeface="Cambria"/>
              <a:buNone/>
            </a:pPr>
            <a:r>
              <a:rPr b="1" i="0" lang="en" sz="2300" u="none" cap="none" strike="noStrike">
                <a:solidFill>
                  <a:srgbClr val="1B9E77"/>
                </a:solidFill>
                <a:latin typeface="Cambria"/>
                <a:ea typeface="Cambria"/>
                <a:cs typeface="Cambria"/>
                <a:sym typeface="Cambria"/>
              </a:rPr>
              <a:t>0.312 → 0.5</a:t>
            </a:r>
            <a:r>
              <a:rPr b="1" lang="en" sz="2300">
                <a:solidFill>
                  <a:srgbClr val="1B9E77"/>
                </a:solidFill>
                <a:latin typeface="Cambria"/>
                <a:ea typeface="Cambria"/>
                <a:cs typeface="Cambria"/>
                <a:sym typeface="Cambria"/>
              </a:rPr>
              <a:t>46</a:t>
            </a:r>
            <a:endParaRPr b="0" i="0" sz="2300" u="none" cap="none" strike="noStrike">
              <a:solidFill>
                <a:schemeClr val="dk1"/>
              </a:solidFill>
              <a:latin typeface="Calibri"/>
              <a:ea typeface="Calibri"/>
              <a:cs typeface="Calibri"/>
              <a:sym typeface="Calibri"/>
            </a:endParaRPr>
          </a:p>
        </p:txBody>
      </p:sp>
      <p:sp>
        <p:nvSpPr>
          <p:cNvPr id="220" name="Google Shape;220;p22"/>
          <p:cNvSpPr/>
          <p:nvPr/>
        </p:nvSpPr>
        <p:spPr>
          <a:xfrm>
            <a:off x="480060" y="3922776"/>
            <a:ext cx="26061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F1 after scoping to 14</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physics-based features</a:t>
            </a:r>
            <a:endParaRPr b="0" i="0" sz="900" u="none" cap="none" strike="noStrike">
              <a:solidFill>
                <a:schemeClr val="dk1"/>
              </a:solidFill>
              <a:latin typeface="Calibri"/>
              <a:ea typeface="Calibri"/>
              <a:cs typeface="Calibri"/>
              <a:sym typeface="Calibri"/>
            </a:endParaRPr>
          </a:p>
        </p:txBody>
      </p:sp>
      <p:sp>
        <p:nvSpPr>
          <p:cNvPr id="221" name="Google Shape;221;p22"/>
          <p:cNvSpPr/>
          <p:nvPr/>
        </p:nvSpPr>
        <p:spPr>
          <a:xfrm>
            <a:off x="3257550" y="3497580"/>
            <a:ext cx="26061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2300"/>
              <a:buFont typeface="Cambria"/>
              <a:buNone/>
            </a:pPr>
            <a:r>
              <a:rPr b="1" i="0" lang="en" sz="2300" u="none" cap="none" strike="noStrike">
                <a:solidFill>
                  <a:srgbClr val="E8A33D"/>
                </a:solidFill>
                <a:latin typeface="Cambria"/>
                <a:ea typeface="Cambria"/>
                <a:cs typeface="Cambria"/>
                <a:sym typeface="Cambria"/>
              </a:rPr>
              <a:t>0.58</a:t>
            </a:r>
            <a:endParaRPr b="0" i="0" sz="2300" u="none" cap="none" strike="noStrike">
              <a:solidFill>
                <a:schemeClr val="dk1"/>
              </a:solidFill>
              <a:latin typeface="Calibri"/>
              <a:ea typeface="Calibri"/>
              <a:cs typeface="Calibri"/>
              <a:sym typeface="Calibri"/>
            </a:endParaRPr>
          </a:p>
        </p:txBody>
      </p:sp>
      <p:sp>
        <p:nvSpPr>
          <p:cNvPr id="222" name="Google Shape;222;p22"/>
          <p:cNvSpPr/>
          <p:nvPr/>
        </p:nvSpPr>
        <p:spPr>
          <a:xfrm>
            <a:off x="3257550" y="3994800"/>
            <a:ext cx="2129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lang="en" sz="900">
                <a:solidFill>
                  <a:srgbClr val="5A6472"/>
                </a:solidFill>
                <a:latin typeface="Calibri"/>
                <a:ea typeface="Calibri"/>
                <a:cs typeface="Calibri"/>
                <a:sym typeface="Calibri"/>
              </a:rPr>
              <a:t>three methods tie here / gated model preferred for its tunable score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472"/>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23" name="Google Shape;223;p22"/>
          <p:cNvSpPr/>
          <p:nvPr/>
        </p:nvSpPr>
        <p:spPr>
          <a:xfrm>
            <a:off x="6035040" y="3497580"/>
            <a:ext cx="26061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300"/>
              <a:buFont typeface="Cambria"/>
              <a:buNone/>
            </a:pPr>
            <a:r>
              <a:rPr b="1" i="0" lang="en" sz="2300" u="none" cap="none" strike="noStrike">
                <a:solidFill>
                  <a:srgbClr val="12355B"/>
                </a:solidFill>
                <a:latin typeface="Cambria"/>
                <a:ea typeface="Cambria"/>
                <a:cs typeface="Cambria"/>
                <a:sym typeface="Cambria"/>
              </a:rPr>
              <a:t>4 / 4</a:t>
            </a:r>
            <a:endParaRPr b="0" i="0" sz="2300" u="none" cap="none" strike="noStrike">
              <a:solidFill>
                <a:schemeClr val="dk1"/>
              </a:solidFill>
              <a:latin typeface="Calibri"/>
              <a:ea typeface="Calibri"/>
              <a:cs typeface="Calibri"/>
              <a:sym typeface="Calibri"/>
            </a:endParaRPr>
          </a:p>
        </p:txBody>
      </p:sp>
      <p:sp>
        <p:nvSpPr>
          <p:cNvPr id="224" name="Google Shape;224;p22"/>
          <p:cNvSpPr/>
          <p:nvPr/>
        </p:nvSpPr>
        <p:spPr>
          <a:xfrm>
            <a:off x="6035040" y="3922776"/>
            <a:ext cx="26061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events detected by every</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model that we tested</a:t>
            </a:r>
            <a:endParaRPr b="0" i="0" sz="900" u="none" cap="none" strike="noStrike">
              <a:solidFill>
                <a:schemeClr val="dk1"/>
              </a:solidFill>
              <a:latin typeface="Calibri"/>
              <a:ea typeface="Calibri"/>
              <a:cs typeface="Calibri"/>
              <a:sym typeface="Calibri"/>
            </a:endParaRPr>
          </a:p>
        </p:txBody>
      </p:sp>
      <p:sp>
        <p:nvSpPr>
          <p:cNvPr id="225" name="Google Shape;225;p22"/>
          <p:cNvSpPr/>
          <p:nvPr/>
        </p:nvSpPr>
        <p:spPr>
          <a:xfrm>
            <a:off x="480060" y="4491990"/>
            <a:ext cx="81816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000"/>
              <a:buFont typeface="Calibri"/>
              <a:buNone/>
            </a:pPr>
            <a:r>
              <a:rPr b="1" i="1" lang="en" sz="1000" u="none" cap="none" strike="noStrike">
                <a:solidFill>
                  <a:srgbClr val="12355B"/>
                </a:solidFill>
                <a:latin typeface="Calibri"/>
                <a:ea typeface="Calibri"/>
                <a:cs typeface="Calibri"/>
                <a:sym typeface="Calibri"/>
              </a:rPr>
              <a:t>Conclusion: concurrent detection is effectively solved by physics. Adding model complexity buys almost nothing. So the remaining research value is not here.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3"/>
          <p:cNvSpPr/>
          <p:nvPr/>
        </p:nvSpPr>
        <p:spPr>
          <a:xfrm>
            <a:off x="7783830" y="288036"/>
            <a:ext cx="8778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23"/>
          <p:cNvSpPr/>
          <p:nvPr/>
        </p:nvSpPr>
        <p:spPr>
          <a:xfrm>
            <a:off x="7783830" y="288036"/>
            <a:ext cx="8778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OPEN QUESTION</a:t>
            </a:r>
            <a:endParaRPr b="0" i="0" sz="800" u="none" cap="none" strike="noStrike">
              <a:solidFill>
                <a:schemeClr val="dk1"/>
              </a:solidFill>
              <a:latin typeface="Calibri"/>
              <a:ea typeface="Calibri"/>
              <a:cs typeface="Calibri"/>
              <a:sym typeface="Calibri"/>
            </a:endParaRPr>
          </a:p>
        </p:txBody>
      </p:sp>
      <p:sp>
        <p:nvSpPr>
          <p:cNvPr id="233" name="Google Shape;233;p23"/>
          <p:cNvSpPr/>
          <p:nvPr/>
        </p:nvSpPr>
        <p:spPr>
          <a:xfrm>
            <a:off x="480060" y="260604"/>
            <a:ext cx="69816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The Real Remaining Problem: Lead Time</a:t>
            </a:r>
            <a:endParaRPr b="0" i="0" sz="2500" u="none" cap="none" strike="noStrike">
              <a:solidFill>
                <a:schemeClr val="dk1"/>
              </a:solidFill>
              <a:latin typeface="Calibri"/>
              <a:ea typeface="Calibri"/>
              <a:cs typeface="Calibri"/>
              <a:sym typeface="Calibri"/>
            </a:endParaRPr>
          </a:p>
        </p:txBody>
      </p:sp>
      <p:sp>
        <p:nvSpPr>
          <p:cNvPr id="234" name="Google Shape;234;p23"/>
          <p:cNvSpPr/>
          <p:nvPr/>
        </p:nvSpPr>
        <p:spPr>
          <a:xfrm>
            <a:off x="480060" y="754380"/>
            <a:ext cx="69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Detection at onset is easy. Prediction before onset is not.</a:t>
            </a:r>
            <a:endParaRPr b="0" i="0" sz="1200" u="none" cap="none" strike="noStrike">
              <a:solidFill>
                <a:schemeClr val="dk1"/>
              </a:solidFill>
              <a:latin typeface="Calibri"/>
              <a:ea typeface="Calibri"/>
              <a:cs typeface="Calibri"/>
              <a:sym typeface="Calibri"/>
            </a:endParaRPr>
          </a:p>
        </p:txBody>
      </p:sp>
      <p:pic>
        <p:nvPicPr>
          <p:cNvPr descr="fig/c4_leadtime.png" id="235" name="Google Shape;235;p23"/>
          <p:cNvPicPr preferRelativeResize="0"/>
          <p:nvPr/>
        </p:nvPicPr>
        <p:blipFill rotWithShape="1">
          <a:blip r:embed="rId3">
            <a:alphaModFix/>
          </a:blip>
          <a:srcRect b="0" l="0" r="0" t="0"/>
          <a:stretch/>
        </p:blipFill>
        <p:spPr>
          <a:xfrm>
            <a:off x="480060" y="1179576"/>
            <a:ext cx="4389121" cy="2468881"/>
          </a:xfrm>
          <a:prstGeom prst="rect">
            <a:avLst/>
          </a:prstGeom>
          <a:noFill/>
          <a:ln>
            <a:noFill/>
          </a:ln>
        </p:spPr>
      </p:pic>
      <p:sp>
        <p:nvSpPr>
          <p:cNvPr id="236" name="Google Shape;236;p23"/>
          <p:cNvSpPr/>
          <p:nvPr/>
        </p:nvSpPr>
        <p:spPr>
          <a:xfrm>
            <a:off x="5314950" y="1179576"/>
            <a:ext cx="3326100" cy="2469000"/>
          </a:xfrm>
          <a:prstGeom prst="roundRect">
            <a:avLst>
              <a:gd fmla="val 1667"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23"/>
          <p:cNvSpPr/>
          <p:nvPr/>
        </p:nvSpPr>
        <p:spPr>
          <a:xfrm>
            <a:off x="5554980" y="1337310"/>
            <a:ext cx="28806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How this was tested</a:t>
            </a:r>
            <a:endParaRPr b="0" i="0" sz="1100" u="none" cap="none" strike="noStrike">
              <a:solidFill>
                <a:schemeClr val="dk1"/>
              </a:solidFill>
              <a:latin typeface="Calibri"/>
              <a:ea typeface="Calibri"/>
              <a:cs typeface="Calibri"/>
              <a:sym typeface="Calibri"/>
            </a:endParaRPr>
          </a:p>
        </p:txBody>
      </p:sp>
      <p:sp>
        <p:nvSpPr>
          <p:cNvPr id="238" name="Google Shape;238;p23"/>
          <p:cNvSpPr/>
          <p:nvPr/>
        </p:nvSpPr>
        <p:spPr>
          <a:xfrm>
            <a:off x="5554980" y="1645920"/>
            <a:ext cx="2880600" cy="18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Every window inside a failure was removed, so the model cannot cheat by detecting the event it is meant to predict.</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Validation is leave-one-event-out, because four events cannot support a random split.</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PR-AUC is reported against base rate, since at 0.6% prevalence a raw PR-AUC of 0.02 can still be a 3.8x lift.</a:t>
            </a:r>
            <a:endParaRPr b="0" i="0" sz="900" u="none" cap="none" strike="noStrike">
              <a:solidFill>
                <a:schemeClr val="dk1"/>
              </a:solidFill>
              <a:latin typeface="Calibri"/>
              <a:ea typeface="Calibri"/>
              <a:cs typeface="Calibri"/>
              <a:sym typeface="Calibri"/>
            </a:endParaRPr>
          </a:p>
        </p:txBody>
      </p:sp>
      <p:sp>
        <p:nvSpPr>
          <p:cNvPr id="239" name="Google Shape;239;p23"/>
          <p:cNvSpPr/>
          <p:nvPr/>
        </p:nvSpPr>
        <p:spPr>
          <a:xfrm>
            <a:off x="480060" y="3806190"/>
            <a:ext cx="8181600" cy="891600"/>
          </a:xfrm>
          <a:prstGeom prst="roundRect">
            <a:avLst>
              <a:gd fmla="val 4615" name="adj"/>
            </a:avLst>
          </a:prstGeom>
          <a:solidFill>
            <a:srgbClr val="12355B"/>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0" name="Google Shape;240;p23"/>
          <p:cNvSpPr/>
          <p:nvPr/>
        </p:nvSpPr>
        <p:spPr>
          <a:xfrm>
            <a:off x="754380" y="3943350"/>
            <a:ext cx="7632900" cy="65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 sz="1100" u="none" cap="none" strike="noStrike">
                <a:solidFill>
                  <a:srgbClr val="E8A33D"/>
                </a:solidFill>
                <a:latin typeface="Calibri"/>
                <a:ea typeface="Calibri"/>
                <a:cs typeface="Calibri"/>
                <a:sym typeface="Calibri"/>
              </a:rPr>
              <a:t>Where this leaves us:  </a:t>
            </a:r>
            <a:r>
              <a:rPr b="0" i="0" lang="en" sz="1100" u="none" cap="none" strike="noStrike">
                <a:solidFill>
                  <a:srgbClr val="DCE6EF"/>
                </a:solidFill>
                <a:latin typeface="Calibri"/>
                <a:ea typeface="Calibri"/>
                <a:cs typeface="Calibri"/>
                <a:sym typeface="Calibri"/>
              </a:rPr>
              <a:t>the model beats chance at every horizon (2.9x to 5.2x lift) and flags all four events, but absolute precision is low. There is real early signal and it is not yet strong enough to act on. Closing that gap is the work of the remaining weeks.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4"/>
          <p:cNvSpPr/>
          <p:nvPr/>
        </p:nvSpPr>
        <p:spPr>
          <a:xfrm>
            <a:off x="7783830" y="288036"/>
            <a:ext cx="8778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24"/>
          <p:cNvSpPr/>
          <p:nvPr/>
        </p:nvSpPr>
        <p:spPr>
          <a:xfrm>
            <a:off x="7783830" y="288036"/>
            <a:ext cx="8778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RISKS</a:t>
            </a:r>
            <a:endParaRPr b="0" i="0" sz="800" u="none" cap="none" strike="noStrike">
              <a:solidFill>
                <a:schemeClr val="dk1"/>
              </a:solidFill>
              <a:latin typeface="Calibri"/>
              <a:ea typeface="Calibri"/>
              <a:cs typeface="Calibri"/>
              <a:sym typeface="Calibri"/>
            </a:endParaRPr>
          </a:p>
        </p:txBody>
      </p:sp>
      <p:sp>
        <p:nvSpPr>
          <p:cNvPr id="248" name="Google Shape;248;p24"/>
          <p:cNvSpPr/>
          <p:nvPr/>
        </p:nvSpPr>
        <p:spPr>
          <a:xfrm>
            <a:off x="480060" y="260604"/>
            <a:ext cx="69816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Challenges and the Backup Plan</a:t>
            </a:r>
            <a:endParaRPr b="0" i="0" sz="2500" u="none" cap="none" strike="noStrike">
              <a:solidFill>
                <a:schemeClr val="dk1"/>
              </a:solidFill>
              <a:latin typeface="Calibri"/>
              <a:ea typeface="Calibri"/>
              <a:cs typeface="Calibri"/>
              <a:sym typeface="Calibri"/>
            </a:endParaRPr>
          </a:p>
        </p:txBody>
      </p:sp>
      <p:sp>
        <p:nvSpPr>
          <p:cNvPr id="249" name="Google Shape;249;p24"/>
          <p:cNvSpPr/>
          <p:nvPr/>
        </p:nvSpPr>
        <p:spPr>
          <a:xfrm>
            <a:off x="480060" y="754380"/>
            <a:ext cx="69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Named now, with a decision rule for when to switch.</a:t>
            </a:r>
            <a:endParaRPr b="0" i="0" sz="1200" u="none" cap="none" strike="noStrike">
              <a:solidFill>
                <a:schemeClr val="dk1"/>
              </a:solidFill>
              <a:latin typeface="Calibri"/>
              <a:ea typeface="Calibri"/>
              <a:cs typeface="Calibri"/>
              <a:sym typeface="Calibri"/>
            </a:endParaRPr>
          </a:p>
        </p:txBody>
      </p:sp>
      <p:sp>
        <p:nvSpPr>
          <p:cNvPr id="250" name="Google Shape;250;p24"/>
          <p:cNvSpPr/>
          <p:nvPr/>
        </p:nvSpPr>
        <p:spPr>
          <a:xfrm>
            <a:off x="480060" y="1200150"/>
            <a:ext cx="4011900" cy="1509000"/>
          </a:xfrm>
          <a:prstGeom prst="roundRect">
            <a:avLst>
              <a:gd fmla="val 2727"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24"/>
          <p:cNvSpPr/>
          <p:nvPr/>
        </p:nvSpPr>
        <p:spPr>
          <a:xfrm>
            <a:off x="685800" y="1392174"/>
            <a:ext cx="301800" cy="301800"/>
          </a:xfrm>
          <a:prstGeom prst="ellipse">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2" name="Google Shape;252;p24"/>
          <p:cNvSpPr/>
          <p:nvPr/>
        </p:nvSpPr>
        <p:spPr>
          <a:xfrm>
            <a:off x="685800" y="1392174"/>
            <a:ext cx="3018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253" name="Google Shape;253;p24"/>
          <p:cNvSpPr/>
          <p:nvPr/>
        </p:nvSpPr>
        <p:spPr>
          <a:xfrm>
            <a:off x="1097280" y="1364742"/>
            <a:ext cx="32235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200"/>
              <a:buFont typeface="Calibri"/>
              <a:buNone/>
            </a:pPr>
            <a:r>
              <a:rPr b="1" i="0" lang="en" sz="1200" u="none" cap="none" strike="noStrike">
                <a:solidFill>
                  <a:srgbClr val="12355B"/>
                </a:solidFill>
                <a:latin typeface="Calibri"/>
                <a:ea typeface="Calibri"/>
                <a:cs typeface="Calibri"/>
                <a:sym typeface="Calibri"/>
              </a:rPr>
              <a:t>Label incompleteness</a:t>
            </a:r>
            <a:endParaRPr b="0" i="0" sz="1200" u="none" cap="none" strike="noStrike">
              <a:solidFill>
                <a:schemeClr val="dk1"/>
              </a:solidFill>
              <a:latin typeface="Calibri"/>
              <a:ea typeface="Calibri"/>
              <a:cs typeface="Calibri"/>
              <a:sym typeface="Calibri"/>
            </a:endParaRPr>
          </a:p>
        </p:txBody>
      </p:sp>
      <p:sp>
        <p:nvSpPr>
          <p:cNvPr id="254" name="Google Shape;254;p24"/>
          <p:cNvSpPr/>
          <p:nvPr/>
        </p:nvSpPr>
        <p:spPr>
          <a:xfrm>
            <a:off x="1097280" y="1652778"/>
            <a:ext cx="32235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Two thirds of cluster 0 is unreported. Precision is capped by the labels, not the model.</a:t>
            </a:r>
            <a:endParaRPr b="0" i="0" sz="900" u="none" cap="none" strike="noStrike">
              <a:solidFill>
                <a:schemeClr val="dk1"/>
              </a:solidFill>
              <a:latin typeface="Calibri"/>
              <a:ea typeface="Calibri"/>
              <a:cs typeface="Calibri"/>
              <a:sym typeface="Calibri"/>
            </a:endParaRPr>
          </a:p>
        </p:txBody>
      </p:sp>
      <p:sp>
        <p:nvSpPr>
          <p:cNvPr id="255" name="Google Shape;255;p24"/>
          <p:cNvSpPr/>
          <p:nvPr/>
        </p:nvSpPr>
        <p:spPr>
          <a:xfrm>
            <a:off x="1097280" y="2091690"/>
            <a:ext cx="3223500" cy="5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900"/>
              <a:buFont typeface="Calibri"/>
              <a:buNone/>
            </a:pPr>
            <a:r>
              <a:rPr b="1" i="0" lang="en" sz="900" u="none" cap="none" strike="noStrike">
                <a:solidFill>
                  <a:srgbClr val="C0392B"/>
                </a:solidFill>
                <a:latin typeface="Calibri"/>
                <a:ea typeface="Calibri"/>
                <a:cs typeface="Calibri"/>
                <a:sym typeface="Calibri"/>
              </a:rPr>
              <a:t>Mitigation:  </a:t>
            </a:r>
            <a:r>
              <a:rPr b="0" i="0" lang="en" sz="900" u="none" cap="none" strike="noStrike">
                <a:solidFill>
                  <a:srgbClr val="5A6472"/>
                </a:solidFill>
                <a:latin typeface="Calibri"/>
                <a:ea typeface="Calibri"/>
                <a:cs typeface="Calibri"/>
                <a:sym typeface="Calibri"/>
              </a:rPr>
              <a:t>Report unlabelled high-score episodes separately, against confirmed events.</a:t>
            </a:r>
            <a:endParaRPr b="0" i="0" sz="900" u="none" cap="none" strike="noStrike">
              <a:solidFill>
                <a:schemeClr val="dk1"/>
              </a:solidFill>
              <a:latin typeface="Calibri"/>
              <a:ea typeface="Calibri"/>
              <a:cs typeface="Calibri"/>
              <a:sym typeface="Calibri"/>
            </a:endParaRPr>
          </a:p>
        </p:txBody>
      </p:sp>
      <p:sp>
        <p:nvSpPr>
          <p:cNvPr id="256" name="Google Shape;256;p24"/>
          <p:cNvSpPr/>
          <p:nvPr/>
        </p:nvSpPr>
        <p:spPr>
          <a:xfrm>
            <a:off x="4697730" y="1200150"/>
            <a:ext cx="4011900" cy="1509000"/>
          </a:xfrm>
          <a:prstGeom prst="roundRect">
            <a:avLst>
              <a:gd fmla="val 2727"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24"/>
          <p:cNvSpPr/>
          <p:nvPr/>
        </p:nvSpPr>
        <p:spPr>
          <a:xfrm>
            <a:off x="4903470" y="1392174"/>
            <a:ext cx="301800" cy="301800"/>
          </a:xfrm>
          <a:prstGeom prst="ellipse">
            <a:avLst/>
          </a:prstGeom>
          <a:solidFill>
            <a:srgbClr val="E8A33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8" name="Google Shape;258;p24"/>
          <p:cNvSpPr/>
          <p:nvPr/>
        </p:nvSpPr>
        <p:spPr>
          <a:xfrm>
            <a:off x="4903470" y="1392174"/>
            <a:ext cx="3018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259" name="Google Shape;259;p24"/>
          <p:cNvSpPr/>
          <p:nvPr/>
        </p:nvSpPr>
        <p:spPr>
          <a:xfrm>
            <a:off x="5314950" y="1364742"/>
            <a:ext cx="32235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200"/>
              <a:buFont typeface="Calibri"/>
              <a:buNone/>
            </a:pPr>
            <a:r>
              <a:rPr b="1" i="0" lang="en" sz="1200" u="none" cap="none" strike="noStrike">
                <a:solidFill>
                  <a:srgbClr val="12355B"/>
                </a:solidFill>
                <a:latin typeface="Calibri"/>
                <a:ea typeface="Calibri"/>
                <a:cs typeface="Calibri"/>
                <a:sym typeface="Calibri"/>
              </a:rPr>
              <a:t>Four events only</a:t>
            </a:r>
            <a:endParaRPr b="0" i="0" sz="1200" u="none" cap="none" strike="noStrike">
              <a:solidFill>
                <a:schemeClr val="dk1"/>
              </a:solidFill>
              <a:latin typeface="Calibri"/>
              <a:ea typeface="Calibri"/>
              <a:cs typeface="Calibri"/>
              <a:sym typeface="Calibri"/>
            </a:endParaRPr>
          </a:p>
        </p:txBody>
      </p:sp>
      <p:sp>
        <p:nvSpPr>
          <p:cNvPr id="260" name="Google Shape;260;p24"/>
          <p:cNvSpPr/>
          <p:nvPr/>
        </p:nvSpPr>
        <p:spPr>
          <a:xfrm>
            <a:off x="5314950" y="1652778"/>
            <a:ext cx="32235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Every supervised number rests on four positives. Variance dominates point estimates.</a:t>
            </a:r>
            <a:endParaRPr b="0" i="0" sz="900" u="none" cap="none" strike="noStrike">
              <a:solidFill>
                <a:schemeClr val="dk1"/>
              </a:solidFill>
              <a:latin typeface="Calibri"/>
              <a:ea typeface="Calibri"/>
              <a:cs typeface="Calibri"/>
              <a:sym typeface="Calibri"/>
            </a:endParaRPr>
          </a:p>
        </p:txBody>
      </p:sp>
      <p:sp>
        <p:nvSpPr>
          <p:cNvPr id="261" name="Google Shape;261;p24"/>
          <p:cNvSpPr/>
          <p:nvPr/>
        </p:nvSpPr>
        <p:spPr>
          <a:xfrm>
            <a:off x="5314950" y="2091690"/>
            <a:ext cx="3223500" cy="5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900"/>
              <a:buFont typeface="Calibri"/>
              <a:buNone/>
            </a:pPr>
            <a:r>
              <a:rPr b="1" i="0" lang="en" sz="900" u="none" cap="none" strike="noStrike">
                <a:solidFill>
                  <a:srgbClr val="E8A33D"/>
                </a:solidFill>
                <a:latin typeface="Calibri"/>
                <a:ea typeface="Calibri"/>
                <a:cs typeface="Calibri"/>
                <a:sym typeface="Calibri"/>
              </a:rPr>
              <a:t>Mitigation:  </a:t>
            </a:r>
            <a:r>
              <a:rPr b="0" i="0" lang="en" sz="900" u="none" cap="none" strike="noStrike">
                <a:solidFill>
                  <a:srgbClr val="5A6472"/>
                </a:solidFill>
                <a:latin typeface="Calibri"/>
                <a:ea typeface="Calibri"/>
                <a:cs typeface="Calibri"/>
                <a:sym typeface="Calibri"/>
              </a:rPr>
              <a:t>Leave-one-event-out throughout. Report spread, never a bare mean.</a:t>
            </a:r>
            <a:endParaRPr b="0" i="0" sz="900" u="none" cap="none" strike="noStrike">
              <a:solidFill>
                <a:schemeClr val="dk1"/>
              </a:solidFill>
              <a:latin typeface="Calibri"/>
              <a:ea typeface="Calibri"/>
              <a:cs typeface="Calibri"/>
              <a:sym typeface="Calibri"/>
            </a:endParaRPr>
          </a:p>
        </p:txBody>
      </p:sp>
      <p:sp>
        <p:nvSpPr>
          <p:cNvPr id="262" name="Google Shape;262;p24"/>
          <p:cNvSpPr/>
          <p:nvPr/>
        </p:nvSpPr>
        <p:spPr>
          <a:xfrm>
            <a:off x="480060" y="2880360"/>
            <a:ext cx="4011900" cy="1509000"/>
          </a:xfrm>
          <a:prstGeom prst="roundRect">
            <a:avLst>
              <a:gd fmla="val 2727"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3" name="Google Shape;263;p24"/>
          <p:cNvSpPr/>
          <p:nvPr/>
        </p:nvSpPr>
        <p:spPr>
          <a:xfrm>
            <a:off x="685800" y="3072384"/>
            <a:ext cx="301800" cy="301800"/>
          </a:xfrm>
          <a:prstGeom prst="ellipse">
            <a:avLst/>
          </a:prstGeom>
          <a:solidFill>
            <a:srgbClr val="1235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4" name="Google Shape;264;p24"/>
          <p:cNvSpPr/>
          <p:nvPr/>
        </p:nvSpPr>
        <p:spPr>
          <a:xfrm>
            <a:off x="685800" y="3072384"/>
            <a:ext cx="3018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265" name="Google Shape;265;p24"/>
          <p:cNvSpPr/>
          <p:nvPr/>
        </p:nvSpPr>
        <p:spPr>
          <a:xfrm>
            <a:off x="1097280" y="3044952"/>
            <a:ext cx="32235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200"/>
              <a:buFont typeface="Calibri"/>
              <a:buNone/>
            </a:pPr>
            <a:r>
              <a:rPr b="1" i="0" lang="en" sz="1200" u="none" cap="none" strike="noStrike">
                <a:solidFill>
                  <a:srgbClr val="12355B"/>
                </a:solidFill>
                <a:latin typeface="Calibri"/>
                <a:ea typeface="Calibri"/>
                <a:cs typeface="Calibri"/>
                <a:sym typeface="Calibri"/>
              </a:rPr>
              <a:t>Concept drift</a:t>
            </a:r>
            <a:endParaRPr b="0" i="0" sz="1200" u="none" cap="none" strike="noStrike">
              <a:solidFill>
                <a:schemeClr val="dk1"/>
              </a:solidFill>
              <a:latin typeface="Calibri"/>
              <a:ea typeface="Calibri"/>
              <a:cs typeface="Calibri"/>
              <a:sym typeface="Calibri"/>
            </a:endParaRPr>
          </a:p>
        </p:txBody>
      </p:sp>
      <p:sp>
        <p:nvSpPr>
          <p:cNvPr id="266" name="Google Shape;266;p24"/>
          <p:cNvSpPr/>
          <p:nvPr/>
        </p:nvSpPr>
        <p:spPr>
          <a:xfrm>
            <a:off x="1097280" y="3332988"/>
            <a:ext cx="32235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Mean duty rises 50% from training to test period and has already broken one model.</a:t>
            </a:r>
            <a:endParaRPr b="0" i="0" sz="900" u="none" cap="none" strike="noStrike">
              <a:solidFill>
                <a:schemeClr val="dk1"/>
              </a:solidFill>
              <a:latin typeface="Calibri"/>
              <a:ea typeface="Calibri"/>
              <a:cs typeface="Calibri"/>
              <a:sym typeface="Calibri"/>
            </a:endParaRPr>
          </a:p>
        </p:txBody>
      </p:sp>
      <p:sp>
        <p:nvSpPr>
          <p:cNvPr id="267" name="Google Shape;267;p24"/>
          <p:cNvSpPr/>
          <p:nvPr/>
        </p:nvSpPr>
        <p:spPr>
          <a:xfrm>
            <a:off x="1097280" y="3771900"/>
            <a:ext cx="3223500" cy="5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900"/>
              <a:buFont typeface="Calibri"/>
              <a:buNone/>
            </a:pPr>
            <a:r>
              <a:rPr b="1" i="0" lang="en" sz="900" u="none" cap="none" strike="noStrike">
                <a:solidFill>
                  <a:srgbClr val="12355B"/>
                </a:solidFill>
                <a:latin typeface="Calibri"/>
                <a:ea typeface="Calibri"/>
                <a:cs typeface="Calibri"/>
                <a:sym typeface="Calibri"/>
              </a:rPr>
              <a:t>Mitigation: </a:t>
            </a:r>
            <a:r>
              <a:rPr lang="en" sz="900">
                <a:solidFill>
                  <a:srgbClr val="5A6472"/>
                </a:solidFill>
                <a:latin typeface="Calibri"/>
                <a:ea typeface="Calibri"/>
                <a:cs typeface="Calibri"/>
                <a:sym typeface="Calibri"/>
              </a:rPr>
              <a:t>Scoping to 14 physical features, which recovered F1 from 0.312 to 0.546. A rolling 30-day reference was also tried and underperformed; see report §9.1.</a:t>
            </a:r>
            <a:endParaRPr b="0" i="0" sz="900" u="none" cap="none" strike="noStrike">
              <a:solidFill>
                <a:schemeClr val="dk1"/>
              </a:solidFill>
              <a:latin typeface="Calibri"/>
              <a:ea typeface="Calibri"/>
              <a:cs typeface="Calibri"/>
              <a:sym typeface="Calibri"/>
            </a:endParaRPr>
          </a:p>
        </p:txBody>
      </p:sp>
      <p:sp>
        <p:nvSpPr>
          <p:cNvPr id="268" name="Google Shape;268;p24"/>
          <p:cNvSpPr/>
          <p:nvPr/>
        </p:nvSpPr>
        <p:spPr>
          <a:xfrm>
            <a:off x="4697730" y="2880360"/>
            <a:ext cx="4011900" cy="1509000"/>
          </a:xfrm>
          <a:prstGeom prst="roundRect">
            <a:avLst>
              <a:gd fmla="val 2727"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9" name="Google Shape;269;p24"/>
          <p:cNvSpPr/>
          <p:nvPr/>
        </p:nvSpPr>
        <p:spPr>
          <a:xfrm>
            <a:off x="4903470" y="3072384"/>
            <a:ext cx="301800" cy="301800"/>
          </a:xfrm>
          <a:prstGeom prst="ellipse">
            <a:avLst/>
          </a:prstGeom>
          <a:solidFill>
            <a:srgbClr val="1B9E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0" name="Google Shape;270;p24"/>
          <p:cNvSpPr/>
          <p:nvPr/>
        </p:nvSpPr>
        <p:spPr>
          <a:xfrm>
            <a:off x="4903470" y="3072384"/>
            <a:ext cx="3018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271" name="Google Shape;271;p24"/>
          <p:cNvSpPr/>
          <p:nvPr/>
        </p:nvSpPr>
        <p:spPr>
          <a:xfrm>
            <a:off x="5314950" y="3044952"/>
            <a:ext cx="32235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200"/>
              <a:buFont typeface="Calibri"/>
              <a:buNone/>
            </a:pPr>
            <a:r>
              <a:rPr b="1" i="0" lang="en" sz="1200" u="none" cap="none" strike="noStrike">
                <a:solidFill>
                  <a:srgbClr val="12355B"/>
                </a:solidFill>
                <a:latin typeface="Calibri"/>
                <a:ea typeface="Calibri"/>
                <a:cs typeface="Calibri"/>
                <a:sym typeface="Calibri"/>
              </a:rPr>
              <a:t>Early warning may not reach usable precision</a:t>
            </a:r>
            <a:endParaRPr b="0" i="0" sz="1200" u="none" cap="none" strike="noStrike">
              <a:solidFill>
                <a:schemeClr val="dk1"/>
              </a:solidFill>
              <a:latin typeface="Calibri"/>
              <a:ea typeface="Calibri"/>
              <a:cs typeface="Calibri"/>
              <a:sym typeface="Calibri"/>
            </a:endParaRPr>
          </a:p>
        </p:txBody>
      </p:sp>
      <p:sp>
        <p:nvSpPr>
          <p:cNvPr id="272" name="Google Shape;272;p24"/>
          <p:cNvSpPr/>
          <p:nvPr/>
        </p:nvSpPr>
        <p:spPr>
          <a:xfrm>
            <a:off x="5314950" y="3332988"/>
            <a:ext cx="32235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Current lift is real but precision is low at every horizon.</a:t>
            </a:r>
            <a:endParaRPr b="0" i="0" sz="900" u="none" cap="none" strike="noStrike">
              <a:solidFill>
                <a:schemeClr val="dk1"/>
              </a:solidFill>
              <a:latin typeface="Calibri"/>
              <a:ea typeface="Calibri"/>
              <a:cs typeface="Calibri"/>
              <a:sym typeface="Calibri"/>
            </a:endParaRPr>
          </a:p>
        </p:txBody>
      </p:sp>
      <p:sp>
        <p:nvSpPr>
          <p:cNvPr id="273" name="Google Shape;273;p24"/>
          <p:cNvSpPr/>
          <p:nvPr/>
        </p:nvSpPr>
        <p:spPr>
          <a:xfrm>
            <a:off x="5314950" y="3771900"/>
            <a:ext cx="3223500" cy="5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900"/>
              <a:buFont typeface="Calibri"/>
              <a:buNone/>
            </a:pPr>
            <a:r>
              <a:rPr b="1" i="0" lang="en" sz="900" u="none" cap="none" strike="noStrike">
                <a:solidFill>
                  <a:srgbClr val="1B9E77"/>
                </a:solidFill>
                <a:latin typeface="Calibri"/>
                <a:ea typeface="Calibri"/>
                <a:cs typeface="Calibri"/>
                <a:sym typeface="Calibri"/>
              </a:rPr>
              <a:t>Mitigation:  </a:t>
            </a:r>
            <a:r>
              <a:rPr b="0" i="0" lang="en" sz="900" u="none" cap="none" strike="noStrike">
                <a:solidFill>
                  <a:srgbClr val="5A6472"/>
                </a:solidFill>
                <a:latin typeface="Calibri"/>
                <a:ea typeface="Calibri"/>
                <a:cs typeface="Calibri"/>
                <a:sym typeface="Calibri"/>
              </a:rPr>
              <a:t>Fall back to change-point detection on the CYCLE-RATE series, not duty: duty carries no pre-onset signal, so a duty-based change point would inherit zero lead time.</a:t>
            </a:r>
            <a:endParaRPr b="0" i="0" sz="900" u="none" cap="none" strike="noStrike">
              <a:solidFill>
                <a:schemeClr val="dk1"/>
              </a:solidFill>
              <a:latin typeface="Calibri"/>
              <a:ea typeface="Calibri"/>
              <a:cs typeface="Calibri"/>
              <a:sym typeface="Calibri"/>
            </a:endParaRPr>
          </a:p>
        </p:txBody>
      </p:sp>
      <p:sp>
        <p:nvSpPr>
          <p:cNvPr id="274" name="Google Shape;274;p24"/>
          <p:cNvSpPr/>
          <p:nvPr/>
        </p:nvSpPr>
        <p:spPr>
          <a:xfrm>
            <a:off x="480060" y="4608576"/>
            <a:ext cx="81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000"/>
              <a:buFont typeface="Calibri"/>
              <a:buNone/>
            </a:pPr>
            <a:r>
              <a:rPr b="1" i="1" lang="en" sz="1000" u="none" cap="none" strike="noStrike">
                <a:solidFill>
                  <a:srgbClr val="12355B"/>
                </a:solidFill>
                <a:latin typeface="Calibri"/>
                <a:ea typeface="Calibri"/>
                <a:cs typeface="Calibri"/>
                <a:sym typeface="Calibri"/>
              </a:rPr>
              <a:t>Switch rule: if week 6 leave-one-event-out PR-AUC lift stays below 3x at the 24-hour horizon, we stop tuning and ship the change-point fallback.</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38"/>
        </a:solidFill>
      </p:bgPr>
    </p:bg>
    <p:spTree>
      <p:nvGrpSpPr>
        <p:cNvPr id="279" name="Shape 279"/>
        <p:cNvGrpSpPr/>
        <p:nvPr/>
      </p:nvGrpSpPr>
      <p:grpSpPr>
        <a:xfrm>
          <a:off x="0" y="0"/>
          <a:ext cx="0" cy="0"/>
          <a:chOff x="0" y="0"/>
          <a:chExt cx="0" cy="0"/>
        </a:xfrm>
      </p:grpSpPr>
      <p:sp>
        <p:nvSpPr>
          <p:cNvPr id="280" name="Google Shape;280;p25"/>
          <p:cNvSpPr/>
          <p:nvPr/>
        </p:nvSpPr>
        <p:spPr>
          <a:xfrm>
            <a:off x="-1165860" y="2948940"/>
            <a:ext cx="3291900" cy="3291900"/>
          </a:xfrm>
          <a:prstGeom prst="ellipse">
            <a:avLst/>
          </a:prstGeom>
          <a:solidFill>
            <a:srgbClr val="12355B">
              <a:alpha val="5490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 name="Google Shape;281;p25"/>
          <p:cNvSpPr/>
          <p:nvPr/>
        </p:nvSpPr>
        <p:spPr>
          <a:xfrm>
            <a:off x="7818120" y="-960120"/>
            <a:ext cx="2880600" cy="2880600"/>
          </a:xfrm>
          <a:prstGeom prst="ellipse">
            <a:avLst/>
          </a:prstGeom>
          <a:solidFill>
            <a:srgbClr val="E8A33D">
              <a:alpha val="1490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2" name="Google Shape;282;p25"/>
          <p:cNvSpPr/>
          <p:nvPr/>
        </p:nvSpPr>
        <p:spPr>
          <a:xfrm>
            <a:off x="480060" y="480060"/>
            <a:ext cx="68580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Cambria"/>
              <a:buNone/>
            </a:pPr>
            <a:r>
              <a:rPr b="1" i="0" lang="en" sz="2700" u="none" cap="none" strike="noStrike">
                <a:solidFill>
                  <a:srgbClr val="FFFFFF"/>
                </a:solidFill>
                <a:latin typeface="Cambria"/>
                <a:ea typeface="Cambria"/>
                <a:cs typeface="Cambria"/>
                <a:sym typeface="Cambria"/>
              </a:rPr>
              <a:t>Four Weeks to the Finish Line</a:t>
            </a:r>
            <a:endParaRPr b="0" i="0" sz="2700" u="none" cap="none" strike="noStrike">
              <a:solidFill>
                <a:schemeClr val="dk1"/>
              </a:solidFill>
              <a:latin typeface="Calibri"/>
              <a:ea typeface="Calibri"/>
              <a:cs typeface="Calibri"/>
              <a:sym typeface="Calibri"/>
            </a:endParaRPr>
          </a:p>
        </p:txBody>
      </p:sp>
      <p:sp>
        <p:nvSpPr>
          <p:cNvPr id="283" name="Google Shape;283;p25"/>
          <p:cNvSpPr/>
          <p:nvPr/>
        </p:nvSpPr>
        <p:spPr>
          <a:xfrm>
            <a:off x="480060" y="1220724"/>
            <a:ext cx="68580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000"/>
              <a:buFont typeface="Calibri"/>
              <a:buNone/>
            </a:pPr>
            <a:r>
              <a:rPr b="1" i="0" lang="en" sz="1000" u="none" cap="none" strike="noStrike">
                <a:solidFill>
                  <a:srgbClr val="E8A33D"/>
                </a:solidFill>
                <a:latin typeface="Calibri"/>
                <a:ea typeface="Calibri"/>
                <a:cs typeface="Calibri"/>
                <a:sym typeface="Calibri"/>
              </a:rPr>
              <a:t>19 July to 15 August 2027</a:t>
            </a:r>
            <a:endParaRPr b="0" i="0" sz="1000" u="none" cap="none" strike="noStrike">
              <a:solidFill>
                <a:schemeClr val="dk1"/>
              </a:solidFill>
              <a:latin typeface="Calibri"/>
              <a:ea typeface="Calibri"/>
              <a:cs typeface="Calibri"/>
              <a:sym typeface="Calibri"/>
            </a:endParaRPr>
          </a:p>
        </p:txBody>
      </p:sp>
      <p:sp>
        <p:nvSpPr>
          <p:cNvPr id="284" name="Google Shape;284;p25"/>
          <p:cNvSpPr/>
          <p:nvPr/>
        </p:nvSpPr>
        <p:spPr>
          <a:xfrm>
            <a:off x="480060" y="973836"/>
            <a:ext cx="6858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100"/>
              <a:buFont typeface="Calibri"/>
              <a:buNone/>
            </a:pPr>
            <a:r>
              <a:rPr b="0" i="1" lang="en" sz="1100" u="none" cap="none" strike="noStrike">
                <a:solidFill>
                  <a:srgbClr val="9FB3C8"/>
                </a:solidFill>
                <a:latin typeface="Calibri"/>
                <a:ea typeface="Calibri"/>
                <a:cs typeface="Calibri"/>
                <a:sym typeface="Calibri"/>
              </a:rPr>
              <a:t>Scope deliberately narrowed to the one question that is still open.</a:t>
            </a:r>
            <a:endParaRPr b="0" i="0" sz="1100" u="none" cap="none" strike="noStrike">
              <a:solidFill>
                <a:schemeClr val="dk1"/>
              </a:solidFill>
              <a:latin typeface="Calibri"/>
              <a:ea typeface="Calibri"/>
              <a:cs typeface="Calibri"/>
              <a:sym typeface="Calibri"/>
            </a:endParaRPr>
          </a:p>
        </p:txBody>
      </p:sp>
      <p:sp>
        <p:nvSpPr>
          <p:cNvPr id="285" name="Google Shape;285;p25"/>
          <p:cNvSpPr/>
          <p:nvPr/>
        </p:nvSpPr>
        <p:spPr>
          <a:xfrm>
            <a:off x="480060" y="1440180"/>
            <a:ext cx="1954500" cy="1988700"/>
          </a:xfrm>
          <a:prstGeom prst="roundRect">
            <a:avLst>
              <a:gd fmla="val 2807" name="adj"/>
            </a:avLst>
          </a:prstGeom>
          <a:solidFill>
            <a:srgbClr val="163E68"/>
          </a:solidFill>
          <a:ln cap="flat" cmpd="sng" w="7150">
            <a:solidFill>
              <a:srgbClr val="27527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6" name="Google Shape;286;p25"/>
          <p:cNvSpPr/>
          <p:nvPr/>
        </p:nvSpPr>
        <p:spPr>
          <a:xfrm>
            <a:off x="651510" y="1591056"/>
            <a:ext cx="16803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600"/>
              <a:buFont typeface="Calibri"/>
              <a:buNone/>
            </a:pPr>
            <a:r>
              <a:rPr b="1" i="0" lang="en" sz="600" u="none" cap="none" strike="noStrike">
                <a:solidFill>
                  <a:srgbClr val="E8A33D"/>
                </a:solidFill>
                <a:latin typeface="Calibri"/>
                <a:ea typeface="Calibri"/>
                <a:cs typeface="Calibri"/>
                <a:sym typeface="Calibri"/>
              </a:rPr>
              <a:t>WEEK 5  ·  19-25 JUL</a:t>
            </a:r>
            <a:endParaRPr b="0" i="0" sz="600" u="none" cap="none" strike="noStrike">
              <a:solidFill>
                <a:schemeClr val="dk1"/>
              </a:solidFill>
              <a:latin typeface="Calibri"/>
              <a:ea typeface="Calibri"/>
              <a:cs typeface="Calibri"/>
              <a:sym typeface="Calibri"/>
            </a:endParaRPr>
          </a:p>
        </p:txBody>
      </p:sp>
      <p:sp>
        <p:nvSpPr>
          <p:cNvPr id="287" name="Google Shape;287;p25"/>
          <p:cNvSpPr/>
          <p:nvPr/>
        </p:nvSpPr>
        <p:spPr>
          <a:xfrm>
            <a:off x="651510" y="1865376"/>
            <a:ext cx="16458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Early-warning features</a:t>
            </a:r>
            <a:endParaRPr b="0" i="0" sz="1200" u="none" cap="none" strike="noStrike">
              <a:solidFill>
                <a:schemeClr val="dk1"/>
              </a:solidFill>
              <a:latin typeface="Calibri"/>
              <a:ea typeface="Calibri"/>
              <a:cs typeface="Calibri"/>
              <a:sym typeface="Calibri"/>
            </a:endParaRPr>
          </a:p>
        </p:txBody>
      </p:sp>
      <p:sp>
        <p:nvSpPr>
          <p:cNvPr id="288" name="Google Shape;288;p25"/>
          <p:cNvSpPr/>
          <p:nvPr/>
        </p:nvSpPr>
        <p:spPr>
          <a:xfrm>
            <a:off x="651510" y="2400300"/>
            <a:ext cx="16458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3D6"/>
              </a:buClr>
              <a:buSzPts val="900"/>
              <a:buFont typeface="Calibri"/>
              <a:buNone/>
            </a:pPr>
            <a:r>
              <a:rPr b="0" i="0" lang="en" sz="900" u="none" cap="none" strike="noStrike">
                <a:solidFill>
                  <a:srgbClr val="AFC3D6"/>
                </a:solidFill>
                <a:latin typeface="Calibri"/>
                <a:ea typeface="Calibri"/>
                <a:cs typeface="Calibri"/>
                <a:sym typeface="Calibri"/>
              </a:rPr>
              <a:t>Build cycle-frequency and pressure-recovery features targeted at the pre-failure stage.</a:t>
            </a:r>
            <a:endParaRPr b="0" i="0" sz="900" u="none" cap="none" strike="noStrike">
              <a:solidFill>
                <a:schemeClr val="dk1"/>
              </a:solidFill>
              <a:latin typeface="Calibri"/>
              <a:ea typeface="Calibri"/>
              <a:cs typeface="Calibri"/>
              <a:sym typeface="Calibri"/>
            </a:endParaRPr>
          </a:p>
        </p:txBody>
      </p:sp>
      <p:sp>
        <p:nvSpPr>
          <p:cNvPr id="289" name="Google Shape;289;p25"/>
          <p:cNvSpPr/>
          <p:nvPr/>
        </p:nvSpPr>
        <p:spPr>
          <a:xfrm>
            <a:off x="2571750" y="1440180"/>
            <a:ext cx="1954500" cy="1988700"/>
          </a:xfrm>
          <a:prstGeom prst="roundRect">
            <a:avLst>
              <a:gd fmla="val 2807" name="adj"/>
            </a:avLst>
          </a:prstGeom>
          <a:solidFill>
            <a:srgbClr val="163E68"/>
          </a:solidFill>
          <a:ln cap="flat" cmpd="sng" w="7150">
            <a:solidFill>
              <a:srgbClr val="27527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0" name="Google Shape;290;p25"/>
          <p:cNvSpPr/>
          <p:nvPr/>
        </p:nvSpPr>
        <p:spPr>
          <a:xfrm>
            <a:off x="2743200" y="1591056"/>
            <a:ext cx="16803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600"/>
              <a:buFont typeface="Calibri"/>
              <a:buNone/>
            </a:pPr>
            <a:r>
              <a:rPr b="1" i="0" lang="en" sz="600" u="none" cap="none" strike="noStrike">
                <a:solidFill>
                  <a:srgbClr val="E8A33D"/>
                </a:solidFill>
                <a:latin typeface="Calibri"/>
                <a:ea typeface="Calibri"/>
                <a:cs typeface="Calibri"/>
                <a:sym typeface="Calibri"/>
              </a:rPr>
              <a:t>WEEK 6  ·  26 JUL-1 AUG</a:t>
            </a:r>
            <a:endParaRPr b="0" i="0" sz="600" u="none" cap="none" strike="noStrike">
              <a:solidFill>
                <a:schemeClr val="dk1"/>
              </a:solidFill>
              <a:latin typeface="Calibri"/>
              <a:ea typeface="Calibri"/>
              <a:cs typeface="Calibri"/>
              <a:sym typeface="Calibri"/>
            </a:endParaRPr>
          </a:p>
        </p:txBody>
      </p:sp>
      <p:sp>
        <p:nvSpPr>
          <p:cNvPr id="291" name="Google Shape;291;p25"/>
          <p:cNvSpPr/>
          <p:nvPr/>
        </p:nvSpPr>
        <p:spPr>
          <a:xfrm>
            <a:off x="2743200" y="1865376"/>
            <a:ext cx="16458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Model and decide</a:t>
            </a:r>
            <a:endParaRPr b="0" i="0" sz="1200" u="none" cap="none" strike="noStrike">
              <a:solidFill>
                <a:schemeClr val="dk1"/>
              </a:solidFill>
              <a:latin typeface="Calibri"/>
              <a:ea typeface="Calibri"/>
              <a:cs typeface="Calibri"/>
              <a:sym typeface="Calibri"/>
            </a:endParaRPr>
          </a:p>
        </p:txBody>
      </p:sp>
      <p:sp>
        <p:nvSpPr>
          <p:cNvPr id="292" name="Google Shape;292;p25"/>
          <p:cNvSpPr/>
          <p:nvPr/>
        </p:nvSpPr>
        <p:spPr>
          <a:xfrm>
            <a:off x="2743200" y="2400300"/>
            <a:ext cx="16458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3D6"/>
              </a:buClr>
              <a:buSzPts val="900"/>
              <a:buFont typeface="Calibri"/>
              <a:buNone/>
            </a:pPr>
            <a:r>
              <a:rPr b="0" i="0" lang="en" sz="900" u="none" cap="none" strike="noStrike">
                <a:solidFill>
                  <a:srgbClr val="AFC3D6"/>
                </a:solidFill>
                <a:latin typeface="Calibri"/>
                <a:ea typeface="Calibri"/>
                <a:cs typeface="Calibri"/>
                <a:sym typeface="Calibri"/>
              </a:rPr>
              <a:t>Gradient boosting at 24h and 48h horizons. Apply the switch rule at week's end.</a:t>
            </a:r>
            <a:endParaRPr b="0" i="0" sz="900" u="none" cap="none" strike="noStrike">
              <a:solidFill>
                <a:schemeClr val="dk1"/>
              </a:solidFill>
              <a:latin typeface="Calibri"/>
              <a:ea typeface="Calibri"/>
              <a:cs typeface="Calibri"/>
              <a:sym typeface="Calibri"/>
            </a:endParaRPr>
          </a:p>
        </p:txBody>
      </p:sp>
      <p:sp>
        <p:nvSpPr>
          <p:cNvPr id="293" name="Google Shape;293;p25"/>
          <p:cNvSpPr/>
          <p:nvPr/>
        </p:nvSpPr>
        <p:spPr>
          <a:xfrm>
            <a:off x="4663440" y="1440180"/>
            <a:ext cx="1954500" cy="1988700"/>
          </a:xfrm>
          <a:prstGeom prst="roundRect">
            <a:avLst>
              <a:gd fmla="val 2807" name="adj"/>
            </a:avLst>
          </a:prstGeom>
          <a:solidFill>
            <a:srgbClr val="163E68"/>
          </a:solidFill>
          <a:ln cap="flat" cmpd="sng" w="7150">
            <a:solidFill>
              <a:srgbClr val="27527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4" name="Google Shape;294;p25"/>
          <p:cNvSpPr/>
          <p:nvPr/>
        </p:nvSpPr>
        <p:spPr>
          <a:xfrm>
            <a:off x="4834890" y="1591056"/>
            <a:ext cx="16803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600"/>
              <a:buFont typeface="Calibri"/>
              <a:buNone/>
            </a:pPr>
            <a:r>
              <a:rPr b="1" i="0" lang="en" sz="600" u="none" cap="none" strike="noStrike">
                <a:solidFill>
                  <a:srgbClr val="E8A33D"/>
                </a:solidFill>
                <a:latin typeface="Calibri"/>
                <a:ea typeface="Calibri"/>
                <a:cs typeface="Calibri"/>
                <a:sym typeface="Calibri"/>
              </a:rPr>
              <a:t>WEEK 7  ·  2-8 AUG</a:t>
            </a:r>
            <a:endParaRPr b="0" i="0" sz="600" u="none" cap="none" strike="noStrike">
              <a:solidFill>
                <a:schemeClr val="dk1"/>
              </a:solidFill>
              <a:latin typeface="Calibri"/>
              <a:ea typeface="Calibri"/>
              <a:cs typeface="Calibri"/>
              <a:sym typeface="Calibri"/>
            </a:endParaRPr>
          </a:p>
        </p:txBody>
      </p:sp>
      <p:sp>
        <p:nvSpPr>
          <p:cNvPr id="295" name="Google Shape;295;p25"/>
          <p:cNvSpPr/>
          <p:nvPr/>
        </p:nvSpPr>
        <p:spPr>
          <a:xfrm>
            <a:off x="4834890" y="1865376"/>
            <a:ext cx="16458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Efficiency and ablations</a:t>
            </a:r>
            <a:endParaRPr b="0" i="0" sz="1200" u="none" cap="none" strike="noStrike">
              <a:solidFill>
                <a:schemeClr val="dk1"/>
              </a:solidFill>
              <a:latin typeface="Calibri"/>
              <a:ea typeface="Calibri"/>
              <a:cs typeface="Calibri"/>
              <a:sym typeface="Calibri"/>
            </a:endParaRPr>
          </a:p>
        </p:txBody>
      </p:sp>
      <p:sp>
        <p:nvSpPr>
          <p:cNvPr id="296" name="Google Shape;296;p25"/>
          <p:cNvSpPr/>
          <p:nvPr/>
        </p:nvSpPr>
        <p:spPr>
          <a:xfrm>
            <a:off x="4834890" y="2400300"/>
            <a:ext cx="16458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3D6"/>
              </a:buClr>
              <a:buSzPts val="900"/>
              <a:buFont typeface="Calibri"/>
              <a:buNone/>
            </a:pPr>
            <a:r>
              <a:rPr b="0" i="0" lang="en" sz="900" u="none" cap="none" strike="noStrike">
                <a:solidFill>
                  <a:srgbClr val="AFC3D6"/>
                </a:solidFill>
                <a:latin typeface="Calibri"/>
                <a:ea typeface="Calibri"/>
                <a:cs typeface="Calibri"/>
                <a:sym typeface="Calibri"/>
              </a:rPr>
              <a:t>Full-stream throughput, per-window latency, feature ablations.</a:t>
            </a:r>
            <a:endParaRPr b="0" i="0" sz="900" u="none" cap="none" strike="noStrike">
              <a:solidFill>
                <a:schemeClr val="dk1"/>
              </a:solidFill>
              <a:latin typeface="Calibri"/>
              <a:ea typeface="Calibri"/>
              <a:cs typeface="Calibri"/>
              <a:sym typeface="Calibri"/>
            </a:endParaRPr>
          </a:p>
        </p:txBody>
      </p:sp>
      <p:sp>
        <p:nvSpPr>
          <p:cNvPr id="297" name="Google Shape;297;p25"/>
          <p:cNvSpPr/>
          <p:nvPr/>
        </p:nvSpPr>
        <p:spPr>
          <a:xfrm>
            <a:off x="6755130" y="1440180"/>
            <a:ext cx="1954500" cy="1988700"/>
          </a:xfrm>
          <a:prstGeom prst="roundRect">
            <a:avLst>
              <a:gd fmla="val 2807" name="adj"/>
            </a:avLst>
          </a:prstGeom>
          <a:solidFill>
            <a:srgbClr val="163E68"/>
          </a:solidFill>
          <a:ln cap="flat" cmpd="sng" w="7150">
            <a:solidFill>
              <a:srgbClr val="27527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8" name="Google Shape;298;p25"/>
          <p:cNvSpPr/>
          <p:nvPr/>
        </p:nvSpPr>
        <p:spPr>
          <a:xfrm>
            <a:off x="6926580" y="1591056"/>
            <a:ext cx="16803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600"/>
              <a:buFont typeface="Calibri"/>
              <a:buNone/>
            </a:pPr>
            <a:r>
              <a:rPr b="1" i="0" lang="en" sz="600" u="none" cap="none" strike="noStrike">
                <a:solidFill>
                  <a:srgbClr val="E8A33D"/>
                </a:solidFill>
                <a:latin typeface="Calibri"/>
                <a:ea typeface="Calibri"/>
                <a:cs typeface="Calibri"/>
                <a:sym typeface="Calibri"/>
              </a:rPr>
              <a:t>WEEK 8  ·  9-15 AUG</a:t>
            </a:r>
            <a:endParaRPr b="0" i="0" sz="600" u="none" cap="none" strike="noStrike">
              <a:solidFill>
                <a:schemeClr val="dk1"/>
              </a:solidFill>
              <a:latin typeface="Calibri"/>
              <a:ea typeface="Calibri"/>
              <a:cs typeface="Calibri"/>
              <a:sym typeface="Calibri"/>
            </a:endParaRPr>
          </a:p>
        </p:txBody>
      </p:sp>
      <p:sp>
        <p:nvSpPr>
          <p:cNvPr id="299" name="Google Shape;299;p25"/>
          <p:cNvSpPr/>
          <p:nvPr/>
        </p:nvSpPr>
        <p:spPr>
          <a:xfrm>
            <a:off x="6926580" y="1865376"/>
            <a:ext cx="16458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Write up and ship</a:t>
            </a:r>
            <a:endParaRPr b="0" i="0" sz="1200" u="none" cap="none" strike="noStrike">
              <a:solidFill>
                <a:schemeClr val="dk1"/>
              </a:solidFill>
              <a:latin typeface="Calibri"/>
              <a:ea typeface="Calibri"/>
              <a:cs typeface="Calibri"/>
              <a:sym typeface="Calibri"/>
            </a:endParaRPr>
          </a:p>
        </p:txBody>
      </p:sp>
      <p:sp>
        <p:nvSpPr>
          <p:cNvPr id="300" name="Google Shape;300;p25"/>
          <p:cNvSpPr/>
          <p:nvPr/>
        </p:nvSpPr>
        <p:spPr>
          <a:xfrm>
            <a:off x="6926580" y="2400300"/>
            <a:ext cx="16458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3D6"/>
              </a:buClr>
              <a:buSzPts val="900"/>
              <a:buFont typeface="Calibri"/>
              <a:buNone/>
            </a:pPr>
            <a:r>
              <a:rPr b="0" i="0" lang="en" sz="900" u="none" cap="none" strike="noStrike">
                <a:solidFill>
                  <a:srgbClr val="AFC3D6"/>
                </a:solidFill>
                <a:latin typeface="Calibri"/>
                <a:ea typeface="Calibri"/>
                <a:cs typeface="Calibri"/>
                <a:sym typeface="Calibri"/>
              </a:rPr>
              <a:t>Final report, reproducible repository, dashboard mock.</a:t>
            </a:r>
            <a:endParaRPr b="0" i="0" sz="900" u="none" cap="none" strike="noStrike">
              <a:solidFill>
                <a:schemeClr val="dk1"/>
              </a:solidFill>
              <a:latin typeface="Calibri"/>
              <a:ea typeface="Calibri"/>
              <a:cs typeface="Calibri"/>
              <a:sym typeface="Calibri"/>
            </a:endParaRPr>
          </a:p>
        </p:txBody>
      </p:sp>
      <p:sp>
        <p:nvSpPr>
          <p:cNvPr id="301" name="Google Shape;301;p25"/>
          <p:cNvSpPr/>
          <p:nvPr/>
        </p:nvSpPr>
        <p:spPr>
          <a:xfrm>
            <a:off x="480060" y="3634740"/>
            <a:ext cx="81609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000"/>
              <a:buFont typeface="Calibri"/>
              <a:buNone/>
            </a:pPr>
            <a:r>
              <a:rPr b="0" i="1" lang="en" sz="1000" u="none" cap="none" strike="noStrike">
                <a:solidFill>
                  <a:srgbClr val="E8A33D"/>
                </a:solidFill>
                <a:latin typeface="Calibri"/>
                <a:ea typeface="Calibri"/>
                <a:cs typeface="Calibri"/>
                <a:sym typeface="Calibri"/>
              </a:rPr>
              <a:t>Dropped from scope: the LSTM autoencoder. Isolation Forest already showed that added capacity does not beat physics on this signal, so the deep model would consume a week to answer a question we have answered.</a:t>
            </a:r>
            <a:endParaRPr b="0" i="0" sz="1000" u="none" cap="none" strike="noStrike">
              <a:solidFill>
                <a:schemeClr val="dk1"/>
              </a:solidFill>
              <a:latin typeface="Calibri"/>
              <a:ea typeface="Calibri"/>
              <a:cs typeface="Calibri"/>
              <a:sym typeface="Calibri"/>
            </a:endParaRPr>
          </a:p>
        </p:txBody>
      </p:sp>
      <p:sp>
        <p:nvSpPr>
          <p:cNvPr id="302" name="Google Shape;302;p25"/>
          <p:cNvSpPr/>
          <p:nvPr/>
        </p:nvSpPr>
        <p:spPr>
          <a:xfrm>
            <a:off x="480060" y="4217670"/>
            <a:ext cx="81609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The big picture: every task above serves one outcome, giving a maintenance planner enough warning to pull a train before it strands passengers mid-line.</a:t>
            </a:r>
            <a:endParaRPr b="0" i="0" sz="1100" u="none" cap="none" strike="noStrike">
              <a:solidFill>
                <a:schemeClr val="dk1"/>
              </a:solidFill>
              <a:latin typeface="Calibri"/>
              <a:ea typeface="Calibri"/>
              <a:cs typeface="Calibri"/>
              <a:sym typeface="Calibri"/>
            </a:endParaRPr>
          </a:p>
        </p:txBody>
      </p:sp>
      <p:sp>
        <p:nvSpPr>
          <p:cNvPr id="303" name="Google Shape;303;p25"/>
          <p:cNvSpPr/>
          <p:nvPr/>
        </p:nvSpPr>
        <p:spPr>
          <a:xfrm>
            <a:off x="480060" y="469773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3A8"/>
              </a:buClr>
              <a:buSzPts val="800"/>
              <a:buFont typeface="Calibri"/>
              <a:buNone/>
            </a:pPr>
            <a:r>
              <a:rPr b="0" i="0" lang="en" sz="800" u="none" cap="none" strike="noStrike">
                <a:solidFill>
                  <a:srgbClr val="7E93A8"/>
                </a:solidFill>
                <a:latin typeface="Calibri"/>
                <a:ea typeface="Calibri"/>
                <a:cs typeface="Calibri"/>
                <a:sym typeface="Calibri"/>
              </a:rPr>
              <a:t>Joseph (Neil) Truskolaski  ·  MetroPT-3 Checkpoint</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